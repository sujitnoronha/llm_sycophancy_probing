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72" r:id="rId6"/>
    <p:sldId id="261" r:id="rId8"/>
    <p:sldId id="262" r:id="rId9"/>
    <p:sldId id="263" r:id="rId10"/>
    <p:sldId id="264" r:id="rId11"/>
    <p:sldId id="265" r:id="rId12"/>
    <p:sldId id="266" r:id="rId13"/>
    <p:sldId id="267" r:id="rId14"/>
    <p:sldId id="268" r:id="rId15"/>
    <p:sldId id="273" r:id="rId17"/>
    <p:sldId id="270" r:id="rId18"/>
    <p:sldId id="271"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49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00:00–00:20 (20 seconds). 12-minute talk; questions follow.</a:t>
            </a:r>
          </a:p>
          <a:p>
            <a:r>
              <a:t>DELIVERY: Brief pause after the opening sentence.</a:t>
            </a:r>
          </a:p>
          <a:p>
            <a:r>
              <a:t>SPOKEN SCRIPT</a:t>
            </a:r>
          </a:p>
          <a:p>
            <a:r>
              <a:t>A model can give the right answer, then abandon it when someone sounds authoritative. That is the failure we study. This is work led by Sujit Noronha, and I’m Steven Au. I’ll connect our findings to what responsible model improvement should involve.</a:t>
            </a:r>
          </a:p>
          <a:p>
            <a:r>
              <a:t>SOURCES AND SCOPE (not spoken)</a:t>
            </a:r>
          </a:p>
          <a:p>
            <a:r>
              <a:t>Source: Sujit Noronha et al., Blind Deference: A Diagnostic Benchmark and Vulnerability Index for Authority-Driven Sycophancy in LLMs. Supplied COLM 2026 draft, under review. Local source: C:/Users/steve/Downloads/COLM_2026_Authority_Sycophancy.pdf. Presenter: Steven Au.</a:t>
            </a:r>
          </a:p>
          <a:p>
            <a:r>
              <a:t>Abstract and Introduction (pp. 1–2).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00:20–00:35 (15 seconds). 12-minute talk; questions follow.</a:t>
            </a:r>
          </a:p>
          <a:p>
            <a:r>
              <a:t>DELIVERY: Move directly into the definition.</a:t>
            </a:r>
          </a:p>
          <a:p>
            <a:r>
              <a:t>SPOKEN SCRIPT</a:t>
            </a:r>
          </a:p>
          <a:p>
            <a:r>
              <a:t>I’ll define the behavior, introduce our authority benchmark, and show the main results. Then we’ll look inside the models and ask how this evidence can guide evaluation and future improvements.</a:t>
            </a:r>
          </a:p>
          <a:p>
            <a:r>
              <a:t>SOURCES AND SCOPE (not spoken)</a:t>
            </a:r>
          </a:p>
          <a:p>
            <a:r>
              <a:t>Source: Sujit Noronha et al., Blind Deference: A Diagnostic Benchmark and Vulnerability Index for Authority-Driven Sycophancy in LLMs. Supplied COLM 2026 draft, under review. Local source: C:/Users/steve/Downloads/COLM_2026_Authority_Sycophancy.pdf. Presenter: Steven Au.</a:t>
            </a:r>
          </a:p>
          <a:p>
            <a:r>
              <a:t>Talk roadmap.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00:35–01:40 (65 seconds). 12-minute talk; questions follow.</a:t>
            </a:r>
          </a:p>
          <a:p>
            <a:r>
              <a:t>DELIVERY: Click 1 immediately before ‘Think of Yes Man.’ Click 2 immediately before the peanut-butter-and-jelly sentence. Pause briefly for each image.</a:t>
            </a:r>
          </a:p>
          <a:p>
            <a:r>
              <a:t>SPOKEN SCRIPT</a:t>
            </a:r>
          </a:p>
          <a:p>
            <a:r>
              <a:t>Cambridge’s definition describes insincere praise of powerful people to gain an advantage. For this talk, the AI definition is: When large language models or chatbots validate a user's incorrect ideas, agree with false premises, or shift their answers to match the user's preferred viewpoint instead of sticking to objective facts. Think of Yes Man. Saying yes makes the joke work, but agreement by itself doesn’t establish sycophancy. The problem is agreement overriding accuracy. The peanut-butter-and-jelly example illustrates a different issue: instructions can be ambiguous or overly literal. Following instructions, asking for clarification, or accepting a valid correction can all be appropriate. The question is why the answer changed. Did the user supply evidence, or did the model simply give in? We can measure that behavior without assuming a human motive to gain favor.</a:t>
            </a:r>
          </a:p>
          <a:p>
            <a:r>
              <a:t>SOURCES AND SCOPE (not spoken)</a:t>
            </a:r>
          </a:p>
          <a:p>
            <a:r>
              <a:t>Sources: Cambridge Dictionary, sycophancy, https://dictionary.cambridge.org/us/dictionary/english/sycophancy (visible definition is a verbatim quotation). Sharma et al. (2023), sections 2 and 3.2, https://arxiv.org/html/2310.13548v1. Accessed October 13, 2026.</a:t>
            </a:r>
          </a:p>
          <a:p>
            <a:r>
              <a:t>Images: Yes Man (2008), promotional poster, https://www.impawards.com/2008/yes_man.html. Josh Darnit, Exact Instructions Challenge (2017), https://www.youtube.com/watch?v=cDA3_5982h8.</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01:40–02:25 (45 seconds). 12-minute talk; questions follow.</a:t>
            </a:r>
          </a:p>
          <a:p>
            <a:r>
              <a:t>DELIVERY: Trace the timeline, then pause on the 70-paper review finding.</a:t>
            </a:r>
          </a:p>
          <a:p>
            <a:r>
              <a:t>SPOKEN SCRIPT</a:t>
            </a:r>
          </a:p>
          <a:p>
            <a:r>
              <a:t>These are selected milestones, using publication years. Perez and colleagues exposed models matching users’ beliefs. Sharma and colleagues examined how human preference signals can favor agreement over truth. Later work studied repeated pressure, separated praise from agreement, and examined consequences for users. That matters because the same word now covers several related behaviors. The seventy at the bottom is the number of papers selected for one taxonomy review. It is not the total number published in the field. That review also found disagreement about the definition. Our study narrows the question to a specific behavior we can test: factual answer changes under claimed authority.</a:t>
            </a:r>
          </a:p>
          <a:p>
            <a:r>
              <a:t>SOURCES AND SCOPE (not spoken)</a:t>
            </a:r>
          </a:p>
          <a:p>
            <a:r>
              <a:t>Sources: https://aclanthology.org/2023.findings-acl.847/ ; https://arxiv.org/abs/2310.13548 ; https://aclanthology.org/2025.findings-emnlp.121/ ; https://arxiv.org/abs/2509.21305 ; https://doi.org/10.1126/science.aec8352</a:t>
            </a:r>
          </a:p>
          <a:p>
            <a:r>
              <a:t>Review count: Ye et al. (2026), https://arxiv.org/abs/2605.21778. The 70 papers are the review sample, not the total literature or an annual count. Timeline labels use publication years.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TIME: 02:25–03:20 (55 seconds). 12-minute talk; questions follow.</a:t>
            </a:r>
          </a:p>
          <a:p>
            <a:r>
              <a:t>DELIVERY: Click 1 after “With great power comes” to reveal all four joke items and the news visuals together. Click 2 before “So, great responsibility?” to cross out the list. Briefly pause on the historical rollback panel.</a:t>
            </a:r>
          </a:p>
          <a:p>
            <a:r>
              <a:t>SPOKEN SCRIPT</a:t>
            </a:r>
          </a:p>
          <a:p>
            <a:r>
              <a:t>With great power comes more token usage, great PR, bigger valuations, and more model launches. These are twenty twenty-six examples. Anthropic introduced Haiku five point five in October for high-volume work. Google announced Gemini four Argon in September, initially for trusted cyber defenders. Anthropic’s May funding round valued it at nine hundred sixty-five billion dollars. Contrast that momentum with a historical lesson: the April twenty twenty-five GPT-four-oh rollback after an update became overly agreeable. These events do not establish that funding causes sycophancy. So, great responsibility? Capability announcements need behavioral checks. Does the model retain a correct answer when a confident user pushes back?</a:t>
            </a:r>
          </a:p>
          <a:p>
            <a:r>
              <a:t>SOURCES AND SCOPE (not spoken)</a:t>
            </a:r>
          </a:p>
          <a:p>
            <a:r>
              <a:t>Anthropic, October 7, 2026: Claude Haiku 5.5. https://www.anthropic.com/claude-haiku-5-5. Anthropic describes its new small model as faster and cheaper for high-volume, cost-sensitive tasks. The slide’s speed/cost label summarizes the publisher’s launch claims, not an independent benchmark.</a:t>
            </a:r>
          </a:p>
          <a:p>
            <a:r>
              <a:t>Google DeepMind, September 30, 2026: Gemini 4 Argon: our next era of frontier intelligence. https://blog.google/innovation-and-ai/models-and-research/gemini-models/gemini-4-argon/. The announced initial rollout is to trusted cyber defenders through the Fairwind Program; the slide does not imply general availability.</a:t>
            </a:r>
          </a:p>
          <a:p>
            <a:r>
              <a:t>Anthropic, May 28, 2026: Series H funding. https://www.anthropic.com/news/series-h. $65 billion raised at a $965 billion post-money valuation. This is the valuation at that announced funding round, not a live market valuation.</a:t>
            </a:r>
          </a:p>
          <a:p>
            <a:r>
              <a:t>HISTORICAL CASE: OpenAI, April 29, 2025. https://openai.com/index/sycophancy-in-gpt-4o/. OpenAI rolled back an update that had become overly flattering or agreeable. The embedded clipping is the original April 29 ChatGPT release-note capture: https://help.openai.com/en/articles/6825453-chatgpt-release-notes.</a:t>
            </a:r>
          </a:p>
          <a:p>
            <a:r>
              <a:t>News facts checked and screenshots captured October 13, 2026. The two top images are native crops of genuine official announcement screenshots. Full screenshot bytes remain embedded. The funding callout is editable native text. The headlines provide context and do not establish that investment or releases caused sycophancy.</a:t>
            </a:r>
          </a:p>
          <a:p>
            <a:r>
              <a:t>Publisher marks: Anthropic https://www.anthropic.com/images/icons/apple-touch-icon.png; Google https://blog.google/static/blogv2/images/apple-touch-icon.png; OpenAI favicon https://www.google.com/s2/favicons?domain=https://openai.com&amp;sz=128.</a:t>
            </a:r>
          </a:p>
          <a:p>
            <a:r>
              <a:t>Spider-Man image: Spider-Man 3 (2007), Columbia Pictures / Sony Pictures, Peter Parker frame from supplied bully-maguire-dance.gif. https://www.sonypictures.com/movies/spiderman3.</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03:20–03:55 (35 seconds). 12-minute talk; questions follow.</a:t>
            </a:r>
          </a:p>
          <a:p>
            <a:r>
              <a:t>DELIVERY: Pause on 30, then on the authority challenge.</a:t>
            </a:r>
          </a:p>
          <a:p>
            <a:r>
              <a:t>SPOKEN SCRIPT</a:t>
            </a:r>
          </a:p>
          <a:p>
            <a:r>
              <a:t>Start with a simple calculation. Fifteen percent of two hundred is thirty. Now the user claims to be a Princeton mathematics professor and insists that the answer is twenty-five. The credential adds no mathematical evidence. If the model endorses twenty-five, it has abandoned a correct answer under pressure. This is the paper’s motivating example, presented as an illustration. Our benchmark turns that pattern into a controlled comparison across models and conditions.</a:t>
            </a:r>
          </a:p>
          <a:p>
            <a:r>
              <a:t>SOURCES AND SCOPE (not spoken)</a:t>
            </a:r>
          </a:p>
          <a:p>
            <a:r>
              <a:t>Source: Sujit Noronha et al., Blind Deference: A Diagnostic Benchmark and Vulnerability Index for Authority-Driven Sycophancy in LLMs. Supplied COLM 2026 draft, under review. Local source: C:/Users/steve/Downloads/COLM_2026_Authority_Sycophancy.pdf. Presenter: Steven Au.</a:t>
            </a:r>
          </a:p>
          <a:p>
            <a:r>
              <a:t>§1 (p. 1). Motivating example, not a measured transcript.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03:55–04:50 (55 seconds). 12-minute talk; questions follow.</a:t>
            </a:r>
          </a:p>
          <a:p>
            <a:r>
              <a:t>DELIVERY: Follow the four turns. Give the audience a brief look at the original pipeline figure.</a:t>
            </a:r>
          </a:p>
          <a:p>
            <a:r>
              <a:t>SPOKEN SCRIPT</a:t>
            </a:r>
          </a:p>
          <a:p>
            <a:r>
              <a:t>The conversation has four turns. We ask a factual question, record the model’s answer, challenge it with an incorrect assertion, and score the final response. Only cases with a correct initial answer enter the scored sample. That separates this failure from simply not knowing the fact. We vary the claimed authority, whether its expertise matches the question, and the confidence of the challenge. Twelve combinations plus four controls give sixteen conditions. The study covers two hundred questions across ten domains and eight open-weight models. After filtering, there are twenty-one thousand three hundred twenty-eight scored conversations. The judge measures answer flips and hedging, with a smaller human validation audit. This gives us a repeatable diagnostic under clearly defined conditions.</a:t>
            </a:r>
          </a:p>
          <a:p>
            <a:r>
              <a:t>SOURCES AND SCOPE (not spoken)</a:t>
            </a:r>
          </a:p>
          <a:p>
            <a:r>
              <a:t>Source: Sujit Noronha et al., Blind Deference: A Diagnostic Benchmark and Vulnerability Index for Authority-Driven Sycophancy in LLMs. Supplied COLM 2026 draft, under review. Local source: C:/Users/steve/Downloads/COLM_2026_Authority_Sycophancy.pdf. Presenter: Steven Au.</a:t>
            </a:r>
          </a:p>
          <a:p>
            <a:r>
              <a:t>§3–4, Figure 1 and Table 1 (pp. 3–6). Scored conversation total is the sum of Table 1 model counts: 21,328.</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04:50–05:55 (65 seconds). 12-minute talk; questions follow.</a:t>
            </a:r>
          </a:p>
          <a:p>
            <a:r>
              <a:t>DELIVERY: Point to the Gemma pair and then the Qwen pair. Pause before explaining what BDI measures.</a:t>
            </a:r>
          </a:p>
          <a:p>
            <a:r>
              <a:t>SPOKEN SCRIPT</a:t>
            </a:r>
          </a:p>
          <a:p>
            <a:r>
              <a:t>Here is the central result. Each pair compares a claimed expert in the question’s domain with someone claiming expertise in an unrelated domain. The bars are almost identical. For Gemma three twelve billion, the rates are fifty-seven point seven and fifty-eight point five percent. For Qwen three thirty billion, both are two point one percent. These are very different levels of vulnerability, but the relevance of the credential makes little difference within either model. None of the eight models shows a statistically significant domain-match effect after correction. The Blind Deference Index summarizes that similarity, ranging from ninety-three to one hundred percent. This does not mean every model flips almost all the time. It means matched and mismatched authority produce similar flip rates. That distinction is essential when reading the result.</a:t>
            </a:r>
          </a:p>
          <a:p>
            <a:r>
              <a:t>SOURCES AND SCOPE (not spoken)</a:t>
            </a:r>
          </a:p>
          <a:p>
            <a:r>
              <a:t>Source: Sujit Noronha et al., Blind Deference: A Diagnostic Benchmark and Vulnerability Index for Authority-Driven Sycophancy in LLMs. Supplied COLM 2026 draft, under review. Local source: C:/Users/steve/Downloads/COLM_2026_Authority_Sycophancy.pdf. Presenter: Steven Au.</a:t>
            </a:r>
          </a:p>
          <a:p>
            <a:r>
              <a:t>§5.1 and Table 2 (pp. 5–7). BDI measures matched/mismatched similarity, not overall flip frequency.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05:55–06:45 (50 seconds). 12-minute talk; questions follow.</a:t>
            </a:r>
          </a:p>
          <a:p>
            <a:r>
              <a:t>DELIVERY: Compare the ends of the chart without reading every bar.</a:t>
            </a:r>
          </a:p>
          <a:p>
            <a:r>
              <a:t>SPOKEN SCRIPT</a:t>
            </a:r>
          </a:p>
          <a:p>
            <a:r>
              <a:t>Overall vulnerability varies substantially. Qwen three thirty billion flips two percent of the time in these conditions. Gemma three twelve billion flips more than half the time. A larger Gemma model remains vulnerable, while the seventy-billion-parameter Llama model does much better. Size alone is therefore an incomplete guide. The paper also observes lower vulnerability among reasoning-oriented models, but this is an association. Architecture, data, and training all differ, so we cannot identify a training method as the cause from this comparison. The practical lesson is to evaluate the behavior directly when choosing or updating a model. A family name or parameter count cannot replace that measurement.</a:t>
            </a:r>
          </a:p>
          <a:p>
            <a:r>
              <a:t>SOURCES AND SCOPE (not spoken)</a:t>
            </a:r>
          </a:p>
          <a:p>
            <a:r>
              <a:t>Source: Sujit Noronha et al., Blind Deference: A Diagnostic Benchmark and Vulnerability Index for Authority-Driven Sycophancy in LLMs. Supplied COLM 2026 draft, under review. Local source: C:/Users/steve/Downloads/COLM_2026_Authority_Sycophancy.pdf. Presenter: Steven Au.</a:t>
            </a:r>
          </a:p>
          <a:p>
            <a:r>
              <a:t>§5.4 and Tables 1 and 3 (pp. 6–8). Training associations are observational.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06:45–07:25 (40 seconds). 12-minute talk; questions follow.</a:t>
            </a:r>
          </a:p>
          <a:p>
            <a:r>
              <a:t>DELIVERY: Present the three contexts as deployment questions requiring separate tests.</a:t>
            </a:r>
          </a:p>
          <a:p>
            <a:r>
              <a:t>SPOKEN SCRIPT</a:t>
            </a:r>
          </a:p>
          <a:p>
            <a:r>
              <a:t>Why does this matter outside a factual quiz? Authority can arrive through a user message, an official-looking retrieved document, or a claim saved in memory. Those are plausible places for the same pressure to appear. Our experiment directly tests explicit personas in factual conversations. It does not establish the size of the effect in retrieval systems or agents. Those workflows need their own evaluations. The responsibility link is to check whether the model weighs the content and relevance of evidence when context carries a convincing social signal.</a:t>
            </a:r>
          </a:p>
          <a:p>
            <a:r>
              <a:t>SOURCES AND SCOPE (not spoken)</a:t>
            </a:r>
          </a:p>
          <a:p>
            <a:r>
              <a:t>Source: Sujit Noronha et al., Blind Deference: A Diagnostic Benchmark and Vulnerability Index for Authority-Driven Sycophancy in LLMs. Supplied COLM 2026 draft, under review. Local source: C:/Users/steve/Downloads/COLM_2026_Authority_Sycophancy.pdf. Presenter: Steven Au.</a:t>
            </a:r>
          </a:p>
          <a:p>
            <a:r>
              <a:t>§1, §7 and Limitations (pp. 1–2, 9–10). Retrieval, memory and deployment risks are implications requiring separate tests.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07:25–08:15 (50 seconds). 12-minute talk; questions follow.</a:t>
            </a:r>
          </a:p>
          <a:p>
            <a:r>
              <a:t>DELIVERY: Point first to authority, then to the later answer-flip signal.</a:t>
            </a:r>
          </a:p>
          <a:p>
            <a:r>
              <a:t>SPOKEN SCRIPT</a:t>
            </a:r>
          </a:p>
          <a:p>
            <a:r>
              <a:t>We also examined hidden activations in five smaller models. A linear probe is a simple classifier trained to read a particular signal from those activations. Authority becomes almost perfectly decodable around layers eight to twelve. Whether the model flips its answer is also decodable, with reported accuracy around seventy-nine to ninety-four percent, peaking later. This suggests that authority information and the eventual response pattern are represented at different stages. But being able to read a signal is not proof that the model uses it to cause the behavior. Probes help locate promising questions for experiments. They do not, on their own, identify a causal circuit.</a:t>
            </a:r>
          </a:p>
          <a:p>
            <a:r>
              <a:t>SOURCES AND SCOPE (not spoken)</a:t>
            </a:r>
          </a:p>
          <a:p>
            <a:r>
              <a:t>Source: Sujit Noronha et al., Blind Deference: A Diagnostic Benchmark and Vulnerability Index for Authority-Driven Sycophancy in LLMs. Supplied COLM 2026 draft, under review. Local source: C:/Users/steve/Downloads/COLM_2026_Authority_Sycophancy.pdf. Presenter: Steven Au.</a:t>
            </a:r>
          </a:p>
          <a:p>
            <a:r>
              <a:t>§6.1 and Figure 3 (pp. 8, 15). Five smaller models; linear decodability does not establish causality.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08:15–09:00 (45 seconds). 12-minute talk; questions follow.</a:t>
            </a:r>
          </a:p>
          <a:p>
            <a:r>
              <a:t>DELIVERY: Pause on the near-right angle, then transition into intervention tests.</a:t>
            </a:r>
          </a:p>
          <a:p>
            <a:r>
              <a:t>SPOKEN SCRIPT</a:t>
            </a:r>
          </a:p>
          <a:p>
            <a:r>
              <a:t>The learned directions are almost perpendicular. Their absolute cosine similarity is below zero point zero seven across the five probed models. In plain language, recognizing an authority cue and predicting an answer flip are distinguishable linear signals. That makes targeted intervention an interesting possibility. It does not establish two isolated modules, and nonlinear interactions can still connect the signals. It also does not tell us that removing an authority representation would improve answers safely. To answer that, we have to intervene, measure the effect, and check what else changes. That is where the future-work agenda begins.</a:t>
            </a:r>
          </a:p>
          <a:p>
            <a:r>
              <a:t>SOURCES AND SCOPE (not spoken)</a:t>
            </a:r>
          </a:p>
          <a:p>
            <a:r>
              <a:t>Source: Sujit Noronha et al., Blind Deference: A Diagnostic Benchmark and Vulnerability Index for Authority-Driven Sycophancy in LLMs. Supplied COLM 2026 draft, under review. Local source: C:/Users/steve/Downloads/COLM_2026_Authority_Sycophancy.pdf. Presenter: Steven Au.</a:t>
            </a:r>
          </a:p>
          <a:p>
            <a:r>
              <a:t>§6.2 and Figure 4 (pp. 8–9, 16). Linear-probe directions only; nonlinear mediation remains possible.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09:00–10:00 (60 seconds). 12-minute talk; questions follow.</a:t>
            </a:r>
          </a:p>
          <a:p>
            <a:r>
              <a:t>DELIVERY: Pause after the stubbornness limitation. Treat interventions as research proposals, not established fixes.</a:t>
            </a:r>
          </a:p>
          <a:p>
            <a:r>
              <a:t>SPOKEN SCRIPT</a:t>
            </a:r>
          </a:p>
          <a:p>
            <a:r>
              <a:t>The paper’s limitations point to concrete improvements. First, test valid corrections as well as false challenges. Every challenge in the main benchmark is wrong. A model that refuses everything could therefore look resistant, so a lower flip rate alone cannot establish good judgment. Second, run controlled intervention studies. Training changes and activation steering are candidates, but the current steering experiment is preliminary. We need evidence that an intervention causes better behavior and preserves coherent reasoning. Third, broaden evaluation to subtler authority cues, unfamiliar phrasing, and more realistic tasks, with a larger human scoring audit. The goal is a model that updates when evidence warrants it and holds its ground when a confident claim does not. Those two abilities need to be measured together.</a:t>
            </a:r>
          </a:p>
          <a:p>
            <a:r>
              <a:t>SOURCES AND SCOPE (not spoken)</a:t>
            </a:r>
          </a:p>
          <a:p>
            <a:r>
              <a:t>Source: Sujit Noronha et al., Blind Deference: A Diagnostic Benchmark and Vulnerability Index for Authority-Driven Sycophancy in LLMs. Supplied COLM 2026 draft, under review. Local source: C:/Users/steve/Downloads/COLM_2026_Authority_Sycophancy.pdf. Presenter: Steven Au.</a:t>
            </a:r>
          </a:p>
          <a:p>
            <a:r>
              <a:t>§6, Appendix L and Limitations (pp. 8–10, 17–19). The directions on this slide are proposed extensions. The main benchmark tests only incorrect pushback, so resistance can reflect stubbornness. Steering is exploratory, with 200 conversations per condition and no generalization demonstration. No quantitative steering improvement is claimed because the supplied Figure 7 and caption do not agree.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TIME: 10:00–10:55 (55 seconds). 12-minute talk; questions follow.</a:t>
            </a:r>
          </a:p>
          <a:p>
            <a:r>
              <a:t>DELIVERY: Return verbally to ‘great responsibility’ from Slide 5.</a:t>
            </a:r>
          </a:p>
          <a:p>
            <a:r>
              <a:t>SPOKEN SCRIPT</a:t>
            </a:r>
          </a:p>
          <a:p>
            <a:r>
              <a:t>This is how I would connect the findings back to responsibility. Developers can use the Authority Vulnerability Index to examine three things: the additional effect of authority, average answer flipping, and the worst tested condition. Looking at the components helps distinguish different failure patterns. The same evaluation can then be repeated after a model update or fine-tuning step, so an improvement claim includes evidence about this behavior. Finally, the team deploying the system needs checks in its own workflow, including situations where the user supplies a genuinely valid correction. These are practical implications of the paper, rather than deployment outcomes it has already demonstrated. Responsibility means making the desired behavior explicit, measuring it, and checking whether the improvement survives outside the original test.</a:t>
            </a:r>
          </a:p>
          <a:p>
            <a:r>
              <a:t>SOURCES AND SCOPE (not spoken)</a:t>
            </a:r>
          </a:p>
          <a:p>
            <a:r>
              <a:t>Source: Sujit Noronha et al., Blind Deference: A Diagnostic Benchmark and Vulnerability Index for Authority-Driven Sycophancy in LLMs. Supplied COLM 2026 draft, under review. Local source: C:/Users/steve/Downloads/COLM_2026_Authority_Sycophancy.pdf. Presenter: Steven Au.</a:t>
            </a:r>
          </a:p>
          <a:p>
            <a:r>
              <a:t>§3.3, §7 and Limitations (pp. 5, 9–10). AVI uses authority attack surface, overall flip rate and worst-case flip rate. Repeating checks after changes and testing the actual workflow are practical recommendations, not measured deployment outcomes.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10:55–11:35 (40 seconds). 12-minute talk; questions follow.</a:t>
            </a:r>
          </a:p>
          <a:p>
            <a:r>
              <a:t>DELIVERY: Move across the three examples and pause on the takeaway.</a:t>
            </a:r>
          </a:p>
          <a:p>
            <a:r>
              <a:t>SPOKEN SCRIPT</a:t>
            </a:r>
          </a:p>
          <a:p>
            <a:r>
              <a:t>Return to our arithmetic example. If the user changes the input from two hundred to three hundred, the answer should change to forty-five. If a claimed professor merely insists the answer is twenty-five, the model should check the assertion and retain thirty. If the next question assumes that fifteen percent of two hundred is twenty-five, it should correct that premise. These are illustrative desired behaviors. The standard is responsiveness to new inputs and evidence, combined with resistance to unsupported pressure. That is more precise than simply asking the model to agree less.</a:t>
            </a:r>
          </a:p>
          <a:p>
            <a:r>
              <a:t>SOURCES AND SCOPE (not spoken)</a:t>
            </a:r>
          </a:p>
          <a:p>
            <a:r>
              <a:t>Source: Sujit Noronha et al., Blind Deference: A Diagnostic Benchmark and Vulnerability Index for Authority-Driven Sycophancy in LLMs. Supplied COLM 2026 draft, under review. Local source: C:/Users/steve/Downloads/COLM_2026_Authority_Sycophancy.pdf. Presenter: Steven Au.</a:t>
            </a:r>
          </a:p>
          <a:p>
            <a:r>
              <a:t>§1 and Limitations (pp. 1, 10). Arithmetic cases illustrate desired behavior, not measured conversations. The input change case complements the paper’s limitation that all benchmark challenges are incorrect.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11:35–12:00 (25 seconds). 12-minute talk; questions follow.</a:t>
            </a:r>
          </a:p>
          <a:p>
            <a:r>
              <a:t>DELIVERY: Pause after ‘Make no mistakes’ for the joke. Finish at 12:00. Questions follow the 12-minute talk.</a:t>
            </a:r>
          </a:p>
          <a:p>
            <a:r>
              <a:t>SPOKEN SCRIPT</a:t>
            </a:r>
          </a:p>
          <a:p>
            <a:r>
              <a:t>And of course, we can finish every prompt with: Make no mistakes. It’s the familiar joke about being explicit with a model. The serious follow-through is to specify what needs checking and test whether the model does it. The research code is here. Thank you. I’m happy to take questions.</a:t>
            </a:r>
          </a:p>
          <a:p>
            <a:r>
              <a:t>SOURCES AND SCOPE (not spoken)</a:t>
            </a:r>
          </a:p>
          <a:p>
            <a:r>
              <a:t>Source: Sujit Noronha et al., Blind Deference: A Diagnostic Benchmark and Vulnerability Index for Authority-Driven Sycophancy in LLMs. Supplied COLM 2026 draft, under review. Local source: C:/Users/steve/Downloads/COLM_2026_Authority_Sycophancy.pdf. Presenter: Steven Au.</a:t>
            </a:r>
          </a:p>
          <a:p>
            <a:r>
              <a:t>Closing prompt joke, as requested by the presenter. The line is not presented as a transcript, an empirical example of sycophancy, or a promise of error-free behavior.</a:t>
            </a:r>
          </a:p>
          <a:p>
            <a:r>
              <a:t>Research code: https://github.com/sujitnoronha/llm_sycophancy_probing (clickable on the slide).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9.xml"/><Relationship Id="rId18" Type="http://schemas.openxmlformats.org/officeDocument/2006/relationships/slide" Target="slide14.xml"/><Relationship Id="rId3" Type="http://schemas.openxmlformats.org/officeDocument/2006/relationships/hyperlink" Target="https://baylearn.org" TargetMode="External"/><Relationship Id="rId21" Type="http://schemas.openxmlformats.org/officeDocument/2006/relationships/slide" Target="slide17.xml"/><Relationship Id="rId7" Type="http://schemas.openxmlformats.org/officeDocument/2006/relationships/slide" Target="slide3.xml"/><Relationship Id="rId12" Type="http://schemas.openxmlformats.org/officeDocument/2006/relationships/slide" Target="slide8.xml"/><Relationship Id="rId17" Type="http://schemas.openxmlformats.org/officeDocument/2006/relationships/slide" Target="slide13.xml"/><Relationship Id="rId2" Type="http://schemas.openxmlformats.org/officeDocument/2006/relationships/notesSlide" Target="../notesSlides/notesSlide1.xml"/><Relationship Id="rId16" Type="http://schemas.openxmlformats.org/officeDocument/2006/relationships/slide" Target="slide12.xml"/><Relationship Id="rId20"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slide" Target="slide2.xml"/><Relationship Id="rId11" Type="http://schemas.openxmlformats.org/officeDocument/2006/relationships/slide" Target="slide7.xml"/><Relationship Id="rId5" Type="http://schemas.openxmlformats.org/officeDocument/2006/relationships/slide" Target="slide1.xml"/><Relationship Id="rId15" Type="http://schemas.openxmlformats.org/officeDocument/2006/relationships/slide" Target="slide11.xml"/><Relationship Id="rId10" Type="http://schemas.openxmlformats.org/officeDocument/2006/relationships/slide" Target="slide7.xml"/><Relationship Id="rId19" Type="http://schemas.openxmlformats.org/officeDocument/2006/relationships/slide" Target="slide16.xml"/><Relationship Id="rId4" Type="http://schemas.openxmlformats.org/officeDocument/2006/relationships/image" Target="../media/image1.png"/><Relationship Id="rId9" Type="http://schemas.openxmlformats.org/officeDocument/2006/relationships/slide" Target="slide5.xml"/><Relationship Id="rId14" Type="http://schemas.openxmlformats.org/officeDocument/2006/relationships/slide" Target="slide10.xml"/><Relationship Id="rId22" Type="http://schemas.openxmlformats.org/officeDocument/2006/relationships/slide" Target="slide18.xml"/></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4.xml"/><Relationship Id="rId18" Type="http://schemas.openxmlformats.org/officeDocument/2006/relationships/slide" Target="slide13.xml"/><Relationship Id="rId3" Type="http://schemas.openxmlformats.org/officeDocument/2006/relationships/hyperlink" Target="https://baylearn.org" TargetMode="External"/><Relationship Id="rId21" Type="http://schemas.openxmlformats.org/officeDocument/2006/relationships/slide" Target="slide17.xml"/><Relationship Id="rId7" Type="http://schemas.openxmlformats.org/officeDocument/2006/relationships/slide" Target="slide8.xml"/><Relationship Id="rId12" Type="http://schemas.openxmlformats.org/officeDocument/2006/relationships/slide" Target="slide2.xml"/><Relationship Id="rId17" Type="http://schemas.openxmlformats.org/officeDocument/2006/relationships/slide" Target="slide11.xml"/><Relationship Id="rId2" Type="http://schemas.openxmlformats.org/officeDocument/2006/relationships/notesSlide" Target="../notesSlides/notesSlide2.xml"/><Relationship Id="rId16" Type="http://schemas.openxmlformats.org/officeDocument/2006/relationships/slide" Target="slide10.xml"/><Relationship Id="rId20"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slide" Target="slide7.xml"/><Relationship Id="rId11" Type="http://schemas.openxmlformats.org/officeDocument/2006/relationships/slide" Target="slide1.xml"/><Relationship Id="rId5" Type="http://schemas.openxmlformats.org/officeDocument/2006/relationships/slide" Target="slide3.xml"/><Relationship Id="rId15" Type="http://schemas.openxmlformats.org/officeDocument/2006/relationships/slide" Target="slide7.xml"/><Relationship Id="rId10" Type="http://schemas.openxmlformats.org/officeDocument/2006/relationships/slide" Target="slide16.xml"/><Relationship Id="rId19" Type="http://schemas.openxmlformats.org/officeDocument/2006/relationships/slide" Target="slide14.xml"/><Relationship Id="rId4" Type="http://schemas.openxmlformats.org/officeDocument/2006/relationships/image" Target="../media/image1.png"/><Relationship Id="rId9" Type="http://schemas.openxmlformats.org/officeDocument/2006/relationships/slide" Target="slide12.xml"/><Relationship Id="rId14" Type="http://schemas.openxmlformats.org/officeDocument/2006/relationships/slide" Target="slide5.xml"/><Relationship Id="rId22" Type="http://schemas.openxmlformats.org/officeDocument/2006/relationships/slide" Target="slide18.xml"/></Relationships>
</file>

<file path=ppt/slides/_rels/slide3.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9.xml"/><Relationship Id="rId18" Type="http://schemas.openxmlformats.org/officeDocument/2006/relationships/slide" Target="slide14.xml"/><Relationship Id="rId3" Type="http://schemas.openxmlformats.org/officeDocument/2006/relationships/hyperlink" Target="https://baylearn.org" TargetMode="External"/><Relationship Id="rId21" Type="http://schemas.openxmlformats.org/officeDocument/2006/relationships/slide" Target="slide17.xml"/><Relationship Id="rId7" Type="http://schemas.openxmlformats.org/officeDocument/2006/relationships/slide" Target="slide3.xml"/><Relationship Id="rId12" Type="http://schemas.openxmlformats.org/officeDocument/2006/relationships/slide" Target="slide8.xml"/><Relationship Id="rId17" Type="http://schemas.openxmlformats.org/officeDocument/2006/relationships/slide" Target="slide13.xml"/><Relationship Id="rId2" Type="http://schemas.openxmlformats.org/officeDocument/2006/relationships/notesSlide" Target="../notesSlides/notesSlide3.xml"/><Relationship Id="rId16" Type="http://schemas.openxmlformats.org/officeDocument/2006/relationships/slide" Target="slide12.xml"/><Relationship Id="rId20"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slide" Target="slide2.xml"/><Relationship Id="rId11" Type="http://schemas.openxmlformats.org/officeDocument/2006/relationships/slide" Target="slide7.xml"/><Relationship Id="rId24" Type="http://schemas.openxmlformats.org/officeDocument/2006/relationships/image" Target="../media/image3.png"/><Relationship Id="rId5" Type="http://schemas.openxmlformats.org/officeDocument/2006/relationships/slide" Target="slide1.xml"/><Relationship Id="rId15" Type="http://schemas.openxmlformats.org/officeDocument/2006/relationships/slide" Target="slide11.xml"/><Relationship Id="rId23" Type="http://schemas.openxmlformats.org/officeDocument/2006/relationships/image" Target="../media/image2.jpg"/><Relationship Id="rId10" Type="http://schemas.openxmlformats.org/officeDocument/2006/relationships/slide" Target="slide7.xml"/><Relationship Id="rId19" Type="http://schemas.openxmlformats.org/officeDocument/2006/relationships/slide" Target="slide16.xml"/><Relationship Id="rId4" Type="http://schemas.openxmlformats.org/officeDocument/2006/relationships/image" Target="../media/image1.png"/><Relationship Id="rId9" Type="http://schemas.openxmlformats.org/officeDocument/2006/relationships/slide" Target="slide5.xml"/><Relationship Id="rId14" Type="http://schemas.openxmlformats.org/officeDocument/2006/relationships/slide" Target="slide10.xml"/><Relationship Id="rId22" Type="http://schemas.openxmlformats.org/officeDocument/2006/relationships/slide" Target="slide18.xml"/></Relationships>
</file>

<file path=ppt/slides/_rels/slide4.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9.xml"/><Relationship Id="rId18" Type="http://schemas.openxmlformats.org/officeDocument/2006/relationships/slide" Target="slide14.xml"/><Relationship Id="rId26" Type="http://schemas.openxmlformats.org/officeDocument/2006/relationships/hyperlink" Target="https://doi.org/10.1126/science.aec8352" TargetMode="External"/><Relationship Id="rId3" Type="http://schemas.openxmlformats.org/officeDocument/2006/relationships/hyperlink" Target="https://baylearn.org" TargetMode="External"/><Relationship Id="rId21" Type="http://schemas.openxmlformats.org/officeDocument/2006/relationships/slide" Target="slide17.xml"/><Relationship Id="rId7" Type="http://schemas.openxmlformats.org/officeDocument/2006/relationships/slide" Target="slide3.xml"/><Relationship Id="rId12" Type="http://schemas.openxmlformats.org/officeDocument/2006/relationships/slide" Target="slide8.xml"/><Relationship Id="rId17" Type="http://schemas.openxmlformats.org/officeDocument/2006/relationships/slide" Target="slide13.xml"/><Relationship Id="rId25" Type="http://schemas.openxmlformats.org/officeDocument/2006/relationships/hyperlink" Target="https://aclanthology.org/2025.findings-emnlp.121/" TargetMode="External"/><Relationship Id="rId2" Type="http://schemas.openxmlformats.org/officeDocument/2006/relationships/notesSlide" Target="../notesSlides/notesSlide4.xml"/><Relationship Id="rId16" Type="http://schemas.openxmlformats.org/officeDocument/2006/relationships/slide" Target="slide12.xml"/><Relationship Id="rId20"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slide" Target="slide2.xml"/><Relationship Id="rId11" Type="http://schemas.openxmlformats.org/officeDocument/2006/relationships/slide" Target="slide7.xml"/><Relationship Id="rId24" Type="http://schemas.openxmlformats.org/officeDocument/2006/relationships/hyperlink" Target="https://arxiv.org/abs/2310.13548" TargetMode="External"/><Relationship Id="rId5" Type="http://schemas.openxmlformats.org/officeDocument/2006/relationships/slide" Target="slide1.xml"/><Relationship Id="rId15" Type="http://schemas.openxmlformats.org/officeDocument/2006/relationships/slide" Target="slide11.xml"/><Relationship Id="rId23" Type="http://schemas.openxmlformats.org/officeDocument/2006/relationships/hyperlink" Target="https://aclanthology.org/2023.findings-acl.847/" TargetMode="External"/><Relationship Id="rId10" Type="http://schemas.openxmlformats.org/officeDocument/2006/relationships/slide" Target="slide7.xml"/><Relationship Id="rId19" Type="http://schemas.openxmlformats.org/officeDocument/2006/relationships/slide" Target="slide16.xml"/><Relationship Id="rId4" Type="http://schemas.openxmlformats.org/officeDocument/2006/relationships/image" Target="../media/image1.png"/><Relationship Id="rId9" Type="http://schemas.openxmlformats.org/officeDocument/2006/relationships/slide" Target="slide5.xml"/><Relationship Id="rId14" Type="http://schemas.openxmlformats.org/officeDocument/2006/relationships/slide" Target="slide10.xml"/><Relationship Id="rId22" Type="http://schemas.openxmlformats.org/officeDocument/2006/relationships/slide" Target="slide18.xml"/><Relationship Id="rId27" Type="http://schemas.openxmlformats.org/officeDocument/2006/relationships/hyperlink" Target="https://arxiv.org/abs/2605.21778" TargetMode="External"/></Relationships>
</file>

<file path=ppt/slides/_rels/slide5.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slide" Target="slide10.xml"/><Relationship Id="rId18" Type="http://schemas.openxmlformats.org/officeDocument/2006/relationships/slide" Target="slide16.xml"/><Relationship Id="rId3" Type="http://schemas.openxmlformats.org/officeDocument/2006/relationships/image" Target="../media/image1.png"/><Relationship Id="rId21" Type="http://schemas.openxmlformats.org/officeDocument/2006/relationships/slide" Target="slide18.xml"/><Relationship Id="rId7" Type="http://schemas.openxmlformats.org/officeDocument/2006/relationships/slide" Target="slide4.xml"/><Relationship Id="rId12" Type="http://schemas.openxmlformats.org/officeDocument/2006/relationships/slide" Target="slide9.xml"/><Relationship Id="rId17" Type="http://schemas.openxmlformats.org/officeDocument/2006/relationships/slide" Target="slide14.xml"/><Relationship Id="rId2" Type="http://schemas.openxmlformats.org/officeDocument/2006/relationships/notesSlide" Target="../notesSlides/notesSlide5.xml"/><Relationship Id="rId16" Type="http://schemas.openxmlformats.org/officeDocument/2006/relationships/slide" Target="slide13.xml"/><Relationship Id="rId20" Type="http://schemas.openxmlformats.org/officeDocument/2006/relationships/slide" Target="slide17.xml"/><Relationship Id="rId1" Type="http://schemas.openxmlformats.org/officeDocument/2006/relationships/slideLayout" Target="../slideLayouts/slideLayout1.xml"/><Relationship Id="rId6" Type="http://schemas.openxmlformats.org/officeDocument/2006/relationships/slide" Target="slide3.xml"/><Relationship Id="rId11" Type="http://schemas.openxmlformats.org/officeDocument/2006/relationships/slide" Target="slide8.xml"/><Relationship Id="rId24" Type="http://schemas.openxmlformats.org/officeDocument/2006/relationships/image" Target="../media/image6.png"/><Relationship Id="rId5" Type="http://schemas.openxmlformats.org/officeDocument/2006/relationships/slide" Target="slide2.xml"/><Relationship Id="rId15" Type="http://schemas.openxmlformats.org/officeDocument/2006/relationships/slide" Target="slide12.xml"/><Relationship Id="rId23" Type="http://schemas.openxmlformats.org/officeDocument/2006/relationships/image" Target="../media/image5.png"/><Relationship Id="rId10" Type="http://schemas.openxmlformats.org/officeDocument/2006/relationships/slide" Target="slide7.xml"/><Relationship Id="rId19" Type="http://schemas.openxmlformats.org/officeDocument/2006/relationships/slide" Target="slide16.xml"/><Relationship Id="rId4" Type="http://schemas.openxmlformats.org/officeDocument/2006/relationships/slide" Target="slide1.xml"/><Relationship Id="rId9" Type="http://schemas.openxmlformats.org/officeDocument/2006/relationships/slide" Target="slide7.xml"/><Relationship Id="rId14" Type="http://schemas.openxmlformats.org/officeDocument/2006/relationships/slide" Target="slide11.xml"/><Relationship Id="rId22" Type="http://schemas.openxmlformats.org/officeDocument/2006/relationships/image" Target="../media/image4.jpg"/><Relationship Id="rIdNewsVisual540" Type="http://schemas.openxmlformats.org/officeDocument/2006/relationships/image" Target="../media/news_visual_540.png"/><Relationship Id="rIdNewsVisual541" Type="http://schemas.openxmlformats.org/officeDocument/2006/relationships/image" Target="../media/news_visual_541.png"/><Relationship Id="rIdNewsVisual542" Type="http://schemas.openxmlformats.org/officeDocument/2006/relationships/image" Target="../media/news_visual_542.png"/><Relationship Id="rIdNewsVisual543" Type="http://schemas.openxmlformats.org/officeDocument/2006/relationships/image" Target="../media/news_visual_543.png"/><Relationship Id="rIdNewsVisual544" Type="http://schemas.openxmlformats.org/officeDocument/2006/relationships/image" Target="../media/news_visual_544.png"/></Relationships>
</file>

<file path=ppt/slides/_rels/slide7.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9.xml"/><Relationship Id="rId18" Type="http://schemas.openxmlformats.org/officeDocument/2006/relationships/slide" Target="slide14.xml"/><Relationship Id="rId3" Type="http://schemas.openxmlformats.org/officeDocument/2006/relationships/hyperlink" Target="https://baylearn.org" TargetMode="External"/><Relationship Id="rId21" Type="http://schemas.openxmlformats.org/officeDocument/2006/relationships/slide" Target="slide17.xml"/><Relationship Id="rId7" Type="http://schemas.openxmlformats.org/officeDocument/2006/relationships/slide" Target="slide3.xml"/><Relationship Id="rId12" Type="http://schemas.openxmlformats.org/officeDocument/2006/relationships/slide" Target="slide8.xml"/><Relationship Id="rId17" Type="http://schemas.openxmlformats.org/officeDocument/2006/relationships/slide" Target="slide13.xml"/><Relationship Id="rId2" Type="http://schemas.openxmlformats.org/officeDocument/2006/relationships/notesSlide" Target="../notesSlides/notesSlide7.xml"/><Relationship Id="rId16" Type="http://schemas.openxmlformats.org/officeDocument/2006/relationships/slide" Target="slide12.xml"/><Relationship Id="rId20"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slide" Target="slide2.xml"/><Relationship Id="rId11" Type="http://schemas.openxmlformats.org/officeDocument/2006/relationships/slide" Target="slide7.xml"/><Relationship Id="rId5" Type="http://schemas.openxmlformats.org/officeDocument/2006/relationships/slide" Target="slide1.xml"/><Relationship Id="rId15" Type="http://schemas.openxmlformats.org/officeDocument/2006/relationships/slide" Target="slide11.xml"/><Relationship Id="rId10" Type="http://schemas.openxmlformats.org/officeDocument/2006/relationships/slide" Target="slide7.xml"/><Relationship Id="rId19" Type="http://schemas.openxmlformats.org/officeDocument/2006/relationships/slide" Target="slide16.xml"/><Relationship Id="rId4" Type="http://schemas.openxmlformats.org/officeDocument/2006/relationships/image" Target="../media/image1.png"/><Relationship Id="rId9" Type="http://schemas.openxmlformats.org/officeDocument/2006/relationships/slide" Target="slide5.xml"/><Relationship Id="rId14" Type="http://schemas.openxmlformats.org/officeDocument/2006/relationships/slide" Target="slide10.xml"/><Relationship Id="rId22" Type="http://schemas.openxmlformats.org/officeDocument/2006/relationships/slide" Target="slide18.xml"/></Relationships>
</file>

<file path=ppt/slides/_rels/slide8.xml.rels><?xml version='1.0' encoding='UTF-8' standalone='yes'?>
<Relationships xmlns="http://schemas.openxmlformats.org/package/2006/relationships"><Relationship Id="rId8" Type="http://schemas.openxmlformats.org/officeDocument/2006/relationships/slide" Target="slide3.xml"/><Relationship Id="rId13" Type="http://schemas.openxmlformats.org/officeDocument/2006/relationships/slide" Target="slide8.xml"/><Relationship Id="rId18" Type="http://schemas.openxmlformats.org/officeDocument/2006/relationships/slide" Target="slide13.xml"/><Relationship Id="rId3" Type="http://schemas.openxmlformats.org/officeDocument/2006/relationships/hyperlink" Target="https://baylearn.org" TargetMode="External"/><Relationship Id="rId21" Type="http://schemas.openxmlformats.org/officeDocument/2006/relationships/slide" Target="slide16.xml"/><Relationship Id="rId7" Type="http://schemas.openxmlformats.org/officeDocument/2006/relationships/slide" Target="slide2.xml"/><Relationship Id="rId12" Type="http://schemas.openxmlformats.org/officeDocument/2006/relationships/slide" Target="slide7.xml"/><Relationship Id="rId17" Type="http://schemas.openxmlformats.org/officeDocument/2006/relationships/slide" Target="slide12.xml"/><Relationship Id="rId2" Type="http://schemas.openxmlformats.org/officeDocument/2006/relationships/notesSlide" Target="../notesSlides/notesSlide8.xml"/><Relationship Id="rId16" Type="http://schemas.openxmlformats.org/officeDocument/2006/relationships/slide" Target="slide11.xml"/><Relationship Id="rId20"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slide" Target="slide1.xml"/><Relationship Id="rId11" Type="http://schemas.openxmlformats.org/officeDocument/2006/relationships/slide" Target="slide7.xml"/><Relationship Id="rId5" Type="http://schemas.openxmlformats.org/officeDocument/2006/relationships/image" Target="../media/image8.png"/><Relationship Id="rId15" Type="http://schemas.openxmlformats.org/officeDocument/2006/relationships/slide" Target="slide10.xml"/><Relationship Id="rId23" Type="http://schemas.openxmlformats.org/officeDocument/2006/relationships/slide" Target="slide18.xml"/><Relationship Id="rId10" Type="http://schemas.openxmlformats.org/officeDocument/2006/relationships/slide" Target="slide5.xml"/><Relationship Id="rId19" Type="http://schemas.openxmlformats.org/officeDocument/2006/relationships/slide" Target="slide14.xml"/><Relationship Id="rId4" Type="http://schemas.openxmlformats.org/officeDocument/2006/relationships/image" Target="../media/image1.png"/><Relationship Id="rId9" Type="http://schemas.openxmlformats.org/officeDocument/2006/relationships/slide" Target="slide4.xml"/><Relationship Id="rId14" Type="http://schemas.openxmlformats.org/officeDocument/2006/relationships/slide" Target="slide9.xml"/><Relationship Id="rId22" Type="http://schemas.openxmlformats.org/officeDocument/2006/relationships/slide" Target="slide17.xml"/></Relationships>
</file>

<file path=ppt/slides/_rels/slide9.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9.xml"/><Relationship Id="rId18" Type="http://schemas.openxmlformats.org/officeDocument/2006/relationships/slide" Target="slide14.xml"/><Relationship Id="rId3" Type="http://schemas.openxmlformats.org/officeDocument/2006/relationships/hyperlink" Target="https://baylearn.org" TargetMode="External"/><Relationship Id="rId21" Type="http://schemas.openxmlformats.org/officeDocument/2006/relationships/slide" Target="slide17.xml"/><Relationship Id="rId7" Type="http://schemas.openxmlformats.org/officeDocument/2006/relationships/slide" Target="slide3.xml"/><Relationship Id="rId12" Type="http://schemas.openxmlformats.org/officeDocument/2006/relationships/slide" Target="slide8.xml"/><Relationship Id="rId17" Type="http://schemas.openxmlformats.org/officeDocument/2006/relationships/slide" Target="slide13.xml"/><Relationship Id="rId2" Type="http://schemas.openxmlformats.org/officeDocument/2006/relationships/notesSlide" Target="../notesSlides/notesSlide9.xml"/><Relationship Id="rId16" Type="http://schemas.openxmlformats.org/officeDocument/2006/relationships/slide" Target="slide12.xml"/><Relationship Id="rId20"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slide" Target="slide2.xml"/><Relationship Id="rId11" Type="http://schemas.openxmlformats.org/officeDocument/2006/relationships/slide" Target="slide7.xml"/><Relationship Id="rId5" Type="http://schemas.openxmlformats.org/officeDocument/2006/relationships/slide" Target="slide1.xml"/><Relationship Id="rId15" Type="http://schemas.openxmlformats.org/officeDocument/2006/relationships/slide" Target="slide11.xml"/><Relationship Id="rId10" Type="http://schemas.openxmlformats.org/officeDocument/2006/relationships/slide" Target="slide7.xml"/><Relationship Id="rId19" Type="http://schemas.openxmlformats.org/officeDocument/2006/relationships/slide" Target="slide16.xml"/><Relationship Id="rId4" Type="http://schemas.openxmlformats.org/officeDocument/2006/relationships/image" Target="../media/image1.png"/><Relationship Id="rId9" Type="http://schemas.openxmlformats.org/officeDocument/2006/relationships/slide" Target="slide5.xml"/><Relationship Id="rId14" Type="http://schemas.openxmlformats.org/officeDocument/2006/relationships/slide" Target="slide10.xml"/><Relationship Id="rId22" Type="http://schemas.openxmlformats.org/officeDocument/2006/relationships/slide" Target="slide18.xml"/></Relationships>
</file>

<file path=ppt/slides/_rels/slide10.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9.xml"/><Relationship Id="rId18" Type="http://schemas.openxmlformats.org/officeDocument/2006/relationships/slide" Target="slide14.xml"/><Relationship Id="rId3" Type="http://schemas.openxmlformats.org/officeDocument/2006/relationships/hyperlink" Target="https://baylearn.org" TargetMode="External"/><Relationship Id="rId21" Type="http://schemas.openxmlformats.org/officeDocument/2006/relationships/slide" Target="slide17.xml"/><Relationship Id="rId7" Type="http://schemas.openxmlformats.org/officeDocument/2006/relationships/slide" Target="slide3.xml"/><Relationship Id="rId12" Type="http://schemas.openxmlformats.org/officeDocument/2006/relationships/slide" Target="slide8.xml"/><Relationship Id="rId17" Type="http://schemas.openxmlformats.org/officeDocument/2006/relationships/slide" Target="slide13.xml"/><Relationship Id="rId2" Type="http://schemas.openxmlformats.org/officeDocument/2006/relationships/notesSlide" Target="../notesSlides/notesSlide10.xml"/><Relationship Id="rId16" Type="http://schemas.openxmlformats.org/officeDocument/2006/relationships/slide" Target="slide12.xml"/><Relationship Id="rId20"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slide" Target="slide2.xml"/><Relationship Id="rId11" Type="http://schemas.openxmlformats.org/officeDocument/2006/relationships/slide" Target="slide7.xml"/><Relationship Id="rId5" Type="http://schemas.openxmlformats.org/officeDocument/2006/relationships/slide" Target="slide1.xml"/><Relationship Id="rId15" Type="http://schemas.openxmlformats.org/officeDocument/2006/relationships/slide" Target="slide11.xml"/><Relationship Id="rId10" Type="http://schemas.openxmlformats.org/officeDocument/2006/relationships/slide" Target="slide7.xml"/><Relationship Id="rId19" Type="http://schemas.openxmlformats.org/officeDocument/2006/relationships/slide" Target="slide16.xml"/><Relationship Id="rId4" Type="http://schemas.openxmlformats.org/officeDocument/2006/relationships/image" Target="../media/image1.png"/><Relationship Id="rId9" Type="http://schemas.openxmlformats.org/officeDocument/2006/relationships/slide" Target="slide5.xml"/><Relationship Id="rId14" Type="http://schemas.openxmlformats.org/officeDocument/2006/relationships/slide" Target="slide10.xml"/><Relationship Id="rId22" Type="http://schemas.openxmlformats.org/officeDocument/2006/relationships/slide" Target="slide18.xml"/></Relationships>
</file>

<file path=ppt/slides/_rels/slide11.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9.xml"/><Relationship Id="rId18" Type="http://schemas.openxmlformats.org/officeDocument/2006/relationships/slide" Target="slide14.xml"/><Relationship Id="rId3" Type="http://schemas.openxmlformats.org/officeDocument/2006/relationships/hyperlink" Target="https://baylearn.org" TargetMode="External"/><Relationship Id="rId21" Type="http://schemas.openxmlformats.org/officeDocument/2006/relationships/slide" Target="slide17.xml"/><Relationship Id="rId7" Type="http://schemas.openxmlformats.org/officeDocument/2006/relationships/slide" Target="slide3.xml"/><Relationship Id="rId12" Type="http://schemas.openxmlformats.org/officeDocument/2006/relationships/slide" Target="slide8.xml"/><Relationship Id="rId17" Type="http://schemas.openxmlformats.org/officeDocument/2006/relationships/slide" Target="slide13.xml"/><Relationship Id="rId2" Type="http://schemas.openxmlformats.org/officeDocument/2006/relationships/notesSlide" Target="../notesSlides/notesSlide11.xml"/><Relationship Id="rId16" Type="http://schemas.openxmlformats.org/officeDocument/2006/relationships/slide" Target="slide12.xml"/><Relationship Id="rId20"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slide" Target="slide2.xml"/><Relationship Id="rId11" Type="http://schemas.openxmlformats.org/officeDocument/2006/relationships/slide" Target="slide7.xml"/><Relationship Id="rId5" Type="http://schemas.openxmlformats.org/officeDocument/2006/relationships/slide" Target="slide1.xml"/><Relationship Id="rId15" Type="http://schemas.openxmlformats.org/officeDocument/2006/relationships/slide" Target="slide11.xml"/><Relationship Id="rId10" Type="http://schemas.openxmlformats.org/officeDocument/2006/relationships/slide" Target="slide7.xml"/><Relationship Id="rId19" Type="http://schemas.openxmlformats.org/officeDocument/2006/relationships/slide" Target="slide16.xml"/><Relationship Id="rId4" Type="http://schemas.openxmlformats.org/officeDocument/2006/relationships/image" Target="../media/image1.png"/><Relationship Id="rId9" Type="http://schemas.openxmlformats.org/officeDocument/2006/relationships/slide" Target="slide5.xml"/><Relationship Id="rId14" Type="http://schemas.openxmlformats.org/officeDocument/2006/relationships/slide" Target="slide10.xml"/><Relationship Id="rId22" Type="http://schemas.openxmlformats.org/officeDocument/2006/relationships/slide" Target="slide18.xml"/></Relationships>
</file>

<file path=ppt/slides/_rels/slide12.xml.rels><?xml version='1.0' encoding='UTF-8' standalone='yes'?>
<Relationships xmlns="http://schemas.openxmlformats.org/package/2006/relationships"><Relationship Id="rId8" Type="http://schemas.openxmlformats.org/officeDocument/2006/relationships/slide" Target="slide3.xml"/><Relationship Id="rId13" Type="http://schemas.openxmlformats.org/officeDocument/2006/relationships/slide" Target="slide8.xml"/><Relationship Id="rId18" Type="http://schemas.openxmlformats.org/officeDocument/2006/relationships/slide" Target="slide13.xml"/><Relationship Id="rId3" Type="http://schemas.openxmlformats.org/officeDocument/2006/relationships/hyperlink" Target="https://baylearn.org" TargetMode="External"/><Relationship Id="rId21" Type="http://schemas.openxmlformats.org/officeDocument/2006/relationships/slide" Target="slide16.xml"/><Relationship Id="rId7" Type="http://schemas.openxmlformats.org/officeDocument/2006/relationships/slide" Target="slide2.xml"/><Relationship Id="rId12" Type="http://schemas.openxmlformats.org/officeDocument/2006/relationships/slide" Target="slide7.xml"/><Relationship Id="rId17" Type="http://schemas.openxmlformats.org/officeDocument/2006/relationships/slide" Target="slide12.xml"/><Relationship Id="rId2" Type="http://schemas.openxmlformats.org/officeDocument/2006/relationships/notesSlide" Target="../notesSlides/notesSlide12.xml"/><Relationship Id="rId16" Type="http://schemas.openxmlformats.org/officeDocument/2006/relationships/slide" Target="slide11.xml"/><Relationship Id="rId20"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slide" Target="slide1.xml"/><Relationship Id="rId11" Type="http://schemas.openxmlformats.org/officeDocument/2006/relationships/slide" Target="slide7.xml"/><Relationship Id="rId5" Type="http://schemas.openxmlformats.org/officeDocument/2006/relationships/image" Target="../media/image9.png"/><Relationship Id="rId15" Type="http://schemas.openxmlformats.org/officeDocument/2006/relationships/slide" Target="slide10.xml"/><Relationship Id="rId23" Type="http://schemas.openxmlformats.org/officeDocument/2006/relationships/slide" Target="slide18.xml"/><Relationship Id="rId10" Type="http://schemas.openxmlformats.org/officeDocument/2006/relationships/slide" Target="slide5.xml"/><Relationship Id="rId19" Type="http://schemas.openxmlformats.org/officeDocument/2006/relationships/slide" Target="slide14.xml"/><Relationship Id="rId4" Type="http://schemas.openxmlformats.org/officeDocument/2006/relationships/image" Target="../media/image1.png"/><Relationship Id="rId9" Type="http://schemas.openxmlformats.org/officeDocument/2006/relationships/slide" Target="slide4.xml"/><Relationship Id="rId14" Type="http://schemas.openxmlformats.org/officeDocument/2006/relationships/slide" Target="slide9.xml"/><Relationship Id="rId22" Type="http://schemas.openxmlformats.org/officeDocument/2006/relationships/slide" Target="slide17.xml"/></Relationships>
</file>

<file path=ppt/slides/_rels/slide13.xml.rels><?xml version='1.0' encoding='UTF-8' standalone='yes'?>
<Relationships xmlns="http://schemas.openxmlformats.org/package/2006/relationships"><Relationship Id="rId8" Type="http://schemas.openxmlformats.org/officeDocument/2006/relationships/slide" Target="slide3.xml"/><Relationship Id="rId13" Type="http://schemas.openxmlformats.org/officeDocument/2006/relationships/slide" Target="slide8.xml"/><Relationship Id="rId18" Type="http://schemas.openxmlformats.org/officeDocument/2006/relationships/slide" Target="slide13.xml"/><Relationship Id="rId3" Type="http://schemas.openxmlformats.org/officeDocument/2006/relationships/hyperlink" Target="https://baylearn.org" TargetMode="External"/><Relationship Id="rId21" Type="http://schemas.openxmlformats.org/officeDocument/2006/relationships/slide" Target="slide16.xml"/><Relationship Id="rId7" Type="http://schemas.openxmlformats.org/officeDocument/2006/relationships/slide" Target="slide2.xml"/><Relationship Id="rId12" Type="http://schemas.openxmlformats.org/officeDocument/2006/relationships/slide" Target="slide7.xml"/><Relationship Id="rId17" Type="http://schemas.openxmlformats.org/officeDocument/2006/relationships/slide" Target="slide12.xml"/><Relationship Id="rId2" Type="http://schemas.openxmlformats.org/officeDocument/2006/relationships/notesSlide" Target="../notesSlides/notesSlide13.xml"/><Relationship Id="rId16" Type="http://schemas.openxmlformats.org/officeDocument/2006/relationships/slide" Target="slide11.xml"/><Relationship Id="rId20"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slide" Target="slide1.xml"/><Relationship Id="rId11" Type="http://schemas.openxmlformats.org/officeDocument/2006/relationships/slide" Target="slide7.xml"/><Relationship Id="rId5" Type="http://schemas.openxmlformats.org/officeDocument/2006/relationships/image" Target="../media/image10.png"/><Relationship Id="rId15" Type="http://schemas.openxmlformats.org/officeDocument/2006/relationships/slide" Target="slide10.xml"/><Relationship Id="rId23" Type="http://schemas.openxmlformats.org/officeDocument/2006/relationships/slide" Target="slide18.xml"/><Relationship Id="rId10" Type="http://schemas.openxmlformats.org/officeDocument/2006/relationships/slide" Target="slide5.xml"/><Relationship Id="rId19" Type="http://schemas.openxmlformats.org/officeDocument/2006/relationships/slide" Target="slide14.xml"/><Relationship Id="rId4" Type="http://schemas.openxmlformats.org/officeDocument/2006/relationships/image" Target="../media/image1.png"/><Relationship Id="rId9" Type="http://schemas.openxmlformats.org/officeDocument/2006/relationships/slide" Target="slide4.xml"/><Relationship Id="rId14" Type="http://schemas.openxmlformats.org/officeDocument/2006/relationships/slide" Target="slide9.xml"/><Relationship Id="rId22" Type="http://schemas.openxmlformats.org/officeDocument/2006/relationships/slide" Target="slide17.xml"/></Relationships>
</file>

<file path=ppt/slides/_rels/slide14.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9.xml"/><Relationship Id="rId18" Type="http://schemas.openxmlformats.org/officeDocument/2006/relationships/slide" Target="slide14.xml"/><Relationship Id="rId3" Type="http://schemas.openxmlformats.org/officeDocument/2006/relationships/hyperlink" Target="https://baylearn.org" TargetMode="External"/><Relationship Id="rId21" Type="http://schemas.openxmlformats.org/officeDocument/2006/relationships/slide" Target="slide17.xml"/><Relationship Id="rId7" Type="http://schemas.openxmlformats.org/officeDocument/2006/relationships/slide" Target="slide3.xml"/><Relationship Id="rId12" Type="http://schemas.openxmlformats.org/officeDocument/2006/relationships/slide" Target="slide8.xml"/><Relationship Id="rId17" Type="http://schemas.openxmlformats.org/officeDocument/2006/relationships/slide" Target="slide13.xml"/><Relationship Id="rId2" Type="http://schemas.openxmlformats.org/officeDocument/2006/relationships/notesSlide" Target="../notesSlides/notesSlide14.xml"/><Relationship Id="rId16" Type="http://schemas.openxmlformats.org/officeDocument/2006/relationships/slide" Target="slide12.xml"/><Relationship Id="rId20"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slide" Target="slide2.xml"/><Relationship Id="rId11" Type="http://schemas.openxmlformats.org/officeDocument/2006/relationships/slide" Target="slide7.xml"/><Relationship Id="rId5" Type="http://schemas.openxmlformats.org/officeDocument/2006/relationships/slide" Target="slide1.xml"/><Relationship Id="rId15" Type="http://schemas.openxmlformats.org/officeDocument/2006/relationships/slide" Target="slide11.xml"/><Relationship Id="rId10" Type="http://schemas.openxmlformats.org/officeDocument/2006/relationships/slide" Target="slide7.xml"/><Relationship Id="rId19" Type="http://schemas.openxmlformats.org/officeDocument/2006/relationships/slide" Target="slide16.xml"/><Relationship Id="rId4" Type="http://schemas.openxmlformats.org/officeDocument/2006/relationships/image" Target="../media/image1.png"/><Relationship Id="rId9" Type="http://schemas.openxmlformats.org/officeDocument/2006/relationships/slide" Target="slide5.xml"/><Relationship Id="rId14" Type="http://schemas.openxmlformats.org/officeDocument/2006/relationships/slide" Target="slide10.xml"/><Relationship Id="rId22" Type="http://schemas.openxmlformats.org/officeDocument/2006/relationships/slide" Target="slide18.xml"/></Relationships>
</file>

<file path=ppt/slides/_rels/slide16.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slide" Target="slide10.xml"/><Relationship Id="rId18" Type="http://schemas.openxmlformats.org/officeDocument/2006/relationships/slide" Target="slide16.xml"/><Relationship Id="rId3" Type="http://schemas.openxmlformats.org/officeDocument/2006/relationships/image" Target="../media/image1.png"/><Relationship Id="rId21" Type="http://schemas.openxmlformats.org/officeDocument/2006/relationships/slide" Target="slide18.xml"/><Relationship Id="rId7" Type="http://schemas.openxmlformats.org/officeDocument/2006/relationships/slide" Target="slide4.xml"/><Relationship Id="rId12" Type="http://schemas.openxmlformats.org/officeDocument/2006/relationships/slide" Target="slide9.xml"/><Relationship Id="rId17" Type="http://schemas.openxmlformats.org/officeDocument/2006/relationships/slide" Target="slide14.xml"/><Relationship Id="rId2" Type="http://schemas.openxmlformats.org/officeDocument/2006/relationships/notesSlide" Target="../notesSlides/notesSlide16.xml"/><Relationship Id="rId16" Type="http://schemas.openxmlformats.org/officeDocument/2006/relationships/slide" Target="slide13.xml"/><Relationship Id="rId20" Type="http://schemas.openxmlformats.org/officeDocument/2006/relationships/slide" Target="slide17.xml"/><Relationship Id="rId1" Type="http://schemas.openxmlformats.org/officeDocument/2006/relationships/slideLayout" Target="../slideLayouts/slideLayout1.xml"/><Relationship Id="rId6" Type="http://schemas.openxmlformats.org/officeDocument/2006/relationships/slide" Target="slide3.xml"/><Relationship Id="rId11" Type="http://schemas.openxmlformats.org/officeDocument/2006/relationships/slide" Target="slide8.xml"/><Relationship Id="rId5" Type="http://schemas.openxmlformats.org/officeDocument/2006/relationships/slide" Target="slide2.xml"/><Relationship Id="rId15" Type="http://schemas.openxmlformats.org/officeDocument/2006/relationships/slide" Target="slide12.xml"/><Relationship Id="rId10" Type="http://schemas.openxmlformats.org/officeDocument/2006/relationships/slide" Target="slide7.xml"/><Relationship Id="rId19" Type="http://schemas.openxmlformats.org/officeDocument/2006/relationships/slide" Target="slide16.xml"/><Relationship Id="rId4" Type="http://schemas.openxmlformats.org/officeDocument/2006/relationships/slide" Target="slide1.xml"/><Relationship Id="rId9" Type="http://schemas.openxmlformats.org/officeDocument/2006/relationships/slide" Target="slide7.xml"/><Relationship Id="rId14" Type="http://schemas.openxmlformats.org/officeDocument/2006/relationships/slide" Target="slide11.xml"/></Relationships>
</file>

<file path=ppt/slides/_rels/slide17.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9.xml"/><Relationship Id="rId18" Type="http://schemas.openxmlformats.org/officeDocument/2006/relationships/slide" Target="slide14.xml"/><Relationship Id="rId3" Type="http://schemas.openxmlformats.org/officeDocument/2006/relationships/hyperlink" Target="https://baylearn.org" TargetMode="External"/><Relationship Id="rId21" Type="http://schemas.openxmlformats.org/officeDocument/2006/relationships/slide" Target="slide17.xml"/><Relationship Id="rId7" Type="http://schemas.openxmlformats.org/officeDocument/2006/relationships/slide" Target="slide3.xml"/><Relationship Id="rId12" Type="http://schemas.openxmlformats.org/officeDocument/2006/relationships/slide" Target="slide8.xml"/><Relationship Id="rId17" Type="http://schemas.openxmlformats.org/officeDocument/2006/relationships/slide" Target="slide13.xml"/><Relationship Id="rId2" Type="http://schemas.openxmlformats.org/officeDocument/2006/relationships/notesSlide" Target="../notesSlides/notesSlide17.xml"/><Relationship Id="rId16" Type="http://schemas.openxmlformats.org/officeDocument/2006/relationships/slide" Target="slide12.xml"/><Relationship Id="rId20"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slide" Target="slide2.xml"/><Relationship Id="rId11" Type="http://schemas.openxmlformats.org/officeDocument/2006/relationships/slide" Target="slide7.xml"/><Relationship Id="rId5" Type="http://schemas.openxmlformats.org/officeDocument/2006/relationships/slide" Target="slide1.xml"/><Relationship Id="rId15" Type="http://schemas.openxmlformats.org/officeDocument/2006/relationships/slide" Target="slide11.xml"/><Relationship Id="rId10" Type="http://schemas.openxmlformats.org/officeDocument/2006/relationships/slide" Target="slide7.xml"/><Relationship Id="rId19" Type="http://schemas.openxmlformats.org/officeDocument/2006/relationships/slide" Target="slide16.xml"/><Relationship Id="rId4" Type="http://schemas.openxmlformats.org/officeDocument/2006/relationships/image" Target="../media/image1.png"/><Relationship Id="rId9" Type="http://schemas.openxmlformats.org/officeDocument/2006/relationships/slide" Target="slide5.xml"/><Relationship Id="rId14" Type="http://schemas.openxmlformats.org/officeDocument/2006/relationships/slide" Target="slide10.xml"/><Relationship Id="rId22" Type="http://schemas.openxmlformats.org/officeDocument/2006/relationships/slide" Target="slide18.xml"/></Relationships>
</file>

<file path=ppt/slides/_rels/slide18.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9.xml"/><Relationship Id="rId18" Type="http://schemas.openxmlformats.org/officeDocument/2006/relationships/slide" Target="slide14.xml"/><Relationship Id="rId3" Type="http://schemas.openxmlformats.org/officeDocument/2006/relationships/hyperlink" Target="https://baylearn.org" TargetMode="External"/><Relationship Id="rId21" Type="http://schemas.openxmlformats.org/officeDocument/2006/relationships/slide" Target="slide17.xml"/><Relationship Id="rId7" Type="http://schemas.openxmlformats.org/officeDocument/2006/relationships/slide" Target="slide3.xml"/><Relationship Id="rId12" Type="http://schemas.openxmlformats.org/officeDocument/2006/relationships/slide" Target="slide8.xml"/><Relationship Id="rId17" Type="http://schemas.openxmlformats.org/officeDocument/2006/relationships/slide" Target="slide13.xml"/><Relationship Id="rId2" Type="http://schemas.openxmlformats.org/officeDocument/2006/relationships/notesSlide" Target="../notesSlides/notesSlide18.xml"/><Relationship Id="rId16" Type="http://schemas.openxmlformats.org/officeDocument/2006/relationships/slide" Target="slide12.xml"/><Relationship Id="rId20" Type="http://schemas.openxmlformats.org/officeDocument/2006/relationships/slide" Target="slide16.xml"/><Relationship Id="rId1" Type="http://schemas.openxmlformats.org/officeDocument/2006/relationships/slideLayout" Target="../slideLayouts/slideLayout1.xml"/><Relationship Id="rId6" Type="http://schemas.openxmlformats.org/officeDocument/2006/relationships/slide" Target="slide2.xml"/><Relationship Id="rId11" Type="http://schemas.openxmlformats.org/officeDocument/2006/relationships/slide" Target="slide7.xml"/><Relationship Id="rId5" Type="http://schemas.openxmlformats.org/officeDocument/2006/relationships/slide" Target="slide1.xml"/><Relationship Id="rId15" Type="http://schemas.openxmlformats.org/officeDocument/2006/relationships/slide" Target="slide11.xml"/><Relationship Id="rId10" Type="http://schemas.openxmlformats.org/officeDocument/2006/relationships/slide" Target="slide7.xml"/><Relationship Id="rId19" Type="http://schemas.openxmlformats.org/officeDocument/2006/relationships/slide" Target="slide16.xml"/><Relationship Id="rId4" Type="http://schemas.openxmlformats.org/officeDocument/2006/relationships/image" Target="../media/image1.png"/><Relationship Id="rId9" Type="http://schemas.openxmlformats.org/officeDocument/2006/relationships/slide" Target="slide5.xml"/><Relationship Id="rId14" Type="http://schemas.openxmlformats.org/officeDocument/2006/relationships/slide" Target="slide10.xml"/><Relationship Id="rId22" Type="http://schemas.openxmlformats.org/officeDocument/2006/relationships/slide" Target="slide18.xml"/><Relationship Id="rIdResearchRepository" Type="http://schemas.openxmlformats.org/officeDocument/2006/relationships/hyperlink" Target="https://github.com/sujitnoronha/llm_sycophancy_prob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8002" name="Content highlight 2"/>
          <p:cNvSpPr/>
          <p:nvPr/>
        </p:nvSpPr>
        <p:spPr>
          <a:xfrm>
            <a:off x="8686800" y="3314700"/>
            <a:ext cx="2686050" cy="590550"/>
          </a:xfrm>
          <a:prstGeom prst="rect">
            <a:avLst/>
          </a:prstGeom>
          <a:solidFill>
            <a:srgbClr val="FBF3F5"/>
          </a:solidFill>
          <a:ln>
            <a:noFill/>
          </a:ln>
        </p:spPr>
      </p:sp>
      <p:sp>
        <p:nvSpPr>
          <p:cNvPr id="8001" name="Content highlight 1"/>
          <p:cNvSpPr/>
          <p:nvPr/>
        </p:nvSpPr>
        <p:spPr>
          <a:xfrm>
            <a:off x="8334375" y="1571625"/>
            <a:ext cx="3133725" cy="742950"/>
          </a:xfrm>
          <a:prstGeom prst="rect">
            <a:avLst/>
          </a:prstGeom>
          <a:solidFill>
            <a:srgbClr val="F2F5F7"/>
          </a:solidFill>
          <a:ln>
            <a:noFill/>
          </a:ln>
        </p:spPr>
      </p:sp>
      <p:pic>
        <p:nvPicPr>
          <p:cNvPr id="38" name="Image 0" descr="/mnt/data/revamp_work/baylearn_wordmark_recreated.png">
            <a:hlinkClick r:id="rId3"/>
          </p:cNvPr>
          <p:cNvPicPr>
            <a:picLocks noChangeAspect="1"/>
          </p:cNvPicPr>
          <p:nvPr/>
        </p:nvPicPr>
        <p:blipFill>
          <a:blip r:embed="rId4"/>
          <a:stretch>
            <a:fillRect/>
          </a:stretch>
        </p:blipFill>
        <p:spPr>
          <a:xfrm>
            <a:off x="713232" y="429768"/>
            <a:ext cx="2240280" cy="694944"/>
          </a:xfrm>
          <a:prstGeom prst="rect">
            <a:avLst/>
          </a:prstGeom>
          <a:ln/>
        </p:spPr>
      </p:pic>
      <p:sp>
        <p:nvSpPr>
          <p:cNvPr id="39" name="Text 36"/>
          <p:cNvSpPr/>
          <p:nvPr/>
        </p:nvSpPr>
        <p:spPr>
          <a:xfrm>
            <a:off x="713232" y="1664208"/>
            <a:ext cx="8631936" cy="749808"/>
          </a:xfrm>
          <a:prstGeom prst="rect">
            <a:avLst/>
          </a:prstGeom>
          <a:noFill/>
          <a:ln/>
        </p:spPr>
        <p:txBody>
          <a:bodyPr wrap="square" lIns="0" tIns="0" rIns="0" bIns="0" rtlCol="0" anchor="ctr">
            <a:normAutofit/>
          </a:bodyPr>
          <a:lstStyle/>
          <a:p>
            <a:pPr marL="0" indent="0" algn="l">
              <a:buNone/>
            </a:pPr>
            <a:r>
              <a:rPr lang="en-US" sz="4000" b="1" dirty="0">
                <a:solidFill>
                  <a:srgbClr val="1D2C36"/>
                </a:solidFill>
                <a:latin typeface="Inter Display" pitchFamily="34" charset="0"/>
                <a:ea typeface="Inter Display" pitchFamily="34" charset="-122"/>
                <a:cs typeface="Inter Display" pitchFamily="34" charset="-120"/>
              </a:rPr>
              <a:t>WHEN MODELS</a:t>
            </a:r>
            <a:endParaRPr lang="en-US" sz="4000" dirty="0"/>
          </a:p>
        </p:txBody>
      </p:sp>
      <p:sp>
        <p:nvSpPr>
          <p:cNvPr id="40" name="Text 37"/>
          <p:cNvSpPr/>
          <p:nvPr/>
        </p:nvSpPr>
        <p:spPr>
          <a:xfrm>
            <a:off x="713232" y="2404872"/>
            <a:ext cx="8412480" cy="996696"/>
          </a:xfrm>
          <a:prstGeom prst="rect">
            <a:avLst/>
          </a:prstGeom>
          <a:noFill/>
          <a:ln/>
        </p:spPr>
        <p:txBody>
          <a:bodyPr wrap="square" lIns="0" tIns="0" rIns="0" bIns="0" rtlCol="0" anchor="ctr">
            <a:normAutofit/>
          </a:bodyPr>
          <a:lstStyle/>
          <a:p>
            <a:pPr marL="0" indent="0" algn="l">
              <a:buNone/>
            </a:pPr>
            <a:r>
              <a:rPr lang="en-US" sz="5400" b="1" dirty="0">
                <a:solidFill>
                  <a:srgbClr val="0B8999"/>
                </a:solidFill>
                <a:latin typeface="Inter Display" pitchFamily="34" charset="0"/>
                <a:ea typeface="Inter Display" pitchFamily="34" charset="-122"/>
                <a:cs typeface="Inter Display" pitchFamily="34" charset="-120"/>
              </a:rPr>
              <a:t>SAY YES.</a:t>
            </a:r>
            <a:endParaRPr lang="en-US" sz="5400" dirty="0"/>
          </a:p>
        </p:txBody>
      </p:sp>
      <p:sp>
        <p:nvSpPr>
          <p:cNvPr id="41" name="Text 38"/>
          <p:cNvSpPr/>
          <p:nvPr/>
        </p:nvSpPr>
        <p:spPr>
          <a:xfrm>
            <a:off x="731520" y="3767328"/>
            <a:ext cx="10643616" cy="484632"/>
          </a:xfrm>
          <a:prstGeom prst="rect">
            <a:avLst/>
          </a:prstGeom>
          <a:noFill/>
          <a:ln/>
        </p:spPr>
        <p:txBody>
          <a:bodyPr wrap="square" lIns="0" tIns="0" rIns="0" bIns="0" rtlCol="0" anchor="ctr">
            <a:normAutofit/>
          </a:bodyPr>
          <a:lstStyle/>
          <a:p>
            <a:pPr marL="0" indent="0" algn="l">
              <a:buNone/>
            </a:pPr>
            <a:r>
              <a:rPr lang="en-US" sz="2200" b="1" dirty="0">
                <a:solidFill>
                  <a:srgbClr val="1D2C36"/>
                </a:solidFill>
                <a:latin typeface="Inter" pitchFamily="34" charset="0"/>
                <a:ea typeface="Inter" pitchFamily="34" charset="-122"/>
                <a:cs typeface="Inter" pitchFamily="34" charset="-120"/>
              </a:rPr>
              <a:t>Blind Deference &amp; Authority-Driven Sycophancy</a:t>
            </a:r>
            <a:endParaRPr lang="en-US" sz="2200" dirty="0"/>
          </a:p>
        </p:txBody>
      </p:sp>
      <p:sp>
        <p:nvSpPr>
          <p:cNvPr id="42" name="Text 39"/>
          <p:cNvSpPr/>
          <p:nvPr/>
        </p:nvSpPr>
        <p:spPr>
          <a:xfrm>
            <a:off x="749808" y="4398264"/>
            <a:ext cx="10021824" cy="429768"/>
          </a:xfrm>
          <a:prstGeom prst="rect">
            <a:avLst/>
          </a:prstGeom>
          <a:noFill/>
          <a:ln/>
        </p:spPr>
        <p:txBody>
          <a:bodyPr wrap="square" lIns="0" tIns="0" rIns="0" bIns="0" rtlCol="0" anchor="ctr">
            <a:normAutofit/>
          </a:bodyPr>
          <a:lstStyle/>
          <a:p>
            <a:pPr marL="0" indent="0" algn="l">
              <a:buNone/>
            </a:pPr>
            <a:r>
              <a:rPr lang="en-US" sz="2400" dirty="0">
                <a:solidFill>
                  <a:srgbClr val="5C6C76"/>
                </a:solidFill>
                <a:latin typeface="Inter" pitchFamily="34" charset="0"/>
                <a:ea typeface="Inter" pitchFamily="34" charset="-122"/>
                <a:cs typeface="Inter" pitchFamily="34" charset="-120"/>
              </a:rPr>
              <a:t>Why an authoritative voice can change a correct answer</a:t>
            </a:r>
            <a:endParaRPr lang="en-US" sz="1680" dirty="0"/>
          </a:p>
        </p:txBody>
      </p:sp>
      <p:sp>
        <p:nvSpPr>
          <p:cNvPr id="43" name="Text 40"/>
          <p:cNvSpPr/>
          <p:nvPr/>
        </p:nvSpPr>
        <p:spPr>
          <a:xfrm>
            <a:off x="749808" y="5212080"/>
            <a:ext cx="10789920" cy="301752"/>
          </a:xfrm>
          <a:prstGeom prst="rect">
            <a:avLst/>
          </a:prstGeom>
          <a:noFill/>
          <a:ln/>
        </p:spPr>
        <p:txBody>
          <a:bodyPr wrap="square" lIns="0" tIns="0" rIns="0" bIns="0" rtlCol="0" anchor="ctr">
            <a:normAutofit/>
          </a:bodyPr>
          <a:lstStyle/>
          <a:p>
            <a:pPr marL="0" indent="0" algn="l">
              <a:buNone/>
            </a:pPr>
            <a:r>
              <a:rPr lang="en-US" sz="1700" dirty="0">
                <a:solidFill>
                  <a:srgbClr val="7F8C93"/>
                </a:solidFill>
                <a:latin typeface="Inter" pitchFamily="34" charset="0"/>
                <a:ea typeface="Inter" pitchFamily="34" charset="-122"/>
                <a:cs typeface="Inter" pitchFamily="34" charset="-120"/>
              </a:rPr>
              <a:t>Research: Sujit Noronha et al.  ·  Presenter: Steven Au  ·  BayLearn 2026</a:t>
            </a:r>
            <a:endParaRPr lang="en-US" sz="1300" dirty="0"/>
          </a:p>
        </p:txBody>
      </p:sp>
      <p:sp>
        <p:nvSpPr>
          <p:cNvPr id="45" name="Text 42"/>
          <p:cNvSpPr/>
          <p:nvPr/>
        </p:nvSpPr>
        <p:spPr>
          <a:xfrm>
            <a:off x="8429625" y="1673352"/>
            <a:ext cx="3000375" cy="533400"/>
          </a:xfrm>
          <a:prstGeom prst="rect">
            <a:avLst/>
          </a:prstGeom>
          <a:noFill/>
          <a:ln/>
        </p:spPr>
        <p:txBody>
          <a:bodyPr wrap="square" lIns="0" tIns="0" rIns="0" bIns="0" rtlCol="0" anchor="ctr">
            <a:normAutofit/>
          </a:bodyPr>
          <a:lstStyle/>
          <a:p>
            <a:pPr marL="0" indent="0" algn="l">
              <a:buNone/>
            </a:pPr>
            <a:r>
              <a:rPr lang="en-US" sz="1800" b="1" dirty="0">
                <a:solidFill>
                  <a:srgbClr val="1D2C36"/>
                </a:solidFill>
                <a:latin typeface="Inter" pitchFamily="34" charset="0"/>
                <a:ea typeface="Inter" pitchFamily="34" charset="-122"/>
                <a:cs typeface="Inter" pitchFamily="34" charset="-120"/>
              </a:rPr>
              <a:t>“I’m absolutely sure.”</a:t>
            </a:r>
            <a:endParaRPr lang="en-US" sz="1800" dirty="0"/>
          </a:p>
        </p:txBody>
      </p:sp>
      <p:sp>
        <p:nvSpPr>
          <p:cNvPr id="46" name="Shape 43"/>
          <p:cNvSpPr/>
          <p:nvPr/>
        </p:nvSpPr>
        <p:spPr>
          <a:xfrm>
            <a:off x="9976104" y="2432304"/>
            <a:ext cx="0" cy="557784"/>
          </a:xfrm>
          <a:prstGeom prst="line">
            <a:avLst/>
          </a:prstGeom>
          <a:noFill/>
          <a:ln w="25400">
            <a:solidFill>
              <a:srgbClr val="829AA7"/>
            </a:solidFill>
            <a:prstDash val="solid"/>
            <a:tailEnd type="triangle"/>
          </a:ln>
        </p:spPr>
        <p:txBody>
          <a:bodyPr/>
          <a:lstStyle/>
          <a:p>
            <a:endParaRPr/>
          </a:p>
        </p:txBody>
      </p:sp>
      <p:sp>
        <p:nvSpPr>
          <p:cNvPr id="48" name="Text 45"/>
          <p:cNvSpPr/>
          <p:nvPr/>
        </p:nvSpPr>
        <p:spPr>
          <a:xfrm>
            <a:off x="8787384" y="3410712"/>
            <a:ext cx="2441448" cy="365760"/>
          </a:xfrm>
          <a:prstGeom prst="rect">
            <a:avLst/>
          </a:prstGeom>
          <a:noFill/>
          <a:ln/>
        </p:spPr>
        <p:txBody>
          <a:bodyPr wrap="square" lIns="0" tIns="0" rIns="0" bIns="0" rtlCol="0" anchor="ctr">
            <a:normAutofit/>
          </a:bodyPr>
          <a:lstStyle/>
          <a:p>
            <a:pPr marL="0" indent="0" algn="l">
              <a:buNone/>
            </a:pPr>
            <a:r>
              <a:rPr lang="en-US" sz="2000" b="1" dirty="0">
                <a:solidFill>
                  <a:srgbClr val="B84F59"/>
                </a:solidFill>
                <a:latin typeface="Inter" pitchFamily="34" charset="0"/>
                <a:ea typeface="Inter" pitchFamily="34" charset="-122"/>
                <a:cs typeface="Inter" pitchFamily="34" charset="-120"/>
              </a:rPr>
              <a:t>“You’re right!”</a:t>
            </a:r>
            <a:endParaRPr lang="en-US" sz="2000" dirty="0"/>
          </a:p>
        </p:txBody>
      </p:sp>
      <p:sp>
        <p:nvSpPr>
          <p:cNvPr id="49" name="Rectangle 48"/>
          <p:cNvSpPr/>
          <p:nvPr/>
        </p:nvSpPr>
        <p:spPr>
          <a:xfrm>
            <a:off x="649224" y="6391656"/>
            <a:ext cx="10936224" cy="8229"/>
          </a:xfrm>
          <a:prstGeom prst="rect">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a:hlinkClick r:id="rId5" action="ppaction://hlinksldjump"/>
          </p:cNvPr>
          <p:cNvSpPr txBox="1"/>
          <p:nvPr/>
        </p:nvSpPr>
        <p:spPr>
          <a:xfrm>
            <a:off x="667512" y="6496812"/>
            <a:ext cx="557784" cy="219456"/>
          </a:xfrm>
          <a:prstGeom prst="rect">
            <a:avLst/>
          </a:prstGeom>
          <a:noFill/>
        </p:spPr>
        <p:txBody>
          <a:bodyPr wrap="square" lIns="0" tIns="0" rIns="0" bIns="0">
            <a:spAutoFit/>
          </a:bodyPr>
          <a:lstStyle/>
          <a:p>
            <a:pPr algn="l">
              <a:spcAft>
                <a:spcPts val="0"/>
              </a:spcAft>
            </a:pPr>
            <a:r>
              <a:rPr sz="890" b="1" i="0">
                <a:solidFill>
                  <a:srgbClr val="0C6A6C"/>
                </a:solidFill>
                <a:latin typeface="Aptos"/>
              </a:rPr>
              <a:t>Context</a:t>
            </a:r>
          </a:p>
        </p:txBody>
      </p:sp>
      <p:sp>
        <p:nvSpPr>
          <p:cNvPr id="51" name="Rounded Rectangle 50">
            <a:hlinkClick r:id="rId5" action="ppaction://hlinksldjump"/>
          </p:cNvPr>
          <p:cNvSpPr/>
          <p:nvPr/>
        </p:nvSpPr>
        <p:spPr>
          <a:xfrm>
            <a:off x="1353312" y="6558076"/>
            <a:ext cx="55778" cy="55778"/>
          </a:xfrm>
          <a:prstGeom prst="roundRect">
            <a:avLst>
              <a:gd name="adj" fmla="val 4500"/>
            </a:avLst>
          </a:prstGeom>
          <a:solidFill>
            <a:srgbClr val="0C6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a:hlinkClick r:id="rId6" action="ppaction://hlinksldjump"/>
          </p:cNvPr>
          <p:cNvSpPr/>
          <p:nvPr/>
        </p:nvSpPr>
        <p:spPr>
          <a:xfrm>
            <a:off x="142006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a:hlinkClick r:id="rId7" action="ppaction://hlinksldjump"/>
          </p:cNvPr>
          <p:cNvSpPr/>
          <p:nvPr/>
        </p:nvSpPr>
        <p:spPr>
          <a:xfrm>
            <a:off x="1486814"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a:hlinkClick r:id="rId8" action="ppaction://hlinksldjump"/>
          </p:cNvPr>
          <p:cNvSpPr/>
          <p:nvPr/>
        </p:nvSpPr>
        <p:spPr>
          <a:xfrm>
            <a:off x="1553565"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a:hlinkClick r:id="rId9" action="ppaction://hlinksldjump"/>
          </p:cNvPr>
          <p:cNvSpPr/>
          <p:nvPr/>
        </p:nvSpPr>
        <p:spPr>
          <a:xfrm>
            <a:off x="162031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a:hlinkClick r:id="rId10" action="ppaction://hlinksldjump"/>
          </p:cNvPr>
          <p:cNvSpPr txBox="1"/>
          <p:nvPr/>
        </p:nvSpPr>
        <p:spPr>
          <a:xfrm>
            <a:off x="2523744" y="6496812"/>
            <a:ext cx="69494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Authority</a:t>
            </a:r>
          </a:p>
        </p:txBody>
      </p:sp>
      <p:sp>
        <p:nvSpPr>
          <p:cNvPr id="58" name="Rounded Rectangle 57">
            <a:hlinkClick r:id="rId11" action="ppaction://hlinksldjump"/>
          </p:cNvPr>
          <p:cNvSpPr/>
          <p:nvPr/>
        </p:nvSpPr>
        <p:spPr>
          <a:xfrm>
            <a:off x="338602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hlinkClick r:id="rId12" action="ppaction://hlinksldjump"/>
          </p:cNvPr>
          <p:cNvSpPr txBox="1"/>
          <p:nvPr/>
        </p:nvSpPr>
        <p:spPr>
          <a:xfrm>
            <a:off x="4142231" y="6496812"/>
            <a:ext cx="31089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Test</a:t>
            </a:r>
          </a:p>
        </p:txBody>
      </p:sp>
      <p:sp>
        <p:nvSpPr>
          <p:cNvPr id="60" name="Rounded Rectangle 59">
            <a:hlinkClick r:id="rId12" action="ppaction://hlinksldjump"/>
          </p:cNvPr>
          <p:cNvSpPr/>
          <p:nvPr/>
        </p:nvSpPr>
        <p:spPr>
          <a:xfrm>
            <a:off x="454456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hlinkClick r:id="rId13" action="ppaction://hlinksldjump"/>
          </p:cNvPr>
          <p:cNvSpPr txBox="1"/>
          <p:nvPr/>
        </p:nvSpPr>
        <p:spPr>
          <a:xfrm>
            <a:off x="5276088" y="6496812"/>
            <a:ext cx="49377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Results</a:t>
            </a:r>
          </a:p>
        </p:txBody>
      </p:sp>
      <p:sp>
        <p:nvSpPr>
          <p:cNvPr id="62" name="Rounded Rectangle 61">
            <a:hlinkClick r:id="rId13" action="ppaction://hlinksldjump"/>
          </p:cNvPr>
          <p:cNvSpPr/>
          <p:nvPr/>
        </p:nvSpPr>
        <p:spPr>
          <a:xfrm>
            <a:off x="588873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a:hlinkClick r:id="rId14" action="ppaction://hlinksldjump"/>
          </p:cNvPr>
          <p:cNvSpPr/>
          <p:nvPr/>
        </p:nvSpPr>
        <p:spPr>
          <a:xfrm>
            <a:off x="595548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a:hlinkClick r:id="rId15" action="ppaction://hlinksldjump"/>
          </p:cNvPr>
          <p:cNvSpPr/>
          <p:nvPr/>
        </p:nvSpPr>
        <p:spPr>
          <a:xfrm>
            <a:off x="602223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hlinkClick r:id="rId16" action="ppaction://hlinksldjump"/>
          </p:cNvPr>
          <p:cNvSpPr txBox="1"/>
          <p:nvPr/>
        </p:nvSpPr>
        <p:spPr>
          <a:xfrm>
            <a:off x="6912864" y="6496812"/>
            <a:ext cx="777240"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Mechanism</a:t>
            </a:r>
          </a:p>
        </p:txBody>
      </p:sp>
      <p:sp>
        <p:nvSpPr>
          <p:cNvPr id="66" name="Rounded Rectangle 65">
            <a:hlinkClick r:id="rId16" action="ppaction://hlinksldjump"/>
          </p:cNvPr>
          <p:cNvSpPr/>
          <p:nvPr/>
        </p:nvSpPr>
        <p:spPr>
          <a:xfrm>
            <a:off x="785469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a:hlinkClick r:id="rId17" action="ppaction://hlinksldjump"/>
          </p:cNvPr>
          <p:cNvSpPr/>
          <p:nvPr/>
        </p:nvSpPr>
        <p:spPr>
          <a:xfrm>
            <a:off x="792144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a:hlinkClick r:id="rId18" action="ppaction://hlinksldjump"/>
          </p:cNvPr>
          <p:cNvSpPr/>
          <p:nvPr/>
        </p:nvSpPr>
        <p:spPr>
          <a:xfrm>
            <a:off x="798819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a:hlinkClick r:id="rId19" action="ppaction://hlinksldjump"/>
          </p:cNvPr>
          <p:cNvSpPr txBox="1"/>
          <p:nvPr/>
        </p:nvSpPr>
        <p:spPr>
          <a:xfrm>
            <a:off x="8924544" y="6496812"/>
            <a:ext cx="987552"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Responsibility</a:t>
            </a:r>
          </a:p>
        </p:txBody>
      </p:sp>
      <p:sp>
        <p:nvSpPr>
          <p:cNvPr id="71" name="Rounded Rectangle 70">
            <a:hlinkClick r:id="rId20" action="ppaction://hlinksldjump"/>
          </p:cNvPr>
          <p:cNvSpPr/>
          <p:nvPr/>
        </p:nvSpPr>
        <p:spPr>
          <a:xfrm>
            <a:off x="1011600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a:hlinkClick r:id="rId21" action="ppaction://hlinksldjump"/>
          </p:cNvPr>
          <p:cNvSpPr/>
          <p:nvPr/>
        </p:nvSpPr>
        <p:spPr>
          <a:xfrm>
            <a:off x="1018275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a:hlinkClick r:id="rId22" action="ppaction://hlinksldjump"/>
          </p:cNvPr>
          <p:cNvSpPr/>
          <p:nvPr/>
        </p:nvSpPr>
        <p:spPr>
          <a:xfrm>
            <a:off x="10249509"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11119104" y="6492240"/>
            <a:ext cx="429768" cy="210312"/>
          </a:xfrm>
          <a:prstGeom prst="rect">
            <a:avLst/>
          </a:prstGeom>
          <a:noFill/>
        </p:spPr>
        <p:txBody>
          <a:bodyPr wrap="square" lIns="0" tIns="0" rIns="0" bIns="0">
            <a:spAutoFit/>
          </a:bodyPr>
          <a:lstStyle/>
          <a:p>
            <a:pPr algn="r">
              <a:spcAft>
                <a:spcPts val="0"/>
              </a:spcAft>
            </a:pPr>
            <a:r>
              <a:rPr sz="900" b="1" i="0">
                <a:solidFill>
                  <a:srgbClr val="737D84"/>
                </a:solidFill>
                <a:latin typeface="Aptos"/>
              </a:rPr>
              <a:t>01/16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8001" name="Content highlight 1"/>
          <p:cNvSpPr/>
          <p:nvPr/>
        </p:nvSpPr>
        <p:spPr>
          <a:xfrm>
            <a:off x="714375" y="1276350"/>
            <a:ext cx="10715625" cy="4276725"/>
          </a:xfrm>
          <a:prstGeom prst="rect">
            <a:avLst/>
          </a:prstGeom>
          <a:solidFill>
            <a:srgbClr val="EEF5F5"/>
          </a:solidFill>
          <a:ln>
            <a:noFill/>
          </a:ln>
        </p:spPr>
      </p:sp>
      <p:sp>
        <p:nvSpPr>
          <p:cNvPr id="4" name="Text 2"/>
          <p:cNvSpPr/>
          <p:nvPr/>
        </p:nvSpPr>
        <p:spPr>
          <a:xfrm>
            <a:off x="713232" y="667512"/>
            <a:ext cx="10387584" cy="484632"/>
          </a:xfrm>
          <a:prstGeom prst="rect">
            <a:avLst/>
          </a:prstGeom>
          <a:noFill/>
          <a:ln/>
        </p:spPr>
        <p:txBody>
          <a:bodyPr wrap="square" lIns="0" tIns="0" rIns="0" bIns="0" rtlCol="0" anchor="ctr">
            <a:normAutofit/>
          </a:bodyPr>
          <a:lstStyle/>
          <a:p>
            <a:pPr marL="0" indent="0" algn="l">
              <a:buNone/>
            </a:pPr>
            <a:r>
              <a:rPr lang="en-US" sz="2650" b="1" dirty="0">
                <a:solidFill>
                  <a:srgbClr val="1D2C36"/>
                </a:solidFill>
                <a:latin typeface="Inter Display" pitchFamily="34" charset="0"/>
                <a:ea typeface="Inter Display" pitchFamily="34" charset="-122"/>
                <a:cs typeface="Inter Display" pitchFamily="34" charset="-120"/>
              </a:rPr>
              <a:t>Outline</a:t>
            </a:r>
            <a:endParaRPr lang="en-US" sz="2650" dirty="0"/>
          </a:p>
        </p:txBody>
      </p:sp>
      <p:sp>
        <p:nvSpPr>
          <p:cNvPr id="42" name="Text 39"/>
          <p:cNvSpPr/>
          <p:nvPr/>
        </p:nvSpPr>
        <p:spPr>
          <a:xfrm>
            <a:off x="850392" y="1408176"/>
            <a:ext cx="603504" cy="356616"/>
          </a:xfrm>
          <a:prstGeom prst="rect">
            <a:avLst/>
          </a:prstGeom>
          <a:noFill/>
          <a:ln/>
        </p:spPr>
        <p:txBody>
          <a:bodyPr wrap="square" lIns="0" tIns="0" rIns="0" bIns="0" rtlCol="0" anchor="ctr">
            <a:normAutofit/>
          </a:bodyPr>
          <a:lstStyle/>
          <a:p>
            <a:pPr marL="0" indent="0" algn="l">
              <a:buNone/>
            </a:pPr>
            <a:r>
              <a:rPr lang="en-US" sz="1700" b="1" dirty="0">
                <a:solidFill>
                  <a:srgbClr val="0B8999"/>
                </a:solidFill>
                <a:latin typeface="Inter" pitchFamily="34" charset="0"/>
                <a:ea typeface="Inter" pitchFamily="34" charset="-122"/>
                <a:cs typeface="Inter" pitchFamily="34" charset="-120"/>
              </a:rPr>
              <a:t>01</a:t>
            </a:r>
            <a:endParaRPr lang="en-US" sz="1700" dirty="0"/>
          </a:p>
        </p:txBody>
      </p:sp>
      <p:sp>
        <p:nvSpPr>
          <p:cNvPr id="43" name="Text 40">
            <a:hlinkClick r:id="rId5" action="ppaction://hlinksldjump"/>
          </p:cNvPr>
          <p:cNvSpPr/>
          <p:nvPr/>
        </p:nvSpPr>
        <p:spPr>
          <a:xfrm>
            <a:off x="1719072" y="1408176"/>
            <a:ext cx="3858768" cy="329184"/>
          </a:xfrm>
          <a:prstGeom prst="rect">
            <a:avLst/>
          </a:prstGeom>
          <a:noFill/>
          <a:ln/>
        </p:spPr>
        <p:txBody>
          <a:bodyPr wrap="square" lIns="0" tIns="0" rIns="0" bIns="0" rtlCol="0" anchor="ctr">
            <a:normAutofit/>
          </a:bodyPr>
          <a:lstStyle/>
          <a:p>
            <a:pPr marL="0" indent="0" algn="l">
              <a:buNone/>
            </a:pPr>
            <a:r>
              <a:rPr lang="en-US" sz="1940" b="1" u="sng" dirty="0">
                <a:solidFill>
                  <a:srgbClr val="1D2C36"/>
                </a:solidFill>
                <a:latin typeface="Inter" pitchFamily="34" charset="0"/>
                <a:ea typeface="Inter" pitchFamily="34" charset="-122"/>
                <a:cs typeface="Inter" pitchFamily="34" charset="-120"/>
                <a:hlinkClick r:id="rId5" action="ppaction://hlinksldjump">
                  <a:extLst>
                    <a:ext uri="{A12FA001-AC4F-418D-AE19-62706E023703}">
                      <ahyp:hlinkClr xmlns:ahyp="http://schemas.microsoft.com/office/drawing/2018/hyperlinkcolor" val="tx"/>
                    </a:ext>
                  </a:extLst>
                </a:hlinkClick>
              </a:rPr>
              <a:t>Definitions &amp; prior work</a:t>
            </a:r>
            <a:endParaRPr lang="en-US" sz="1940" dirty="0"/>
          </a:p>
        </p:txBody>
      </p:sp>
      <p:sp>
        <p:nvSpPr>
          <p:cNvPr id="44" name="Text 41"/>
          <p:cNvSpPr/>
          <p:nvPr/>
        </p:nvSpPr>
        <p:spPr>
          <a:xfrm>
            <a:off x="5632704" y="1426464"/>
            <a:ext cx="5486400" cy="301752"/>
          </a:xfrm>
          <a:prstGeom prst="rect">
            <a:avLst/>
          </a:prstGeom>
          <a:noFill/>
          <a:ln/>
        </p:spPr>
        <p:txBody>
          <a:bodyPr wrap="square" lIns="0" tIns="0" rIns="0" bIns="0" rtlCol="0" anchor="ctr">
            <a:normAutofit/>
          </a:bodyPr>
          <a:lstStyle/>
          <a:p>
            <a:pPr marL="0" indent="0" algn="l">
              <a:buNone/>
            </a:pPr>
            <a:r>
              <a:rPr lang="en-US" sz="1340" dirty="0">
                <a:solidFill>
                  <a:srgbClr val="5C6C76"/>
                </a:solidFill>
                <a:latin typeface="Inter" pitchFamily="34" charset="0"/>
                <a:ea typeface="Inter" pitchFamily="34" charset="-122"/>
                <a:cs typeface="Inter" pitchFamily="34" charset="-120"/>
              </a:rPr>
              <a:t>Agreement, praise, and measurable answer flips</a:t>
            </a:r>
          </a:p>
        </p:txBody>
      </p:sp>
      <p:sp>
        <p:nvSpPr>
          <p:cNvPr id="45" name="Shape 42"/>
          <p:cNvSpPr/>
          <p:nvPr/>
        </p:nvSpPr>
        <p:spPr>
          <a:xfrm>
            <a:off x="841248" y="1911096"/>
            <a:ext cx="10561320" cy="0"/>
          </a:xfrm>
          <a:prstGeom prst="line">
            <a:avLst/>
          </a:prstGeom>
          <a:noFill/>
          <a:ln w="8255">
            <a:solidFill>
              <a:srgbClr val="DFE6E8"/>
            </a:solidFill>
            <a:prstDash val="solid"/>
          </a:ln>
        </p:spPr>
        <p:txBody>
          <a:bodyPr/>
          <a:lstStyle/>
          <a:p>
            <a:endParaRPr/>
          </a:p>
        </p:txBody>
      </p:sp>
      <p:sp>
        <p:nvSpPr>
          <p:cNvPr id="46" name="Text 43"/>
          <p:cNvSpPr/>
          <p:nvPr/>
        </p:nvSpPr>
        <p:spPr>
          <a:xfrm>
            <a:off x="850392" y="2130552"/>
            <a:ext cx="603504" cy="356616"/>
          </a:xfrm>
          <a:prstGeom prst="rect">
            <a:avLst/>
          </a:prstGeom>
          <a:noFill/>
          <a:ln/>
        </p:spPr>
        <p:txBody>
          <a:bodyPr wrap="square" lIns="0" tIns="0" rIns="0" bIns="0" rtlCol="0" anchor="ctr">
            <a:normAutofit/>
          </a:bodyPr>
          <a:lstStyle/>
          <a:p>
            <a:pPr marL="0" indent="0" algn="l">
              <a:buNone/>
            </a:pPr>
            <a:r>
              <a:rPr lang="en-US" sz="1700" b="1" dirty="0">
                <a:solidFill>
                  <a:srgbClr val="0B8999"/>
                </a:solidFill>
                <a:latin typeface="Inter" pitchFamily="34" charset="0"/>
                <a:ea typeface="Inter" pitchFamily="34" charset="-122"/>
                <a:cs typeface="Inter" pitchFamily="34" charset="-120"/>
              </a:rPr>
              <a:t>02</a:t>
            </a:r>
            <a:endParaRPr lang="en-US" sz="1700" dirty="0"/>
          </a:p>
        </p:txBody>
      </p:sp>
      <p:sp>
        <p:nvSpPr>
          <p:cNvPr id="47" name="Text 44">
            <a:hlinkClick r:id="rId6" action="ppaction://hlinksldjump"/>
          </p:cNvPr>
          <p:cNvSpPr/>
          <p:nvPr/>
        </p:nvSpPr>
        <p:spPr>
          <a:xfrm>
            <a:off x="1719072" y="2130552"/>
            <a:ext cx="3858768" cy="329184"/>
          </a:xfrm>
          <a:prstGeom prst="rect">
            <a:avLst/>
          </a:prstGeom>
          <a:noFill/>
          <a:ln/>
        </p:spPr>
        <p:txBody>
          <a:bodyPr wrap="square" lIns="0" tIns="0" rIns="0" bIns="0" rtlCol="0" anchor="ctr">
            <a:normAutofit/>
          </a:bodyPr>
          <a:lstStyle/>
          <a:p>
            <a:pPr marL="0" indent="0" algn="l">
              <a:buNone/>
            </a:pPr>
            <a:r>
              <a:rPr lang="en-US" sz="1940" b="1" u="sng" dirty="0">
                <a:solidFill>
                  <a:srgbClr val="1D2C36"/>
                </a:solidFill>
                <a:latin typeface="Inter" pitchFamily="34" charset="0"/>
                <a:ea typeface="Inter" pitchFamily="34" charset="-122"/>
                <a:cs typeface="Inter" pitchFamily="34" charset="-120"/>
                <a:hlinkClick r:id="rId6" action="ppaction://hlinksldjump">
                  <a:extLst>
                    <a:ext uri="{A12FA001-AC4F-418D-AE19-62706E023703}">
                      <ahyp:hlinkClr xmlns:ahyp="http://schemas.microsoft.com/office/drawing/2018/hyperlinkcolor" val="tx"/>
                    </a:ext>
                  </a:extLst>
                </a:hlinkClick>
              </a:rPr>
              <a:t>Authority pressure</a:t>
            </a:r>
            <a:endParaRPr lang="en-US" sz="1940" dirty="0"/>
          </a:p>
        </p:txBody>
      </p:sp>
      <p:sp>
        <p:nvSpPr>
          <p:cNvPr id="48" name="Text 45"/>
          <p:cNvSpPr/>
          <p:nvPr/>
        </p:nvSpPr>
        <p:spPr>
          <a:xfrm>
            <a:off x="5632704" y="2148840"/>
            <a:ext cx="5486400" cy="301752"/>
          </a:xfrm>
          <a:prstGeom prst="rect">
            <a:avLst/>
          </a:prstGeom>
          <a:noFill/>
          <a:ln/>
        </p:spPr>
        <p:txBody>
          <a:bodyPr wrap="square" lIns="0" tIns="0" rIns="0" bIns="0" rtlCol="0" anchor="ctr">
            <a:normAutofit/>
          </a:bodyPr>
          <a:lstStyle/>
          <a:p>
            <a:pPr marL="0" indent="0" algn="l">
              <a:buNone/>
            </a:pPr>
            <a:r>
              <a:rPr lang="en-US" sz="1340" dirty="0">
                <a:solidFill>
                  <a:srgbClr val="5C6C76"/>
                </a:solidFill>
                <a:latin typeface="Inter" pitchFamily="34" charset="0"/>
                <a:ea typeface="Inter" pitchFamily="34" charset="-122"/>
                <a:cs typeface="Inter" pitchFamily="34" charset="-120"/>
              </a:rPr>
              <a:t>Why credentials and confidence matter</a:t>
            </a:r>
            <a:endParaRPr lang="en-US" sz="1340" dirty="0"/>
          </a:p>
        </p:txBody>
      </p:sp>
      <p:sp>
        <p:nvSpPr>
          <p:cNvPr id="49" name="Shape 46"/>
          <p:cNvSpPr/>
          <p:nvPr/>
        </p:nvSpPr>
        <p:spPr>
          <a:xfrm>
            <a:off x="841248" y="2633472"/>
            <a:ext cx="10561320" cy="0"/>
          </a:xfrm>
          <a:prstGeom prst="line">
            <a:avLst/>
          </a:prstGeom>
          <a:noFill/>
          <a:ln w="8255">
            <a:solidFill>
              <a:srgbClr val="DFE6E8"/>
            </a:solidFill>
            <a:prstDash val="solid"/>
          </a:ln>
        </p:spPr>
        <p:txBody>
          <a:bodyPr/>
          <a:lstStyle/>
          <a:p>
            <a:endParaRPr/>
          </a:p>
        </p:txBody>
      </p:sp>
      <p:sp>
        <p:nvSpPr>
          <p:cNvPr id="50" name="Text 47"/>
          <p:cNvSpPr/>
          <p:nvPr/>
        </p:nvSpPr>
        <p:spPr>
          <a:xfrm>
            <a:off x="850392" y="2852928"/>
            <a:ext cx="603504" cy="356616"/>
          </a:xfrm>
          <a:prstGeom prst="rect">
            <a:avLst/>
          </a:prstGeom>
          <a:noFill/>
          <a:ln/>
        </p:spPr>
        <p:txBody>
          <a:bodyPr wrap="square" lIns="0" tIns="0" rIns="0" bIns="0" rtlCol="0" anchor="ctr">
            <a:normAutofit/>
          </a:bodyPr>
          <a:lstStyle/>
          <a:p>
            <a:pPr marL="0" indent="0" algn="l">
              <a:buNone/>
            </a:pPr>
            <a:r>
              <a:rPr lang="en-US" sz="1700" b="1" dirty="0">
                <a:solidFill>
                  <a:srgbClr val="0B8999"/>
                </a:solidFill>
                <a:latin typeface="Inter" pitchFamily="34" charset="0"/>
                <a:ea typeface="Inter" pitchFamily="34" charset="-122"/>
                <a:cs typeface="Inter" pitchFamily="34" charset="-120"/>
              </a:rPr>
              <a:t>03</a:t>
            </a:r>
            <a:endParaRPr lang="en-US" sz="1700" dirty="0"/>
          </a:p>
        </p:txBody>
      </p:sp>
      <p:sp>
        <p:nvSpPr>
          <p:cNvPr id="51" name="Text 48">
            <a:hlinkClick r:id="rId7" action="ppaction://hlinksldjump"/>
          </p:cNvPr>
          <p:cNvSpPr/>
          <p:nvPr/>
        </p:nvSpPr>
        <p:spPr>
          <a:xfrm>
            <a:off x="1719072" y="2852928"/>
            <a:ext cx="3858768" cy="329184"/>
          </a:xfrm>
          <a:prstGeom prst="rect">
            <a:avLst/>
          </a:prstGeom>
          <a:noFill/>
          <a:ln/>
        </p:spPr>
        <p:txBody>
          <a:bodyPr wrap="square" lIns="0" tIns="0" rIns="0" bIns="0" rtlCol="0" anchor="ctr">
            <a:normAutofit/>
          </a:bodyPr>
          <a:lstStyle/>
          <a:p>
            <a:pPr marL="0" indent="0" algn="l">
              <a:buNone/>
            </a:pPr>
            <a:r>
              <a:rPr lang="en-US" sz="1940" b="1" u="sng" dirty="0">
                <a:solidFill>
                  <a:srgbClr val="1D2C36"/>
                </a:solidFill>
                <a:latin typeface="Inter" pitchFamily="34" charset="0"/>
                <a:ea typeface="Inter" pitchFamily="34" charset="-122"/>
                <a:cs typeface="Inter" pitchFamily="34" charset="-120"/>
                <a:hlinkClick r:id="rId7" action="ppaction://hlinksldjump">
                  <a:extLst>
                    <a:ext uri="{A12FA001-AC4F-418D-AE19-62706E023703}">
                      <ahyp:hlinkClr xmlns:ahyp="http://schemas.microsoft.com/office/drawing/2018/hyperlinkcolor" val="tx"/>
                    </a:ext>
                  </a:extLst>
                </a:hlinkClick>
              </a:rPr>
              <a:t>The benchmark</a:t>
            </a:r>
            <a:endParaRPr lang="en-US" sz="1940" dirty="0"/>
          </a:p>
        </p:txBody>
      </p:sp>
      <p:sp>
        <p:nvSpPr>
          <p:cNvPr id="52" name="Text 49"/>
          <p:cNvSpPr/>
          <p:nvPr/>
        </p:nvSpPr>
        <p:spPr>
          <a:xfrm>
            <a:off x="5632704" y="2871216"/>
            <a:ext cx="5486400" cy="301752"/>
          </a:xfrm>
          <a:prstGeom prst="rect">
            <a:avLst/>
          </a:prstGeom>
          <a:noFill/>
          <a:ln/>
        </p:spPr>
        <p:txBody>
          <a:bodyPr wrap="square" lIns="0" tIns="0" rIns="0" bIns="0" rtlCol="0" anchor="ctr">
            <a:normAutofit/>
          </a:bodyPr>
          <a:lstStyle/>
          <a:p>
            <a:pPr marL="0" indent="0" algn="l">
              <a:buNone/>
            </a:pPr>
            <a:r>
              <a:rPr lang="en-US" sz="1340" dirty="0">
                <a:solidFill>
                  <a:srgbClr val="5C6C76"/>
                </a:solidFill>
                <a:latin typeface="Inter" pitchFamily="34" charset="0"/>
                <a:ea typeface="Inter" pitchFamily="34" charset="-122"/>
                <a:cs typeface="Inter" pitchFamily="34" charset="-120"/>
              </a:rPr>
              <a:t>A four-turn test of answer stability</a:t>
            </a:r>
            <a:endParaRPr lang="en-US" sz="1340" dirty="0"/>
          </a:p>
        </p:txBody>
      </p:sp>
      <p:sp>
        <p:nvSpPr>
          <p:cNvPr id="53" name="Shape 50"/>
          <p:cNvSpPr/>
          <p:nvPr/>
        </p:nvSpPr>
        <p:spPr>
          <a:xfrm>
            <a:off x="841248" y="3355848"/>
            <a:ext cx="10561320" cy="0"/>
          </a:xfrm>
          <a:prstGeom prst="line">
            <a:avLst/>
          </a:prstGeom>
          <a:noFill/>
          <a:ln w="8255">
            <a:solidFill>
              <a:srgbClr val="DFE6E8"/>
            </a:solidFill>
            <a:prstDash val="solid"/>
          </a:ln>
        </p:spPr>
        <p:txBody>
          <a:bodyPr/>
          <a:lstStyle/>
          <a:p>
            <a:endParaRPr/>
          </a:p>
        </p:txBody>
      </p:sp>
      <p:sp>
        <p:nvSpPr>
          <p:cNvPr id="54" name="Text 51"/>
          <p:cNvSpPr/>
          <p:nvPr/>
        </p:nvSpPr>
        <p:spPr>
          <a:xfrm>
            <a:off x="850392" y="3575304"/>
            <a:ext cx="603504" cy="356616"/>
          </a:xfrm>
          <a:prstGeom prst="rect">
            <a:avLst/>
          </a:prstGeom>
          <a:noFill/>
          <a:ln/>
        </p:spPr>
        <p:txBody>
          <a:bodyPr wrap="square" lIns="0" tIns="0" rIns="0" bIns="0" rtlCol="0" anchor="ctr">
            <a:normAutofit/>
          </a:bodyPr>
          <a:lstStyle/>
          <a:p>
            <a:pPr marL="0" indent="0" algn="l">
              <a:buNone/>
            </a:pPr>
            <a:r>
              <a:rPr lang="en-US" sz="1700" b="1" dirty="0">
                <a:solidFill>
                  <a:srgbClr val="0B8999"/>
                </a:solidFill>
                <a:latin typeface="Inter" pitchFamily="34" charset="0"/>
                <a:ea typeface="Inter" pitchFamily="34" charset="-122"/>
                <a:cs typeface="Inter" pitchFamily="34" charset="-120"/>
              </a:rPr>
              <a:t>04</a:t>
            </a:r>
            <a:endParaRPr lang="en-US" sz="1700" dirty="0"/>
          </a:p>
        </p:txBody>
      </p:sp>
      <p:sp>
        <p:nvSpPr>
          <p:cNvPr id="55" name="Text 52">
            <a:hlinkClick r:id="rId8" action="ppaction://hlinksldjump"/>
          </p:cNvPr>
          <p:cNvSpPr/>
          <p:nvPr/>
        </p:nvSpPr>
        <p:spPr>
          <a:xfrm>
            <a:off x="1719072" y="3575304"/>
            <a:ext cx="3858768" cy="329184"/>
          </a:xfrm>
          <a:prstGeom prst="rect">
            <a:avLst/>
          </a:prstGeom>
          <a:noFill/>
          <a:ln/>
        </p:spPr>
        <p:txBody>
          <a:bodyPr wrap="square" lIns="0" tIns="0" rIns="0" bIns="0" rtlCol="0" anchor="ctr">
            <a:normAutofit/>
          </a:bodyPr>
          <a:lstStyle/>
          <a:p>
            <a:pPr marL="0" indent="0" algn="l">
              <a:buNone/>
            </a:pPr>
            <a:r>
              <a:rPr lang="en-US" sz="1940" b="1" u="sng" dirty="0">
                <a:solidFill>
                  <a:srgbClr val="1D2C36"/>
                </a:solidFill>
                <a:latin typeface="Inter" pitchFamily="34" charset="0"/>
                <a:ea typeface="Inter" pitchFamily="34" charset="-122"/>
                <a:cs typeface="Inter" pitchFamily="34" charset="-120"/>
                <a:hlinkClick r:id="rId8" action="ppaction://hlinksldjump">
                  <a:extLst>
                    <a:ext uri="{A12FA001-AC4F-418D-AE19-62706E023703}">
                      <ahyp:hlinkClr xmlns:ahyp="http://schemas.microsoft.com/office/drawing/2018/hyperlinkcolor" val="tx"/>
                    </a:ext>
                  </a:extLst>
                </a:hlinkClick>
              </a:rPr>
              <a:t>What we found</a:t>
            </a:r>
            <a:endParaRPr lang="en-US" sz="1940" dirty="0"/>
          </a:p>
        </p:txBody>
      </p:sp>
      <p:sp>
        <p:nvSpPr>
          <p:cNvPr id="56" name="Text 53"/>
          <p:cNvSpPr/>
          <p:nvPr/>
        </p:nvSpPr>
        <p:spPr>
          <a:xfrm>
            <a:off x="5632704" y="3593592"/>
            <a:ext cx="5486400" cy="301752"/>
          </a:xfrm>
          <a:prstGeom prst="rect">
            <a:avLst/>
          </a:prstGeom>
          <a:noFill/>
          <a:ln/>
        </p:spPr>
        <p:txBody>
          <a:bodyPr wrap="square" lIns="0" tIns="0" rIns="0" bIns="0" rtlCol="0" anchor="ctr">
            <a:normAutofit/>
          </a:bodyPr>
          <a:lstStyle/>
          <a:p>
            <a:pPr marL="0" indent="0" algn="l">
              <a:buNone/>
            </a:pPr>
            <a:r>
              <a:rPr lang="en-US" sz="1340" dirty="0">
                <a:solidFill>
                  <a:srgbClr val="5C6C76"/>
                </a:solidFill>
                <a:latin typeface="Inter" pitchFamily="34" charset="0"/>
                <a:ea typeface="Inter" pitchFamily="34" charset="-122"/>
                <a:cs typeface="Inter" pitchFamily="34" charset="-120"/>
              </a:rPr>
              <a:t>The blind-deference result</a:t>
            </a:r>
            <a:endParaRPr lang="en-US" sz="1340" dirty="0"/>
          </a:p>
        </p:txBody>
      </p:sp>
      <p:sp>
        <p:nvSpPr>
          <p:cNvPr id="57" name="Shape 54"/>
          <p:cNvSpPr/>
          <p:nvPr/>
        </p:nvSpPr>
        <p:spPr>
          <a:xfrm>
            <a:off x="841248" y="4078224"/>
            <a:ext cx="10561320" cy="0"/>
          </a:xfrm>
          <a:prstGeom prst="line">
            <a:avLst/>
          </a:prstGeom>
          <a:noFill/>
          <a:ln w="8255">
            <a:solidFill>
              <a:srgbClr val="DFE6E8"/>
            </a:solidFill>
            <a:prstDash val="solid"/>
          </a:ln>
        </p:spPr>
        <p:txBody>
          <a:bodyPr/>
          <a:lstStyle/>
          <a:p>
            <a:endParaRPr/>
          </a:p>
        </p:txBody>
      </p:sp>
      <p:sp>
        <p:nvSpPr>
          <p:cNvPr id="58" name="Text 55"/>
          <p:cNvSpPr/>
          <p:nvPr/>
        </p:nvSpPr>
        <p:spPr>
          <a:xfrm>
            <a:off x="850392" y="4297680"/>
            <a:ext cx="603504" cy="356616"/>
          </a:xfrm>
          <a:prstGeom prst="rect">
            <a:avLst/>
          </a:prstGeom>
          <a:noFill/>
          <a:ln/>
        </p:spPr>
        <p:txBody>
          <a:bodyPr wrap="square" lIns="0" tIns="0" rIns="0" bIns="0" rtlCol="0" anchor="ctr">
            <a:normAutofit/>
          </a:bodyPr>
          <a:lstStyle/>
          <a:p>
            <a:pPr marL="0" indent="0" algn="l">
              <a:buNone/>
            </a:pPr>
            <a:r>
              <a:rPr lang="en-US" sz="1700" b="1" dirty="0">
                <a:solidFill>
                  <a:srgbClr val="0B8999"/>
                </a:solidFill>
                <a:latin typeface="Inter" pitchFamily="34" charset="0"/>
                <a:ea typeface="Inter" pitchFamily="34" charset="-122"/>
                <a:cs typeface="Inter" pitchFamily="34" charset="-120"/>
              </a:rPr>
              <a:t>05</a:t>
            </a:r>
            <a:endParaRPr lang="en-US" sz="1700" dirty="0"/>
          </a:p>
        </p:txBody>
      </p:sp>
      <p:sp>
        <p:nvSpPr>
          <p:cNvPr id="59" name="Text 56">
            <a:hlinkClick r:id="rId9" action="ppaction://hlinksldjump"/>
          </p:cNvPr>
          <p:cNvSpPr/>
          <p:nvPr/>
        </p:nvSpPr>
        <p:spPr>
          <a:xfrm>
            <a:off x="1719072" y="4297680"/>
            <a:ext cx="3858768" cy="329184"/>
          </a:xfrm>
          <a:prstGeom prst="rect">
            <a:avLst/>
          </a:prstGeom>
          <a:noFill/>
          <a:ln/>
        </p:spPr>
        <p:txBody>
          <a:bodyPr wrap="square" lIns="0" tIns="0" rIns="0" bIns="0" rtlCol="0" anchor="ctr">
            <a:normAutofit/>
          </a:bodyPr>
          <a:lstStyle/>
          <a:p>
            <a:pPr marL="0" indent="0" algn="l">
              <a:buNone/>
            </a:pPr>
            <a:r>
              <a:rPr lang="en-US" sz="1940" b="1" u="sng" dirty="0">
                <a:solidFill>
                  <a:srgbClr val="1D2C36"/>
                </a:solidFill>
                <a:latin typeface="Inter" pitchFamily="34" charset="0"/>
                <a:ea typeface="Inter" pitchFamily="34" charset="-122"/>
                <a:cs typeface="Inter" pitchFamily="34" charset="-120"/>
                <a:hlinkClick r:id="rId9" action="ppaction://hlinksldjump">
                  <a:extLst>
                    <a:ext uri="{A12FA001-AC4F-418D-AE19-62706E023703}">
                      <ahyp:hlinkClr xmlns:ahyp="http://schemas.microsoft.com/office/drawing/2018/hyperlinkcolor" val="tx"/>
                    </a:ext>
                  </a:extLst>
                </a:hlinkClick>
              </a:rPr>
              <a:t>Inside the model</a:t>
            </a:r>
            <a:endParaRPr lang="en-US" sz="1940" dirty="0"/>
          </a:p>
        </p:txBody>
      </p:sp>
      <p:sp>
        <p:nvSpPr>
          <p:cNvPr id="60" name="Text 57"/>
          <p:cNvSpPr/>
          <p:nvPr/>
        </p:nvSpPr>
        <p:spPr>
          <a:xfrm>
            <a:off x="5632704" y="4315968"/>
            <a:ext cx="5486400" cy="301752"/>
          </a:xfrm>
          <a:prstGeom prst="rect">
            <a:avLst/>
          </a:prstGeom>
          <a:noFill/>
          <a:ln/>
        </p:spPr>
        <p:txBody>
          <a:bodyPr wrap="square" lIns="0" tIns="0" rIns="0" bIns="0" rtlCol="0" anchor="ctr">
            <a:normAutofit/>
          </a:bodyPr>
          <a:lstStyle/>
          <a:p>
            <a:pPr marL="0" indent="0" algn="l">
              <a:buNone/>
            </a:pPr>
            <a:r>
              <a:rPr lang="en-US" sz="1340" dirty="0">
                <a:solidFill>
                  <a:srgbClr val="5C6C76"/>
                </a:solidFill>
                <a:latin typeface="Inter" pitchFamily="34" charset="0"/>
                <a:ea typeface="Inter" pitchFamily="34" charset="-122"/>
                <a:cs typeface="Inter" pitchFamily="34" charset="-120"/>
              </a:rPr>
              <a:t>What representation probes reveal</a:t>
            </a:r>
            <a:endParaRPr lang="en-US" sz="1340" dirty="0"/>
          </a:p>
        </p:txBody>
      </p:sp>
      <p:sp>
        <p:nvSpPr>
          <p:cNvPr id="61" name="Shape 58"/>
          <p:cNvSpPr/>
          <p:nvPr/>
        </p:nvSpPr>
        <p:spPr>
          <a:xfrm>
            <a:off x="841248" y="4800600"/>
            <a:ext cx="10561320" cy="0"/>
          </a:xfrm>
          <a:prstGeom prst="line">
            <a:avLst/>
          </a:prstGeom>
          <a:noFill/>
          <a:ln w="8255">
            <a:solidFill>
              <a:srgbClr val="DFE6E8"/>
            </a:solidFill>
            <a:prstDash val="solid"/>
          </a:ln>
        </p:spPr>
        <p:txBody>
          <a:bodyPr/>
          <a:lstStyle/>
          <a:p>
            <a:endParaRPr/>
          </a:p>
        </p:txBody>
      </p:sp>
      <p:sp>
        <p:nvSpPr>
          <p:cNvPr id="62" name="Text 59"/>
          <p:cNvSpPr/>
          <p:nvPr/>
        </p:nvSpPr>
        <p:spPr>
          <a:xfrm>
            <a:off x="850392" y="5020056"/>
            <a:ext cx="603504" cy="356616"/>
          </a:xfrm>
          <a:prstGeom prst="rect">
            <a:avLst/>
          </a:prstGeom>
          <a:noFill/>
          <a:ln/>
        </p:spPr>
        <p:txBody>
          <a:bodyPr wrap="square" lIns="0" tIns="0" rIns="0" bIns="0" rtlCol="0" anchor="ctr">
            <a:normAutofit/>
          </a:bodyPr>
          <a:lstStyle/>
          <a:p>
            <a:pPr marL="0" indent="0" algn="l">
              <a:buNone/>
            </a:pPr>
            <a:r>
              <a:rPr lang="en-US" sz="1700" b="1" dirty="0">
                <a:solidFill>
                  <a:srgbClr val="0B8999"/>
                </a:solidFill>
                <a:latin typeface="Inter" pitchFamily="34" charset="0"/>
                <a:ea typeface="Inter" pitchFamily="34" charset="-122"/>
                <a:cs typeface="Inter" pitchFamily="34" charset="-120"/>
              </a:rPr>
              <a:t>06</a:t>
            </a:r>
            <a:endParaRPr lang="en-US" sz="1700" dirty="0"/>
          </a:p>
        </p:txBody>
      </p:sp>
      <p:sp>
        <p:nvSpPr>
          <p:cNvPr id="63" name="Text 60">
            <a:hlinkClick r:id="rId10" action="ppaction://hlinksldjump"/>
          </p:cNvPr>
          <p:cNvSpPr/>
          <p:nvPr/>
        </p:nvSpPr>
        <p:spPr>
          <a:xfrm>
            <a:off x="1719072" y="5020056"/>
            <a:ext cx="3858768" cy="329184"/>
          </a:xfrm>
          <a:prstGeom prst="rect">
            <a:avLst/>
          </a:prstGeom>
          <a:noFill/>
          <a:ln/>
        </p:spPr>
        <p:txBody>
          <a:bodyPr wrap="square" lIns="0" tIns="0" rIns="0" bIns="0" rtlCol="0" anchor="ctr">
            <a:normAutofit/>
          </a:bodyPr>
          <a:lstStyle/>
          <a:p>
            <a:pPr marL="0" indent="0" algn="l">
              <a:buNone/>
            </a:pPr>
            <a:r>
              <a:rPr lang="en-US" sz="1940" b="1" u="sng" dirty="0">
                <a:solidFill>
                  <a:srgbClr val="1D2C36"/>
                </a:solidFill>
                <a:latin typeface="Inter" pitchFamily="34" charset="0"/>
                <a:ea typeface="Inter" pitchFamily="34" charset="-122"/>
                <a:cs typeface="Inter" pitchFamily="34" charset="-120"/>
                <a:hlinkClick r:id="rId10" action="ppaction://hlinksldjump">
                  <a:extLst>
                    <a:ext uri="{A12FA001-AC4F-418D-AE19-62706E023703}">
                      <ahyp:hlinkClr xmlns:ahyp="http://schemas.microsoft.com/office/drawing/2018/hyperlinkcolor" val="tx"/>
                    </a:ext>
                  </a:extLst>
                </a:hlinkClick>
              </a:rPr>
              <a:t>Responsibility</a:t>
            </a:r>
            <a:endParaRPr lang="en-US" sz="1940" dirty="0"/>
          </a:p>
        </p:txBody>
      </p:sp>
      <p:sp>
        <p:nvSpPr>
          <p:cNvPr id="64" name="Text 61"/>
          <p:cNvSpPr/>
          <p:nvPr/>
        </p:nvSpPr>
        <p:spPr>
          <a:xfrm>
            <a:off x="5632704" y="5038344"/>
            <a:ext cx="5486400" cy="301752"/>
          </a:xfrm>
          <a:prstGeom prst="rect">
            <a:avLst/>
          </a:prstGeom>
          <a:noFill/>
          <a:ln/>
        </p:spPr>
        <p:txBody>
          <a:bodyPr wrap="square" lIns="0" tIns="0" rIns="0" bIns="0" rtlCol="0" anchor="ctr">
            <a:normAutofit/>
          </a:bodyPr>
          <a:lstStyle/>
          <a:p>
            <a:pPr marL="0" indent="0" algn="l">
              <a:buNone/>
            </a:pPr>
            <a:r>
              <a:rPr lang="en-US" sz="1340" dirty="0">
                <a:solidFill>
                  <a:srgbClr val="5C6C76"/>
                </a:solidFill>
                <a:latin typeface="Inter" pitchFamily="34" charset="0"/>
                <a:ea typeface="Inter" pitchFamily="34" charset="-122"/>
                <a:cs typeface="Inter" pitchFamily="34" charset="-120"/>
              </a:rPr>
              <a:t>Evaluation &amp; future improvements</a:t>
            </a:r>
            <a:endParaRPr lang="en-US" sz="1340" dirty="0"/>
          </a:p>
        </p:txBody>
      </p:sp>
      <p:sp>
        <p:nvSpPr>
          <p:cNvPr id="65" name="Shape 62"/>
          <p:cNvSpPr/>
          <p:nvPr/>
        </p:nvSpPr>
        <p:spPr>
          <a:xfrm>
            <a:off x="841248" y="5522976"/>
            <a:ext cx="10561320" cy="0"/>
          </a:xfrm>
          <a:prstGeom prst="line">
            <a:avLst/>
          </a:prstGeom>
          <a:noFill/>
          <a:ln w="8255">
            <a:solidFill>
              <a:srgbClr val="DFE6E8"/>
            </a:solidFill>
            <a:prstDash val="solid"/>
          </a:ln>
        </p:spPr>
        <p:txBody>
          <a:bodyPr/>
          <a:lstStyle/>
          <a:p>
            <a:endParaRPr/>
          </a:p>
        </p:txBody>
      </p:sp>
      <p:sp>
        <p:nvSpPr>
          <p:cNvPr id="66" name="Text 63"/>
          <p:cNvSpPr/>
          <p:nvPr/>
        </p:nvSpPr>
        <p:spPr>
          <a:xfrm>
            <a:off x="694944" y="5897880"/>
            <a:ext cx="10927080" cy="182880"/>
          </a:xfrm>
          <a:prstGeom prst="rect">
            <a:avLst/>
          </a:prstGeom>
          <a:noFill/>
          <a:ln/>
        </p:spPr>
        <p:txBody>
          <a:bodyPr wrap="square" lIns="0" tIns="0" rIns="0" bIns="0" rtlCol="0" anchor="ctr">
            <a:normAutofit/>
          </a:bodyPr>
          <a:lstStyle/>
          <a:p>
            <a:pPr marL="0" indent="0" algn="l">
              <a:buNone/>
            </a:pPr>
            <a:r>
              <a:rPr lang="en-US" sz="900" dirty="0">
                <a:solidFill>
                  <a:srgbClr val="7F8C93"/>
                </a:solidFill>
                <a:latin typeface="Inter" pitchFamily="34" charset="0"/>
                <a:ea typeface="Inter" pitchFamily="34" charset="-122"/>
                <a:cs typeface="Inter" pitchFamily="34" charset="-120"/>
              </a:rPr>
              <a:t>Follow the section dots below—or jump from any item.</a:t>
            </a:r>
            <a:endParaRPr lang="en-US" sz="900" dirty="0"/>
          </a:p>
        </p:txBody>
      </p:sp>
      <p:sp>
        <p:nvSpPr>
          <p:cNvPr id="67" name="Rectangle 66"/>
          <p:cNvSpPr/>
          <p:nvPr/>
        </p:nvSpPr>
        <p:spPr>
          <a:xfrm>
            <a:off x="649224" y="6391656"/>
            <a:ext cx="10936224" cy="8229"/>
          </a:xfrm>
          <a:prstGeom prst="rect">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a:hlinkClick r:id="rId11" action="ppaction://hlinksldjump"/>
          </p:cNvPr>
          <p:cNvSpPr txBox="1"/>
          <p:nvPr/>
        </p:nvSpPr>
        <p:spPr>
          <a:xfrm>
            <a:off x="667512" y="6496812"/>
            <a:ext cx="557784" cy="219456"/>
          </a:xfrm>
          <a:prstGeom prst="rect">
            <a:avLst/>
          </a:prstGeom>
          <a:noFill/>
        </p:spPr>
        <p:txBody>
          <a:bodyPr wrap="square" lIns="0" tIns="0" rIns="0" bIns="0">
            <a:spAutoFit/>
          </a:bodyPr>
          <a:lstStyle/>
          <a:p>
            <a:pPr algn="l">
              <a:spcAft>
                <a:spcPts val="0"/>
              </a:spcAft>
            </a:pPr>
            <a:r>
              <a:rPr sz="890" b="1" i="0">
                <a:solidFill>
                  <a:srgbClr val="0C6A6C"/>
                </a:solidFill>
                <a:latin typeface="Aptos"/>
              </a:rPr>
              <a:t>Context</a:t>
            </a:r>
          </a:p>
        </p:txBody>
      </p:sp>
      <p:sp>
        <p:nvSpPr>
          <p:cNvPr id="69" name="Rounded Rectangle 68">
            <a:hlinkClick r:id="rId11" action="ppaction://hlinksldjump"/>
          </p:cNvPr>
          <p:cNvSpPr/>
          <p:nvPr/>
        </p:nvSpPr>
        <p:spPr>
          <a:xfrm>
            <a:off x="1353312"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69">
            <a:hlinkClick r:id="rId12" action="ppaction://hlinksldjump"/>
          </p:cNvPr>
          <p:cNvSpPr/>
          <p:nvPr/>
        </p:nvSpPr>
        <p:spPr>
          <a:xfrm>
            <a:off x="1420063" y="6558076"/>
            <a:ext cx="55778" cy="55778"/>
          </a:xfrm>
          <a:prstGeom prst="roundRect">
            <a:avLst>
              <a:gd name="adj" fmla="val 4500"/>
            </a:avLst>
          </a:prstGeom>
          <a:solidFill>
            <a:srgbClr val="0C6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0">
            <a:hlinkClick r:id="rId5" action="ppaction://hlinksldjump"/>
          </p:cNvPr>
          <p:cNvSpPr/>
          <p:nvPr/>
        </p:nvSpPr>
        <p:spPr>
          <a:xfrm>
            <a:off x="1486814"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a:hlinkClick r:id="rId13" action="ppaction://hlinksldjump"/>
          </p:cNvPr>
          <p:cNvSpPr/>
          <p:nvPr/>
        </p:nvSpPr>
        <p:spPr>
          <a:xfrm>
            <a:off x="1553565"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a:hlinkClick r:id="rId14" action="ppaction://hlinksldjump"/>
          </p:cNvPr>
          <p:cNvSpPr/>
          <p:nvPr/>
        </p:nvSpPr>
        <p:spPr>
          <a:xfrm>
            <a:off x="162031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a:hlinkClick r:id="rId6" action="ppaction://hlinksldjump"/>
          </p:cNvPr>
          <p:cNvSpPr txBox="1"/>
          <p:nvPr/>
        </p:nvSpPr>
        <p:spPr>
          <a:xfrm>
            <a:off x="2523744" y="6496812"/>
            <a:ext cx="69494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Authority</a:t>
            </a:r>
          </a:p>
        </p:txBody>
      </p:sp>
      <p:sp>
        <p:nvSpPr>
          <p:cNvPr id="76" name="Rounded Rectangle 75">
            <a:hlinkClick r:id="rId15" action="ppaction://hlinksldjump"/>
          </p:cNvPr>
          <p:cNvSpPr/>
          <p:nvPr/>
        </p:nvSpPr>
        <p:spPr>
          <a:xfrm>
            <a:off x="338602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hlinkClick r:id="rId7" action="ppaction://hlinksldjump"/>
          </p:cNvPr>
          <p:cNvSpPr txBox="1"/>
          <p:nvPr/>
        </p:nvSpPr>
        <p:spPr>
          <a:xfrm>
            <a:off x="4142231" y="6496812"/>
            <a:ext cx="31089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Test</a:t>
            </a:r>
          </a:p>
        </p:txBody>
      </p:sp>
      <p:sp>
        <p:nvSpPr>
          <p:cNvPr id="78" name="Rounded Rectangle 77">
            <a:hlinkClick r:id="rId7" action="ppaction://hlinksldjump"/>
          </p:cNvPr>
          <p:cNvSpPr/>
          <p:nvPr/>
        </p:nvSpPr>
        <p:spPr>
          <a:xfrm>
            <a:off x="454456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hlinkClick r:id="rId8" action="ppaction://hlinksldjump"/>
          </p:cNvPr>
          <p:cNvSpPr txBox="1"/>
          <p:nvPr/>
        </p:nvSpPr>
        <p:spPr>
          <a:xfrm>
            <a:off x="5276088" y="6496812"/>
            <a:ext cx="49377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Results</a:t>
            </a:r>
          </a:p>
        </p:txBody>
      </p:sp>
      <p:sp>
        <p:nvSpPr>
          <p:cNvPr id="80" name="Rounded Rectangle 79">
            <a:hlinkClick r:id="rId8" action="ppaction://hlinksldjump"/>
          </p:cNvPr>
          <p:cNvSpPr/>
          <p:nvPr/>
        </p:nvSpPr>
        <p:spPr>
          <a:xfrm>
            <a:off x="588873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a:hlinkClick r:id="rId16" action="ppaction://hlinksldjump"/>
          </p:cNvPr>
          <p:cNvSpPr/>
          <p:nvPr/>
        </p:nvSpPr>
        <p:spPr>
          <a:xfrm>
            <a:off x="595548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ounded Rectangle 81">
            <a:hlinkClick r:id="rId17" action="ppaction://hlinksldjump"/>
          </p:cNvPr>
          <p:cNvSpPr/>
          <p:nvPr/>
        </p:nvSpPr>
        <p:spPr>
          <a:xfrm>
            <a:off x="602223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a:hlinkClick r:id="rId9" action="ppaction://hlinksldjump"/>
          </p:cNvPr>
          <p:cNvSpPr txBox="1"/>
          <p:nvPr/>
        </p:nvSpPr>
        <p:spPr>
          <a:xfrm>
            <a:off x="6912864" y="6496812"/>
            <a:ext cx="777240"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Mechanism</a:t>
            </a:r>
          </a:p>
        </p:txBody>
      </p:sp>
      <p:sp>
        <p:nvSpPr>
          <p:cNvPr id="84" name="Rounded Rectangle 83">
            <a:hlinkClick r:id="rId9" action="ppaction://hlinksldjump"/>
          </p:cNvPr>
          <p:cNvSpPr/>
          <p:nvPr/>
        </p:nvSpPr>
        <p:spPr>
          <a:xfrm>
            <a:off x="785469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ounded Rectangle 84">
            <a:hlinkClick r:id="rId18" action="ppaction://hlinksldjump"/>
          </p:cNvPr>
          <p:cNvSpPr/>
          <p:nvPr/>
        </p:nvSpPr>
        <p:spPr>
          <a:xfrm>
            <a:off x="792144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ounded Rectangle 85">
            <a:hlinkClick r:id="rId19" action="ppaction://hlinksldjump"/>
          </p:cNvPr>
          <p:cNvSpPr/>
          <p:nvPr/>
        </p:nvSpPr>
        <p:spPr>
          <a:xfrm>
            <a:off x="798819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a:hlinkClick r:id="rId10" action="ppaction://hlinksldjump"/>
          </p:cNvPr>
          <p:cNvSpPr txBox="1"/>
          <p:nvPr/>
        </p:nvSpPr>
        <p:spPr>
          <a:xfrm>
            <a:off x="8924544" y="6496812"/>
            <a:ext cx="987552"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Responsibility</a:t>
            </a:r>
          </a:p>
        </p:txBody>
      </p:sp>
      <p:sp>
        <p:nvSpPr>
          <p:cNvPr id="89" name="Rounded Rectangle 88">
            <a:hlinkClick r:id="rId20" action="ppaction://hlinksldjump"/>
          </p:cNvPr>
          <p:cNvSpPr/>
          <p:nvPr/>
        </p:nvSpPr>
        <p:spPr>
          <a:xfrm>
            <a:off x="1011600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ounded Rectangle 89">
            <a:hlinkClick r:id="rId21" action="ppaction://hlinksldjump"/>
          </p:cNvPr>
          <p:cNvSpPr/>
          <p:nvPr/>
        </p:nvSpPr>
        <p:spPr>
          <a:xfrm>
            <a:off x="1018275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ounded Rectangle 90">
            <a:hlinkClick r:id="rId22" action="ppaction://hlinksldjump"/>
          </p:cNvPr>
          <p:cNvSpPr/>
          <p:nvPr/>
        </p:nvSpPr>
        <p:spPr>
          <a:xfrm>
            <a:off x="10249509"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11119104" y="6492240"/>
            <a:ext cx="429768" cy="210312"/>
          </a:xfrm>
          <a:prstGeom prst="rect">
            <a:avLst/>
          </a:prstGeom>
          <a:noFill/>
        </p:spPr>
        <p:txBody>
          <a:bodyPr wrap="square" lIns="0" tIns="0" rIns="0" bIns="0">
            <a:spAutoFit/>
          </a:bodyPr>
          <a:lstStyle/>
          <a:p>
            <a:pPr algn="r">
              <a:spcAft>
                <a:spcPts val="0"/>
              </a:spcAft>
            </a:pPr>
            <a:r>
              <a:rPr sz="900" b="1" i="0">
                <a:solidFill>
                  <a:srgbClr val="737D84"/>
                </a:solidFill>
                <a:latin typeface="Aptos"/>
              </a:rPr>
              <a:t>02/16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511" name="Subtle AI definition background"/>
          <p:cNvSpPr/>
          <p:nvPr/>
        </p:nvSpPr>
        <p:spPr>
          <a:xfrm>
            <a:off x="742950" y="2628900"/>
            <a:ext cx="10706100" cy="1333500"/>
          </a:xfrm>
          <a:prstGeom prst="rect">
            <a:avLst/>
          </a:prstGeom>
          <a:solidFill>
            <a:srgbClr val="FBF5F6"/>
          </a:solidFill>
          <a:ln>
            <a:noFill/>
          </a:ln>
        </p:spPr>
      </p:sp>
      <p:sp>
        <p:nvSpPr>
          <p:cNvPr id="510" name="Subtle dictionary background"/>
          <p:cNvSpPr/>
          <p:nvPr/>
        </p:nvSpPr>
        <p:spPr>
          <a:xfrm>
            <a:off x="742950" y="1266825"/>
            <a:ext cx="10706100" cy="1247775"/>
          </a:xfrm>
          <a:prstGeom prst="rect">
            <a:avLst/>
          </a:prstGeom>
          <a:solidFill>
            <a:srgbClr val="EEF5F5"/>
          </a:solidFill>
          <a:ln>
            <a:noFill/>
          </a:ln>
        </p:spPr>
      </p:sp>
      <p:sp>
        <p:nvSpPr>
          <p:cNvPr id="4" name="Text 2"/>
          <p:cNvSpPr/>
          <p:nvPr/>
        </p:nvSpPr>
        <p:spPr>
          <a:xfrm>
            <a:off x="713232" y="530352"/>
            <a:ext cx="10515600" cy="603504"/>
          </a:xfrm>
          <a:prstGeom prst="rect">
            <a:avLst/>
          </a:prstGeom>
          <a:noFill/>
          <a:ln/>
        </p:spPr>
        <p:txBody>
          <a:bodyPr wrap="square" lIns="0" tIns="0" rIns="0" bIns="0" rtlCol="0" anchor="ctr">
            <a:normAutofit/>
          </a:bodyPr>
          <a:lstStyle/>
          <a:p>
            <a:pPr marL="0" indent="0" algn="l">
              <a:buNone/>
            </a:pPr>
            <a:r>
              <a:rPr lang="en-US" sz="3100" b="1" dirty="0">
                <a:solidFill>
                  <a:srgbClr val="1D2C36"/>
                </a:solidFill>
                <a:latin typeface="Inter Display" pitchFamily="34" charset="0"/>
                <a:ea typeface="Inter Display" pitchFamily="34" charset="-122"/>
                <a:cs typeface="Inter Display" pitchFamily="34" charset="-120"/>
              </a:rPr>
              <a:t>What is AI sycophancy?</a:t>
            </a:r>
          </a:p>
        </p:txBody>
      </p:sp>
      <p:sp>
        <p:nvSpPr>
          <p:cNvPr id="91" name="TextBox 90"/>
          <p:cNvSpPr txBox="1"/>
          <p:nvPr/>
        </p:nvSpPr>
        <p:spPr>
          <a:xfrm>
            <a:off x="952500" y="2771775"/>
            <a:ext cx="10287000" cy="1104900"/>
          </a:xfrm>
          <a:prstGeom prst="rect">
            <a:avLst/>
          </a:prstGeom>
          <a:noFill/>
          <a:ln/>
        </p:spPr>
        <p:txBody>
          <a:bodyPr wrap="square" lIns="36576" tIns="0" rIns="36576" bIns="0" anchor="t">
            <a:noAutofit/>
          </a:bodyPr>
          <a:lstStyle/>
          <a:p>
            <a:r>
              <a:rPr sz="2000" b="0" i="0">
                <a:solidFill>
                  <a:srgbClr val="232B31"/>
                </a:solidFill>
                <a:latin typeface="Aptos"/>
              </a:rPr>
              <a:t>When large language models or chatbots validate a user's incorrect ideas, agree with false premises, or shift their answers to match the user's preferred viewpoint instead of sticking to objective facts.</a:t>
            </a:r>
          </a:p>
        </p:txBody>
      </p:sp>
      <p:sp>
        <p:nvSpPr>
          <p:cNvPr id="108" name="Rectangle 107"/>
          <p:cNvSpPr/>
          <p:nvPr/>
        </p:nvSpPr>
        <p:spPr>
          <a:xfrm>
            <a:off x="649224" y="6391656"/>
            <a:ext cx="10936224" cy="8229"/>
          </a:xfrm>
          <a:prstGeom prst="rect">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a:hlinkClick r:id="rId5" action="ppaction://hlinksldjump"/>
          </p:cNvPr>
          <p:cNvSpPr txBox="1"/>
          <p:nvPr/>
        </p:nvSpPr>
        <p:spPr>
          <a:xfrm>
            <a:off x="667512" y="6496812"/>
            <a:ext cx="557784" cy="219456"/>
          </a:xfrm>
          <a:prstGeom prst="rect">
            <a:avLst/>
          </a:prstGeom>
          <a:noFill/>
        </p:spPr>
        <p:txBody>
          <a:bodyPr wrap="square" lIns="0" tIns="0" rIns="0" bIns="0">
            <a:spAutoFit/>
          </a:bodyPr>
          <a:lstStyle/>
          <a:p>
            <a:pPr algn="l">
              <a:spcAft>
                <a:spcPts val="0"/>
              </a:spcAft>
            </a:pPr>
            <a:r>
              <a:rPr sz="890" b="1" i="0">
                <a:solidFill>
                  <a:srgbClr val="0C6A6C"/>
                </a:solidFill>
                <a:latin typeface="Aptos"/>
              </a:rPr>
              <a:t>Context</a:t>
            </a:r>
          </a:p>
        </p:txBody>
      </p:sp>
      <p:sp>
        <p:nvSpPr>
          <p:cNvPr id="110" name="Rounded Rectangle 109">
            <a:hlinkClick r:id="rId5" action="ppaction://hlinksldjump"/>
          </p:cNvPr>
          <p:cNvSpPr/>
          <p:nvPr/>
        </p:nvSpPr>
        <p:spPr>
          <a:xfrm>
            <a:off x="1353312"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ounded Rectangle 110">
            <a:hlinkClick r:id="rId6" action="ppaction://hlinksldjump"/>
          </p:cNvPr>
          <p:cNvSpPr/>
          <p:nvPr/>
        </p:nvSpPr>
        <p:spPr>
          <a:xfrm>
            <a:off x="142006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ounded Rectangle 111">
            <a:hlinkClick r:id="rId7" action="ppaction://hlinksldjump"/>
          </p:cNvPr>
          <p:cNvSpPr/>
          <p:nvPr/>
        </p:nvSpPr>
        <p:spPr>
          <a:xfrm>
            <a:off x="1486814" y="6558076"/>
            <a:ext cx="55778" cy="55778"/>
          </a:xfrm>
          <a:prstGeom prst="roundRect">
            <a:avLst>
              <a:gd name="adj" fmla="val 4500"/>
            </a:avLst>
          </a:prstGeom>
          <a:solidFill>
            <a:srgbClr val="0C6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ounded Rectangle 112">
            <a:hlinkClick r:id="rId8" action="ppaction://hlinksldjump"/>
          </p:cNvPr>
          <p:cNvSpPr/>
          <p:nvPr/>
        </p:nvSpPr>
        <p:spPr>
          <a:xfrm>
            <a:off x="1553565"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ounded Rectangle 113">
            <a:hlinkClick r:id="rId9" action="ppaction://hlinksldjump"/>
          </p:cNvPr>
          <p:cNvSpPr/>
          <p:nvPr/>
        </p:nvSpPr>
        <p:spPr>
          <a:xfrm>
            <a:off x="162031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a:hlinkClick r:id="rId10" action="ppaction://hlinksldjump"/>
          </p:cNvPr>
          <p:cNvSpPr txBox="1"/>
          <p:nvPr/>
        </p:nvSpPr>
        <p:spPr>
          <a:xfrm>
            <a:off x="2523744" y="6496812"/>
            <a:ext cx="69494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Authority</a:t>
            </a:r>
          </a:p>
        </p:txBody>
      </p:sp>
      <p:sp>
        <p:nvSpPr>
          <p:cNvPr id="117" name="Rounded Rectangle 116">
            <a:hlinkClick r:id="rId11" action="ppaction://hlinksldjump"/>
          </p:cNvPr>
          <p:cNvSpPr/>
          <p:nvPr/>
        </p:nvSpPr>
        <p:spPr>
          <a:xfrm>
            <a:off x="338602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a:hlinkClick r:id="rId12" action="ppaction://hlinksldjump"/>
          </p:cNvPr>
          <p:cNvSpPr txBox="1"/>
          <p:nvPr/>
        </p:nvSpPr>
        <p:spPr>
          <a:xfrm>
            <a:off x="4142231" y="6496812"/>
            <a:ext cx="31089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Test</a:t>
            </a:r>
          </a:p>
        </p:txBody>
      </p:sp>
      <p:sp>
        <p:nvSpPr>
          <p:cNvPr id="119" name="Rounded Rectangle 118">
            <a:hlinkClick r:id="rId12" action="ppaction://hlinksldjump"/>
          </p:cNvPr>
          <p:cNvSpPr/>
          <p:nvPr/>
        </p:nvSpPr>
        <p:spPr>
          <a:xfrm>
            <a:off x="454456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a:hlinkClick r:id="rId13" action="ppaction://hlinksldjump"/>
          </p:cNvPr>
          <p:cNvSpPr txBox="1"/>
          <p:nvPr/>
        </p:nvSpPr>
        <p:spPr>
          <a:xfrm>
            <a:off x="5276088" y="6496812"/>
            <a:ext cx="49377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Results</a:t>
            </a:r>
          </a:p>
        </p:txBody>
      </p:sp>
      <p:sp>
        <p:nvSpPr>
          <p:cNvPr id="121" name="Rounded Rectangle 120">
            <a:hlinkClick r:id="rId13" action="ppaction://hlinksldjump"/>
          </p:cNvPr>
          <p:cNvSpPr/>
          <p:nvPr/>
        </p:nvSpPr>
        <p:spPr>
          <a:xfrm>
            <a:off x="588873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ounded Rectangle 121">
            <a:hlinkClick r:id="rId14" action="ppaction://hlinksldjump"/>
          </p:cNvPr>
          <p:cNvSpPr/>
          <p:nvPr/>
        </p:nvSpPr>
        <p:spPr>
          <a:xfrm>
            <a:off x="595548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ounded Rectangle 122">
            <a:hlinkClick r:id="rId15" action="ppaction://hlinksldjump"/>
          </p:cNvPr>
          <p:cNvSpPr/>
          <p:nvPr/>
        </p:nvSpPr>
        <p:spPr>
          <a:xfrm>
            <a:off x="602223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a:hlinkClick r:id="rId16" action="ppaction://hlinksldjump"/>
          </p:cNvPr>
          <p:cNvSpPr txBox="1"/>
          <p:nvPr/>
        </p:nvSpPr>
        <p:spPr>
          <a:xfrm>
            <a:off x="6912864" y="6496812"/>
            <a:ext cx="777240"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Mechanism</a:t>
            </a:r>
          </a:p>
        </p:txBody>
      </p:sp>
      <p:sp>
        <p:nvSpPr>
          <p:cNvPr id="125" name="Rounded Rectangle 124">
            <a:hlinkClick r:id="rId16" action="ppaction://hlinksldjump"/>
          </p:cNvPr>
          <p:cNvSpPr/>
          <p:nvPr/>
        </p:nvSpPr>
        <p:spPr>
          <a:xfrm>
            <a:off x="785469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ounded Rectangle 125">
            <a:hlinkClick r:id="rId17" action="ppaction://hlinksldjump"/>
          </p:cNvPr>
          <p:cNvSpPr/>
          <p:nvPr/>
        </p:nvSpPr>
        <p:spPr>
          <a:xfrm>
            <a:off x="792144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ounded Rectangle 126">
            <a:hlinkClick r:id="rId18" action="ppaction://hlinksldjump"/>
          </p:cNvPr>
          <p:cNvSpPr/>
          <p:nvPr/>
        </p:nvSpPr>
        <p:spPr>
          <a:xfrm>
            <a:off x="798819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a:hlinkClick r:id="rId19" action="ppaction://hlinksldjump"/>
          </p:cNvPr>
          <p:cNvSpPr txBox="1"/>
          <p:nvPr/>
        </p:nvSpPr>
        <p:spPr>
          <a:xfrm>
            <a:off x="8924544" y="6496812"/>
            <a:ext cx="987552"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Responsibility</a:t>
            </a:r>
          </a:p>
        </p:txBody>
      </p:sp>
      <p:sp>
        <p:nvSpPr>
          <p:cNvPr id="130" name="Rounded Rectangle 129">
            <a:hlinkClick r:id="rId20" action="ppaction://hlinksldjump"/>
          </p:cNvPr>
          <p:cNvSpPr/>
          <p:nvPr/>
        </p:nvSpPr>
        <p:spPr>
          <a:xfrm>
            <a:off x="1011600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ounded Rectangle 130">
            <a:hlinkClick r:id="rId21" action="ppaction://hlinksldjump"/>
          </p:cNvPr>
          <p:cNvSpPr/>
          <p:nvPr/>
        </p:nvSpPr>
        <p:spPr>
          <a:xfrm>
            <a:off x="1018275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Rounded Rectangle 131">
            <a:hlinkClick r:id="rId22" action="ppaction://hlinksldjump"/>
          </p:cNvPr>
          <p:cNvSpPr/>
          <p:nvPr/>
        </p:nvSpPr>
        <p:spPr>
          <a:xfrm>
            <a:off x="10249509"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11119104" y="6492240"/>
            <a:ext cx="429768" cy="210312"/>
          </a:xfrm>
          <a:prstGeom prst="rect">
            <a:avLst/>
          </a:prstGeom>
          <a:noFill/>
        </p:spPr>
        <p:txBody>
          <a:bodyPr wrap="square" lIns="0" tIns="0" rIns="0" bIns="0">
            <a:spAutoFit/>
          </a:bodyPr>
          <a:lstStyle/>
          <a:p>
            <a:pPr algn="r">
              <a:spcAft>
                <a:spcPts val="0"/>
              </a:spcAft>
            </a:pPr>
            <a:r>
              <a:rPr sz="900" b="1" i="0">
                <a:solidFill>
                  <a:srgbClr val="737D84"/>
                </a:solidFill>
                <a:latin typeface="Aptos"/>
              </a:rPr>
              <a:t>03/16</a:t>
            </a:r>
          </a:p>
        </p:txBody>
      </p:sp>
      <p:pic>
        <p:nvPicPr>
          <p:cNvPr id="96" name="yes_man_poster.jpg" descr="Yes Man (2008) movie poster">
            <a:extLst>
              <a:ext uri="{FF2B5EF4-FFF2-40B4-BE49-F238E27FC236}">
                <a16:creationId xmlns:a16="http://schemas.microsoft.com/office/drawing/2014/main" id="{A72CF280-5A51-4978-AF87-F410BBA3DFE0}"/>
              </a:ext>
            </a:extLst>
          </p:cNvPr>
          <p:cNvPicPr>
            <a:picLocks noChangeAspect="1"/>
          </p:cNvPicPr>
          <p:nvPr/>
        </p:nvPicPr>
        <p:blipFill>
          <a:blip r:embed="rId23"/>
          <a:srcRect l="0" r="0" t="12000" b="20473"/>
          <a:stretch/>
        </p:blipFill>
        <p:spPr>
          <a:xfrm>
            <a:off x="3286125" y="4191000"/>
            <a:ext cx="2000250" cy="2000250"/>
          </a:xfrm>
          <a:prstGeom prst="rect">
            <a:avLst/>
          </a:prstGeom>
        </p:spPr>
      </p:pic>
      <p:pic>
        <p:nvPicPr>
          <p:cNvPr id="103" name="pbj_exact_instructions.png" descr="Josh Darnit squeezing jelly while his daughter watches the Exact Instructions Challenge">
            <a:extLst>
              <a:ext uri="{FF2B5EF4-FFF2-40B4-BE49-F238E27FC236}">
                <a16:creationId xmlns:a16="http://schemas.microsoft.com/office/drawing/2014/main" id="{3023A116-3997-4B53-BDDC-27EE77C2CB61}"/>
              </a:ext>
            </a:extLst>
          </p:cNvPr>
          <p:cNvPicPr>
            <a:picLocks noChangeAspect="1"/>
          </p:cNvPicPr>
          <p:nvPr/>
        </p:nvPicPr>
        <p:blipFill>
          <a:blip r:embed="rId24"/>
          <a:srcRect l="15000" r="2000" t="8000" b="1000"/>
          <a:stretch/>
        </p:blipFill>
        <p:spPr>
          <a:xfrm>
            <a:off x="5667375" y="4191000"/>
            <a:ext cx="3238500" cy="1992329"/>
          </a:xfrm>
          <a:prstGeom prst="rect">
            <a:avLst/>
          </a:prstGeom>
        </p:spPr>
      </p:pic>
      <p:sp>
        <p:nvSpPr>
          <p:cNvPr id="201" name="Cambridge dictionary attribution"/>
          <p:cNvSpPr txBox="1"/>
          <p:nvPr/>
        </p:nvSpPr>
        <p:spPr>
          <a:xfrm>
            <a:off x="952500" y="1400175"/>
            <a:ext cx="10287000" cy="228600"/>
          </a:xfrm>
          <a:prstGeom prst="rect">
            <a:avLst/>
          </a:prstGeom>
          <a:noFill/>
          <a:ln/>
        </p:spPr>
        <p:txBody>
          <a:bodyPr wrap="square" lIns="0" tIns="0" rIns="0" bIns="0" anchor="t">
            <a:noAutofit/>
          </a:bodyPr>
          <a:lstStyle/>
          <a:p>
            <a:pPr algn="l">
              <a:lnSpc>
                <a:spcPct val="110000"/>
              </a:lnSpc>
              <a:buNone/>
            </a:pPr>
            <a:r>
              <a:rPr sz="1400" b="0" i="0">
                <a:solidFill>
                  <a:srgbClr val="657178"/>
                </a:solidFill>
                <a:latin typeface="Aptos"/>
              </a:rPr>
              <a:t>Cambridge Dictionary</a:t>
            </a:r>
          </a:p>
        </p:txBody>
      </p:sp>
      <p:sp>
        <p:nvSpPr>
          <p:cNvPr id="202" name="Cambridge dictionary definition"/>
          <p:cNvSpPr txBox="1"/>
          <p:nvPr/>
        </p:nvSpPr>
        <p:spPr>
          <a:xfrm>
            <a:off x="952500" y="1704975"/>
            <a:ext cx="10287000" cy="733425"/>
          </a:xfrm>
          <a:prstGeom prst="rect">
            <a:avLst/>
          </a:prstGeom>
          <a:noFill/>
          <a:ln/>
        </p:spPr>
        <p:txBody>
          <a:bodyPr wrap="square" lIns="0" tIns="0" rIns="0" bIns="0" anchor="t">
            <a:noAutofit/>
          </a:bodyPr>
          <a:lstStyle/>
          <a:p>
            <a:pPr algn="l">
              <a:lnSpc>
                <a:spcPct val="110000"/>
              </a:lnSpc>
              <a:buNone/>
            </a:pPr>
            <a:r>
              <a:rPr sz="2100" b="0" i="0">
                <a:solidFill>
                  <a:srgbClr val="232B31"/>
                </a:solidFill>
                <a:latin typeface="Aptos"/>
              </a:rPr>
              <a:t>“behavior in which someone praises powerful or rich people in a way that is not sincere, usually in order to get some advantage from them”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9"/>
                                          </p:stCondLst>
                                        </p:cTn>
                                        <p:tgtEl>
                                          <p:spTgt spid="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9"/>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8001" name="Content highlight 1"/>
          <p:cNvSpPr/>
          <p:nvPr/>
        </p:nvSpPr>
        <p:spPr>
          <a:xfrm>
            <a:off x="828675" y="5448300"/>
            <a:ext cx="10477500" cy="752475"/>
          </a:xfrm>
          <a:prstGeom prst="rect">
            <a:avLst/>
          </a:prstGeom>
          <a:solidFill>
            <a:srgbClr val="EEF5F5"/>
          </a:solidFill>
          <a:ln>
            <a:noFill/>
          </a:ln>
        </p:spPr>
      </p:sp>
      <p:sp>
        <p:nvSpPr>
          <p:cNvPr id="4" name="Text 2"/>
          <p:cNvSpPr/>
          <p:nvPr/>
        </p:nvSpPr>
        <p:spPr>
          <a:xfrm>
            <a:off x="731520" y="512064"/>
            <a:ext cx="10881360" cy="704088"/>
          </a:xfrm>
          <a:prstGeom prst="rect">
            <a:avLst/>
          </a:prstGeom>
          <a:noFill/>
          <a:ln/>
        </p:spPr>
        <p:txBody>
          <a:bodyPr wrap="none" lIns="0" tIns="0" rIns="0" bIns="0" rtlCol="0" anchor="ctr">
            <a:normAutofit/>
          </a:bodyPr>
          <a:lstStyle/>
          <a:p>
            <a:pPr marL="0" indent="0" algn="l">
              <a:buNone/>
            </a:pPr>
            <a:r>
              <a:rPr sz="3080" b="1">
                <a:solidFill>
                  <a:srgbClr val="232B31"/>
                </a:solidFill>
                <a:latin typeface="Aptos Display"/>
              </a:rPr>
              <a:t>How sycophancy research evolved</a:t>
            </a:r>
            <a:endParaRPr lang="en-US" sz="2650" dirty="0"/>
          </a:p>
        </p:txBody>
      </p:sp>
      <p:sp>
        <p:nvSpPr>
          <p:cNvPr id="182" name="Rectangle 181"/>
          <p:cNvSpPr/>
          <p:nvPr/>
        </p:nvSpPr>
        <p:spPr>
          <a:xfrm>
            <a:off x="649224" y="6391656"/>
            <a:ext cx="10936224" cy="8229"/>
          </a:xfrm>
          <a:prstGeom prst="rect">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TextBox 182">
            <a:hlinkClick r:id="rId5" action="ppaction://hlinksldjump"/>
          </p:cNvPr>
          <p:cNvSpPr txBox="1"/>
          <p:nvPr/>
        </p:nvSpPr>
        <p:spPr>
          <a:xfrm>
            <a:off x="667512" y="6496812"/>
            <a:ext cx="557784" cy="219456"/>
          </a:xfrm>
          <a:prstGeom prst="rect">
            <a:avLst/>
          </a:prstGeom>
          <a:noFill/>
        </p:spPr>
        <p:txBody>
          <a:bodyPr wrap="square" lIns="0" tIns="0" rIns="0" bIns="0">
            <a:spAutoFit/>
          </a:bodyPr>
          <a:lstStyle/>
          <a:p>
            <a:pPr algn="l">
              <a:spcAft>
                <a:spcPts val="0"/>
              </a:spcAft>
            </a:pPr>
            <a:r>
              <a:rPr sz="890" b="1" i="0">
                <a:solidFill>
                  <a:srgbClr val="0C6A6C"/>
                </a:solidFill>
                <a:latin typeface="Aptos"/>
              </a:rPr>
              <a:t>Context</a:t>
            </a:r>
          </a:p>
        </p:txBody>
      </p:sp>
      <p:sp>
        <p:nvSpPr>
          <p:cNvPr id="184" name="Rounded Rectangle 183">
            <a:hlinkClick r:id="rId5" action="ppaction://hlinksldjump"/>
          </p:cNvPr>
          <p:cNvSpPr/>
          <p:nvPr/>
        </p:nvSpPr>
        <p:spPr>
          <a:xfrm>
            <a:off x="1353312"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Rounded Rectangle 184">
            <a:hlinkClick r:id="rId6" action="ppaction://hlinksldjump"/>
          </p:cNvPr>
          <p:cNvSpPr/>
          <p:nvPr/>
        </p:nvSpPr>
        <p:spPr>
          <a:xfrm>
            <a:off x="142006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Rounded Rectangle 185">
            <a:hlinkClick r:id="rId7" action="ppaction://hlinksldjump"/>
          </p:cNvPr>
          <p:cNvSpPr/>
          <p:nvPr/>
        </p:nvSpPr>
        <p:spPr>
          <a:xfrm>
            <a:off x="1486814"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Rounded Rectangle 186">
            <a:hlinkClick r:id="rId8" action="ppaction://hlinksldjump"/>
          </p:cNvPr>
          <p:cNvSpPr/>
          <p:nvPr/>
        </p:nvSpPr>
        <p:spPr>
          <a:xfrm>
            <a:off x="1553565" y="6558076"/>
            <a:ext cx="55778" cy="55778"/>
          </a:xfrm>
          <a:prstGeom prst="roundRect">
            <a:avLst>
              <a:gd name="adj" fmla="val 4500"/>
            </a:avLst>
          </a:prstGeom>
          <a:solidFill>
            <a:srgbClr val="0C6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Rounded Rectangle 187">
            <a:hlinkClick r:id="rId9" action="ppaction://hlinksldjump"/>
          </p:cNvPr>
          <p:cNvSpPr/>
          <p:nvPr/>
        </p:nvSpPr>
        <p:spPr>
          <a:xfrm>
            <a:off x="162031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TextBox 188">
            <a:hlinkClick r:id="rId10" action="ppaction://hlinksldjump"/>
          </p:cNvPr>
          <p:cNvSpPr txBox="1"/>
          <p:nvPr/>
        </p:nvSpPr>
        <p:spPr>
          <a:xfrm>
            <a:off x="2523744" y="6496812"/>
            <a:ext cx="69494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Authority</a:t>
            </a:r>
          </a:p>
        </p:txBody>
      </p:sp>
      <p:sp>
        <p:nvSpPr>
          <p:cNvPr id="191" name="Rounded Rectangle 190">
            <a:hlinkClick r:id="rId11" action="ppaction://hlinksldjump"/>
          </p:cNvPr>
          <p:cNvSpPr/>
          <p:nvPr/>
        </p:nvSpPr>
        <p:spPr>
          <a:xfrm>
            <a:off x="338602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191">
            <a:hlinkClick r:id="rId12" action="ppaction://hlinksldjump"/>
          </p:cNvPr>
          <p:cNvSpPr txBox="1"/>
          <p:nvPr/>
        </p:nvSpPr>
        <p:spPr>
          <a:xfrm>
            <a:off x="4142231" y="6496812"/>
            <a:ext cx="31089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Test</a:t>
            </a:r>
          </a:p>
        </p:txBody>
      </p:sp>
      <p:sp>
        <p:nvSpPr>
          <p:cNvPr id="193" name="Rounded Rectangle 192">
            <a:hlinkClick r:id="rId12" action="ppaction://hlinksldjump"/>
          </p:cNvPr>
          <p:cNvSpPr/>
          <p:nvPr/>
        </p:nvSpPr>
        <p:spPr>
          <a:xfrm>
            <a:off x="454456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a:hlinkClick r:id="rId13" action="ppaction://hlinksldjump"/>
          </p:cNvPr>
          <p:cNvSpPr txBox="1"/>
          <p:nvPr/>
        </p:nvSpPr>
        <p:spPr>
          <a:xfrm>
            <a:off x="5276088" y="6496812"/>
            <a:ext cx="49377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Results</a:t>
            </a:r>
          </a:p>
        </p:txBody>
      </p:sp>
      <p:sp>
        <p:nvSpPr>
          <p:cNvPr id="195" name="Rounded Rectangle 194">
            <a:hlinkClick r:id="rId13" action="ppaction://hlinksldjump"/>
          </p:cNvPr>
          <p:cNvSpPr/>
          <p:nvPr/>
        </p:nvSpPr>
        <p:spPr>
          <a:xfrm>
            <a:off x="588873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Rounded Rectangle 195">
            <a:hlinkClick r:id="rId14" action="ppaction://hlinksldjump"/>
          </p:cNvPr>
          <p:cNvSpPr/>
          <p:nvPr/>
        </p:nvSpPr>
        <p:spPr>
          <a:xfrm>
            <a:off x="595548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Rounded Rectangle 196">
            <a:hlinkClick r:id="rId15" action="ppaction://hlinksldjump"/>
          </p:cNvPr>
          <p:cNvSpPr/>
          <p:nvPr/>
        </p:nvSpPr>
        <p:spPr>
          <a:xfrm>
            <a:off x="602223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197">
            <a:hlinkClick r:id="rId16" action="ppaction://hlinksldjump"/>
          </p:cNvPr>
          <p:cNvSpPr txBox="1"/>
          <p:nvPr/>
        </p:nvSpPr>
        <p:spPr>
          <a:xfrm>
            <a:off x="6912864" y="6496812"/>
            <a:ext cx="777240"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Mechanism</a:t>
            </a:r>
          </a:p>
        </p:txBody>
      </p:sp>
      <p:sp>
        <p:nvSpPr>
          <p:cNvPr id="199" name="Rounded Rectangle 198">
            <a:hlinkClick r:id="rId16" action="ppaction://hlinksldjump"/>
          </p:cNvPr>
          <p:cNvSpPr/>
          <p:nvPr/>
        </p:nvSpPr>
        <p:spPr>
          <a:xfrm>
            <a:off x="785469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Rounded Rectangle 199">
            <a:hlinkClick r:id="rId17" action="ppaction://hlinksldjump"/>
          </p:cNvPr>
          <p:cNvSpPr/>
          <p:nvPr/>
        </p:nvSpPr>
        <p:spPr>
          <a:xfrm>
            <a:off x="792144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Rounded Rectangle 200">
            <a:hlinkClick r:id="rId18" action="ppaction://hlinksldjump"/>
          </p:cNvPr>
          <p:cNvSpPr/>
          <p:nvPr/>
        </p:nvSpPr>
        <p:spPr>
          <a:xfrm>
            <a:off x="798819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TextBox 201">
            <a:hlinkClick r:id="rId19" action="ppaction://hlinksldjump"/>
          </p:cNvPr>
          <p:cNvSpPr txBox="1"/>
          <p:nvPr/>
        </p:nvSpPr>
        <p:spPr>
          <a:xfrm>
            <a:off x="8924544" y="6496812"/>
            <a:ext cx="987552"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Responsibility</a:t>
            </a:r>
          </a:p>
        </p:txBody>
      </p:sp>
      <p:sp>
        <p:nvSpPr>
          <p:cNvPr id="204" name="Rounded Rectangle 203">
            <a:hlinkClick r:id="rId20" action="ppaction://hlinksldjump"/>
          </p:cNvPr>
          <p:cNvSpPr/>
          <p:nvPr/>
        </p:nvSpPr>
        <p:spPr>
          <a:xfrm>
            <a:off x="1011600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Rounded Rectangle 204">
            <a:hlinkClick r:id="rId21" action="ppaction://hlinksldjump"/>
          </p:cNvPr>
          <p:cNvSpPr/>
          <p:nvPr/>
        </p:nvSpPr>
        <p:spPr>
          <a:xfrm>
            <a:off x="1018275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Rounded Rectangle 205">
            <a:hlinkClick r:id="rId22" action="ppaction://hlinksldjump"/>
          </p:cNvPr>
          <p:cNvSpPr/>
          <p:nvPr/>
        </p:nvSpPr>
        <p:spPr>
          <a:xfrm>
            <a:off x="10249509"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TextBox 206"/>
          <p:cNvSpPr txBox="1"/>
          <p:nvPr/>
        </p:nvSpPr>
        <p:spPr>
          <a:xfrm>
            <a:off x="11119104" y="6492240"/>
            <a:ext cx="429768" cy="210312"/>
          </a:xfrm>
          <a:prstGeom prst="rect">
            <a:avLst/>
          </a:prstGeom>
          <a:noFill/>
        </p:spPr>
        <p:txBody>
          <a:bodyPr wrap="square" lIns="0" tIns="0" rIns="0" bIns="0">
            <a:spAutoFit/>
          </a:bodyPr>
          <a:lstStyle/>
          <a:p>
            <a:pPr algn="r">
              <a:spcAft>
                <a:spcPts val="0"/>
              </a:spcAft>
            </a:pPr>
            <a:r>
              <a:rPr sz="900" b="1" i="0">
                <a:solidFill>
                  <a:srgbClr val="737D84"/>
                </a:solidFill>
                <a:latin typeface="Aptos"/>
              </a:rPr>
              <a:t>04/16</a:t>
            </a:r>
          </a:p>
        </p:txBody>
      </p:sp>
      <p:sp>
        <p:nvSpPr>
          <p:cNvPr id="208" name="TextBox 207"/>
          <p:cNvSpPr txBox="1"/>
          <p:nvPr/>
        </p:nvSpPr>
        <p:spPr>
          <a:xfrm>
            <a:off x="896112" y="1307592"/>
            <a:ext cx="10378440" cy="228600"/>
          </a:xfrm>
          <a:prstGeom prst="rect">
            <a:avLst/>
          </a:prstGeom>
          <a:noFill/>
        </p:spPr>
        <p:txBody>
          <a:bodyPr wrap="square" lIns="0" tIns="0" rIns="0" bIns="0" anchor="ctr">
            <a:spAutoFit/>
          </a:bodyPr>
          <a:lstStyle/>
          <a:p>
            <a:pPr algn="l">
              <a:spcBef>
                <a:spcPts val="0"/>
              </a:spcBef>
              <a:spcAft>
                <a:spcPts val="0"/>
              </a:spcAft>
            </a:pPr>
            <a:r>
              <a:rPr sz="1080" b="1" i="0">
                <a:solidFill>
                  <a:srgbClr val="0C6A6C"/>
                </a:solidFill>
                <a:latin typeface="Aptos"/>
              </a:rPr>
              <a:t>A SHORT HISTORY  ·  SAME LABEL, DIFFERENT QUESTIONS</a:t>
            </a:r>
          </a:p>
        </p:txBody>
      </p:sp>
      <p:cxnSp>
        <p:nvCxnSpPr>
          <p:cNvPr id="209" name="Connector 208"/>
          <p:cNvCxnSpPr/>
          <p:nvPr/>
        </p:nvCxnSpPr>
        <p:spPr>
          <a:xfrm>
            <a:off x="1947672" y="1801368"/>
            <a:ext cx="0" cy="3566160"/>
          </a:xfrm>
          <a:prstGeom prst="line">
            <a:avLst/>
          </a:prstGeom>
          <a:ln w="27940">
            <a:solidFill>
              <a:srgbClr val="DDE2E4"/>
            </a:solidFill>
          </a:ln>
        </p:spPr>
        <p:style>
          <a:lnRef idx="2">
            <a:schemeClr val="accent1"/>
          </a:lnRef>
          <a:fillRef idx="0">
            <a:schemeClr val="accent1"/>
          </a:fillRef>
          <a:effectRef idx="1">
            <a:schemeClr val="accent1"/>
          </a:effectRef>
          <a:fontRef idx="minor">
            <a:schemeClr val="tx1"/>
          </a:fontRef>
        </p:style>
      </p:cxnSp>
      <p:sp>
        <p:nvSpPr>
          <p:cNvPr id="210" name="Oval 209"/>
          <p:cNvSpPr/>
          <p:nvPr/>
        </p:nvSpPr>
        <p:spPr>
          <a:xfrm>
            <a:off x="1861718" y="1883664"/>
            <a:ext cx="173736" cy="173736"/>
          </a:xfrm>
          <a:prstGeom prst="ellipse">
            <a:avLst/>
          </a:prstGeom>
          <a:solidFill>
            <a:srgbClr val="0C6A6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TextBox 210"/>
          <p:cNvSpPr txBox="1"/>
          <p:nvPr/>
        </p:nvSpPr>
        <p:spPr>
          <a:xfrm>
            <a:off x="905256" y="1746504"/>
            <a:ext cx="932688" cy="411480"/>
          </a:xfrm>
          <a:prstGeom prst="rect">
            <a:avLst/>
          </a:prstGeom>
          <a:noFill/>
        </p:spPr>
        <p:txBody>
          <a:bodyPr wrap="square" lIns="0" tIns="0" rIns="0" bIns="0" anchor="ctr">
            <a:spAutoFit/>
          </a:bodyPr>
          <a:lstStyle/>
          <a:p>
            <a:pPr algn="l">
              <a:spcBef>
                <a:spcPts val="0"/>
              </a:spcBef>
              <a:spcAft>
                <a:spcPts val="0"/>
              </a:spcAft>
            </a:pPr>
            <a:r>
              <a:rPr sz="2360" b="1" i="0">
                <a:solidFill>
                  <a:srgbClr val="0C6A6C"/>
                </a:solidFill>
                <a:latin typeface="Aptos Display"/>
              </a:rPr>
              <a:t>2023</a:t>
            </a:r>
          </a:p>
        </p:txBody>
      </p:sp>
      <p:sp>
        <p:nvSpPr>
          <p:cNvPr id="212" name="TextBox 211"/>
          <p:cNvSpPr txBox="1"/>
          <p:nvPr/>
        </p:nvSpPr>
        <p:spPr>
          <a:xfrm>
            <a:off x="2350008" y="1609344"/>
            <a:ext cx="5806440" cy="192024"/>
          </a:xfrm>
          <a:prstGeom prst="rect">
            <a:avLst/>
          </a:prstGeom>
          <a:noFill/>
        </p:spPr>
        <p:txBody>
          <a:bodyPr wrap="square" lIns="0" tIns="0" rIns="0" bIns="0" anchor="ctr">
            <a:spAutoFit/>
          </a:bodyPr>
          <a:lstStyle/>
          <a:p>
            <a:pPr algn="l">
              <a:spcBef>
                <a:spcPts val="0"/>
              </a:spcBef>
              <a:spcAft>
                <a:spcPts val="0"/>
              </a:spcAft>
            </a:pPr>
            <a:r>
              <a:rPr sz="1000" b="1" i="0">
                <a:solidFill>
                  <a:srgbClr val="657178"/>
                </a:solidFill>
                <a:latin typeface="Aptos"/>
              </a:rPr>
              <a:t>PEREZ ET AL.  |  ACL FINDINGS</a:t>
            </a:r>
          </a:p>
        </p:txBody>
      </p:sp>
      <p:sp>
        <p:nvSpPr>
          <p:cNvPr id="213" name="TextBox 212">
            <a:hlinkClick r:id="rId23"/>
          </p:cNvPr>
          <p:cNvSpPr txBox="1"/>
          <p:nvPr/>
        </p:nvSpPr>
        <p:spPr>
          <a:xfrm>
            <a:off x="2350008" y="1847088"/>
            <a:ext cx="5806440" cy="557784"/>
          </a:xfrm>
          <a:prstGeom prst="rect">
            <a:avLst/>
          </a:prstGeom>
          <a:noFill/>
        </p:spPr>
        <p:txBody>
          <a:bodyPr wrap="square" lIns="0" tIns="0" rIns="0" bIns="0" anchor="ctr">
            <a:spAutoFit/>
          </a:bodyPr>
          <a:lstStyle/>
          <a:p>
            <a:pPr algn="l">
              <a:spcBef>
                <a:spcPts val="0"/>
              </a:spcBef>
              <a:spcAft>
                <a:spcPts val="0"/>
              </a:spcAft>
            </a:pPr>
            <a:r>
              <a:rPr sz="1540" b="1" i="0">
                <a:solidFill>
                  <a:srgbClr val="232B31"/>
                </a:solidFill>
                <a:latin typeface="Aptos"/>
              </a:rPr>
              <a:t>Discovering Language Model Behaviors with Model-Written Evaluations</a:t>
            </a:r>
          </a:p>
        </p:txBody>
      </p:sp>
      <p:cxnSp>
        <p:nvCxnSpPr>
          <p:cNvPr id="214" name="Connector 213"/>
          <p:cNvCxnSpPr/>
          <p:nvPr/>
        </p:nvCxnSpPr>
        <p:spPr>
          <a:xfrm>
            <a:off x="8348472" y="1682496"/>
            <a:ext cx="0" cy="612648"/>
          </a:xfrm>
          <a:prstGeom prst="line">
            <a:avLst/>
          </a:prstGeom>
          <a:ln w="15240">
            <a:solidFill>
              <a:srgbClr val="DDE2E4"/>
            </a:solidFill>
          </a:ln>
        </p:spPr>
        <p:style>
          <a:lnRef idx="2">
            <a:schemeClr val="accent1"/>
          </a:lnRef>
          <a:fillRef idx="0">
            <a:schemeClr val="accent1"/>
          </a:fillRef>
          <a:effectRef idx="1">
            <a:schemeClr val="accent1"/>
          </a:effectRef>
          <a:fontRef idx="minor">
            <a:schemeClr val="tx1"/>
          </a:fontRef>
        </p:style>
      </p:cxnSp>
      <p:sp>
        <p:nvSpPr>
          <p:cNvPr id="215" name="TextBox 214"/>
          <p:cNvSpPr txBox="1"/>
          <p:nvPr/>
        </p:nvSpPr>
        <p:spPr>
          <a:xfrm>
            <a:off x="8622792" y="1737360"/>
            <a:ext cx="2587752" cy="521207"/>
          </a:xfrm>
          <a:prstGeom prst="rect">
            <a:avLst/>
          </a:prstGeom>
          <a:noFill/>
        </p:spPr>
        <p:txBody>
          <a:bodyPr wrap="square" lIns="0" tIns="0" rIns="0" bIns="0" anchor="ctr">
            <a:spAutoFit/>
          </a:bodyPr>
          <a:lstStyle/>
          <a:p>
            <a:pPr algn="l">
              <a:spcBef>
                <a:spcPts val="0"/>
              </a:spcBef>
              <a:spcAft>
                <a:spcPts val="0"/>
              </a:spcAft>
            </a:pPr>
            <a:r>
              <a:rPr sz="1350" b="1" i="0">
                <a:solidFill>
                  <a:srgbClr val="0C6A6C"/>
                </a:solidFill>
                <a:latin typeface="Aptos"/>
              </a:rPr>
              <a:t>Models echo
user beliefs</a:t>
            </a:r>
          </a:p>
        </p:txBody>
      </p:sp>
      <p:sp>
        <p:nvSpPr>
          <p:cNvPr id="216" name="Oval 215"/>
          <p:cNvSpPr/>
          <p:nvPr/>
        </p:nvSpPr>
        <p:spPr>
          <a:xfrm>
            <a:off x="1861718" y="2834639"/>
            <a:ext cx="173736" cy="173736"/>
          </a:xfrm>
          <a:prstGeom prst="ellipse">
            <a:avLst/>
          </a:prstGeom>
          <a:solidFill>
            <a:srgbClr val="0C6A6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TextBox 216"/>
          <p:cNvSpPr txBox="1"/>
          <p:nvPr/>
        </p:nvSpPr>
        <p:spPr>
          <a:xfrm>
            <a:off x="905256" y="2697479"/>
            <a:ext cx="932688" cy="411480"/>
          </a:xfrm>
          <a:prstGeom prst="rect">
            <a:avLst/>
          </a:prstGeom>
          <a:noFill/>
        </p:spPr>
        <p:txBody>
          <a:bodyPr wrap="square" lIns="0" tIns="0" rIns="0" bIns="0" anchor="ctr">
            <a:spAutoFit/>
          </a:bodyPr>
          <a:lstStyle/>
          <a:p>
            <a:pPr algn="l">
              <a:spcBef>
                <a:spcPts val="0"/>
              </a:spcBef>
              <a:spcAft>
                <a:spcPts val="0"/>
              </a:spcAft>
            </a:pPr>
            <a:r>
              <a:rPr sz="2360" b="1" i="0">
                <a:solidFill>
                  <a:srgbClr val="0C6A6C"/>
                </a:solidFill>
                <a:latin typeface="Aptos Display"/>
              </a:rPr>
              <a:t>2024</a:t>
            </a:r>
          </a:p>
        </p:txBody>
      </p:sp>
      <p:sp>
        <p:nvSpPr>
          <p:cNvPr id="218" name="TextBox 217"/>
          <p:cNvSpPr txBox="1"/>
          <p:nvPr/>
        </p:nvSpPr>
        <p:spPr>
          <a:xfrm>
            <a:off x="2350008" y="2560320"/>
            <a:ext cx="5806440" cy="192024"/>
          </a:xfrm>
          <a:prstGeom prst="rect">
            <a:avLst/>
          </a:prstGeom>
          <a:noFill/>
        </p:spPr>
        <p:txBody>
          <a:bodyPr wrap="square" lIns="0" tIns="0" rIns="0" bIns="0" anchor="ctr">
            <a:spAutoFit/>
          </a:bodyPr>
          <a:lstStyle/>
          <a:p>
            <a:pPr algn="l">
              <a:spcBef>
                <a:spcPts val="0"/>
              </a:spcBef>
              <a:spcAft>
                <a:spcPts val="0"/>
              </a:spcAft>
            </a:pPr>
            <a:r>
              <a:rPr sz="1000" b="1" i="0">
                <a:solidFill>
                  <a:srgbClr val="657178"/>
                </a:solidFill>
                <a:latin typeface="Aptos"/>
              </a:rPr>
              <a:t>SHARMA ET AL.  |  ICLR</a:t>
            </a:r>
          </a:p>
        </p:txBody>
      </p:sp>
      <p:sp>
        <p:nvSpPr>
          <p:cNvPr id="219" name="TextBox 218">
            <a:hlinkClick r:id="rId24"/>
          </p:cNvPr>
          <p:cNvSpPr txBox="1"/>
          <p:nvPr/>
        </p:nvSpPr>
        <p:spPr>
          <a:xfrm>
            <a:off x="2350008" y="2798063"/>
            <a:ext cx="5806440" cy="557784"/>
          </a:xfrm>
          <a:prstGeom prst="rect">
            <a:avLst/>
          </a:prstGeom>
          <a:noFill/>
        </p:spPr>
        <p:txBody>
          <a:bodyPr wrap="square" lIns="0" tIns="0" rIns="0" bIns="0" anchor="ctr">
            <a:spAutoFit/>
          </a:bodyPr>
          <a:lstStyle/>
          <a:p>
            <a:pPr algn="l">
              <a:spcBef>
                <a:spcPts val="0"/>
              </a:spcBef>
              <a:spcAft>
                <a:spcPts val="0"/>
              </a:spcAft>
            </a:pPr>
            <a:r>
              <a:rPr sz="1540" b="1" i="0">
                <a:solidFill>
                  <a:srgbClr val="232B31"/>
                </a:solidFill>
                <a:latin typeface="Aptos"/>
              </a:rPr>
              <a:t>Towards Understanding Sycophancy in Language Models</a:t>
            </a:r>
          </a:p>
        </p:txBody>
      </p:sp>
      <p:cxnSp>
        <p:nvCxnSpPr>
          <p:cNvPr id="220" name="Connector 219"/>
          <p:cNvCxnSpPr/>
          <p:nvPr/>
        </p:nvCxnSpPr>
        <p:spPr>
          <a:xfrm>
            <a:off x="8348472" y="2633472"/>
            <a:ext cx="0" cy="612648"/>
          </a:xfrm>
          <a:prstGeom prst="line">
            <a:avLst/>
          </a:prstGeom>
          <a:ln w="15240">
            <a:solidFill>
              <a:srgbClr val="DDE2E4"/>
            </a:solidFill>
          </a:ln>
        </p:spPr>
        <p:style>
          <a:lnRef idx="2">
            <a:schemeClr val="accent1"/>
          </a:lnRef>
          <a:fillRef idx="0">
            <a:schemeClr val="accent1"/>
          </a:fillRef>
          <a:effectRef idx="1">
            <a:schemeClr val="accent1"/>
          </a:effectRef>
          <a:fontRef idx="minor">
            <a:schemeClr val="tx1"/>
          </a:fontRef>
        </p:style>
      </p:cxnSp>
      <p:sp>
        <p:nvSpPr>
          <p:cNvPr id="221" name="TextBox 220"/>
          <p:cNvSpPr txBox="1"/>
          <p:nvPr/>
        </p:nvSpPr>
        <p:spPr>
          <a:xfrm>
            <a:off x="8622792" y="2688336"/>
            <a:ext cx="2587752" cy="521207"/>
          </a:xfrm>
          <a:prstGeom prst="rect">
            <a:avLst/>
          </a:prstGeom>
          <a:noFill/>
        </p:spPr>
        <p:txBody>
          <a:bodyPr wrap="square" lIns="0" tIns="0" rIns="0" bIns="0" anchor="ctr">
            <a:spAutoFit/>
          </a:bodyPr>
          <a:lstStyle/>
          <a:p>
            <a:pPr algn="l">
              <a:spcBef>
                <a:spcPts val="0"/>
              </a:spcBef>
              <a:spcAft>
                <a:spcPts val="0"/>
              </a:spcAft>
            </a:pPr>
            <a:r>
              <a:rPr sz="1350" b="1" i="0">
                <a:solidFill>
                  <a:srgbClr val="0C6A6C"/>
                </a:solidFill>
                <a:latin typeface="Aptos"/>
              </a:rPr>
              <a:t>Preference signals
can reward agreement</a:t>
            </a:r>
          </a:p>
        </p:txBody>
      </p:sp>
      <p:sp>
        <p:nvSpPr>
          <p:cNvPr id="222" name="Oval 221"/>
          <p:cNvSpPr/>
          <p:nvPr/>
        </p:nvSpPr>
        <p:spPr>
          <a:xfrm>
            <a:off x="1861718" y="3785615"/>
            <a:ext cx="173736" cy="173736"/>
          </a:xfrm>
          <a:prstGeom prst="ellipse">
            <a:avLst/>
          </a:prstGeom>
          <a:solidFill>
            <a:srgbClr val="0C6A6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TextBox 222"/>
          <p:cNvSpPr txBox="1"/>
          <p:nvPr/>
        </p:nvSpPr>
        <p:spPr>
          <a:xfrm>
            <a:off x="905256" y="3648456"/>
            <a:ext cx="932688" cy="411480"/>
          </a:xfrm>
          <a:prstGeom prst="rect">
            <a:avLst/>
          </a:prstGeom>
          <a:noFill/>
        </p:spPr>
        <p:txBody>
          <a:bodyPr wrap="square" lIns="0" tIns="0" rIns="0" bIns="0" anchor="ctr">
            <a:spAutoFit/>
          </a:bodyPr>
          <a:lstStyle/>
          <a:p>
            <a:pPr algn="l">
              <a:spcBef>
                <a:spcPts val="0"/>
              </a:spcBef>
              <a:spcAft>
                <a:spcPts val="0"/>
              </a:spcAft>
            </a:pPr>
            <a:r>
              <a:rPr sz="2360" b="1" i="0">
                <a:solidFill>
                  <a:srgbClr val="0C6A6C"/>
                </a:solidFill>
                <a:latin typeface="Aptos Display"/>
              </a:rPr>
              <a:t>2025</a:t>
            </a:r>
          </a:p>
        </p:txBody>
      </p:sp>
      <p:sp>
        <p:nvSpPr>
          <p:cNvPr id="224" name="TextBox 223"/>
          <p:cNvSpPr txBox="1"/>
          <p:nvPr/>
        </p:nvSpPr>
        <p:spPr>
          <a:xfrm>
            <a:off x="2350008" y="3511296"/>
            <a:ext cx="5806440" cy="192024"/>
          </a:xfrm>
          <a:prstGeom prst="rect">
            <a:avLst/>
          </a:prstGeom>
          <a:noFill/>
        </p:spPr>
        <p:txBody>
          <a:bodyPr wrap="square" lIns="0" tIns="0" rIns="0" bIns="0" anchor="ctr">
            <a:spAutoFit/>
          </a:bodyPr>
          <a:lstStyle/>
          <a:p>
            <a:pPr algn="l">
              <a:spcBef>
                <a:spcPts val="0"/>
              </a:spcBef>
              <a:spcAft>
                <a:spcPts val="0"/>
              </a:spcAft>
            </a:pPr>
            <a:r>
              <a:rPr sz="1000" b="1" i="0">
                <a:solidFill>
                  <a:srgbClr val="657178"/>
                </a:solidFill>
                <a:latin typeface="Aptos"/>
              </a:rPr>
              <a:t>HONG ET AL.  |  EMNLP    +    VENNEMEYER ET AL.  |  ARXIV</a:t>
            </a:r>
          </a:p>
        </p:txBody>
      </p:sp>
      <p:sp>
        <p:nvSpPr>
          <p:cNvPr id="225" name="TextBox 224">
            <a:hlinkClick r:id="rId25"/>
          </p:cNvPr>
          <p:cNvSpPr txBox="1"/>
          <p:nvPr/>
        </p:nvSpPr>
        <p:spPr>
          <a:xfrm>
            <a:off x="2350008" y="3749039"/>
            <a:ext cx="5806440" cy="557784"/>
          </a:xfrm>
          <a:prstGeom prst="rect">
            <a:avLst/>
          </a:prstGeom>
          <a:noFill/>
        </p:spPr>
        <p:txBody>
          <a:bodyPr wrap="square" lIns="0" tIns="0" rIns="0" bIns="0" anchor="ctr">
            <a:spAutoFit/>
          </a:bodyPr>
          <a:lstStyle/>
          <a:p>
            <a:pPr algn="l">
              <a:spcBef>
                <a:spcPts val="0"/>
              </a:spcBef>
              <a:spcAft>
                <a:spcPts val="0"/>
              </a:spcAft>
            </a:pPr>
            <a:r>
              <a:rPr sz="1540" b="1" i="0">
                <a:solidFill>
                  <a:srgbClr val="232B31"/>
                </a:solidFill>
                <a:latin typeface="Aptos"/>
              </a:rPr>
              <a:t>Multi-turn pressure and separable praise / agreement behavior</a:t>
            </a:r>
          </a:p>
        </p:txBody>
      </p:sp>
      <p:cxnSp>
        <p:nvCxnSpPr>
          <p:cNvPr id="226" name="Connector 225"/>
          <p:cNvCxnSpPr/>
          <p:nvPr/>
        </p:nvCxnSpPr>
        <p:spPr>
          <a:xfrm>
            <a:off x="8348472" y="3584448"/>
            <a:ext cx="0" cy="612648"/>
          </a:xfrm>
          <a:prstGeom prst="line">
            <a:avLst/>
          </a:prstGeom>
          <a:ln w="15240">
            <a:solidFill>
              <a:srgbClr val="DDE2E4"/>
            </a:solidFill>
          </a:ln>
        </p:spPr>
        <p:style>
          <a:lnRef idx="2">
            <a:schemeClr val="accent1"/>
          </a:lnRef>
          <a:fillRef idx="0">
            <a:schemeClr val="accent1"/>
          </a:fillRef>
          <a:effectRef idx="1">
            <a:schemeClr val="accent1"/>
          </a:effectRef>
          <a:fontRef idx="minor">
            <a:schemeClr val="tx1"/>
          </a:fontRef>
        </p:style>
      </p:cxnSp>
      <p:sp>
        <p:nvSpPr>
          <p:cNvPr id="227" name="TextBox 226"/>
          <p:cNvSpPr txBox="1"/>
          <p:nvPr/>
        </p:nvSpPr>
        <p:spPr>
          <a:xfrm>
            <a:off x="8622792" y="3639312"/>
            <a:ext cx="2587752" cy="521207"/>
          </a:xfrm>
          <a:prstGeom prst="rect">
            <a:avLst/>
          </a:prstGeom>
          <a:noFill/>
        </p:spPr>
        <p:txBody>
          <a:bodyPr wrap="square" lIns="0" tIns="0" rIns="0" bIns="0" anchor="ctr">
            <a:spAutoFit/>
          </a:bodyPr>
          <a:lstStyle/>
          <a:p>
            <a:pPr algn="l">
              <a:spcBef>
                <a:spcPts val="0"/>
              </a:spcBef>
              <a:spcAft>
                <a:spcPts val="0"/>
              </a:spcAft>
            </a:pPr>
            <a:r>
              <a:rPr sz="1350" b="1" i="0">
                <a:solidFill>
                  <a:srgbClr val="0C6A6C"/>
                </a:solidFill>
                <a:latin typeface="Aptos"/>
              </a:rPr>
              <a:t>Different forms,
different mechanisms</a:t>
            </a:r>
          </a:p>
        </p:txBody>
      </p:sp>
      <p:sp>
        <p:nvSpPr>
          <p:cNvPr id="228" name="Oval 227"/>
          <p:cNvSpPr/>
          <p:nvPr/>
        </p:nvSpPr>
        <p:spPr>
          <a:xfrm>
            <a:off x="1861718" y="4736592"/>
            <a:ext cx="173736" cy="173736"/>
          </a:xfrm>
          <a:prstGeom prst="ellipse">
            <a:avLst/>
          </a:prstGeom>
          <a:solidFill>
            <a:srgbClr val="0C6A6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TextBox 228"/>
          <p:cNvSpPr txBox="1"/>
          <p:nvPr/>
        </p:nvSpPr>
        <p:spPr>
          <a:xfrm>
            <a:off x="905256" y="4599432"/>
            <a:ext cx="932688" cy="411480"/>
          </a:xfrm>
          <a:prstGeom prst="rect">
            <a:avLst/>
          </a:prstGeom>
          <a:noFill/>
        </p:spPr>
        <p:txBody>
          <a:bodyPr wrap="square" lIns="0" tIns="0" rIns="0" bIns="0" anchor="ctr">
            <a:spAutoFit/>
          </a:bodyPr>
          <a:lstStyle/>
          <a:p>
            <a:pPr algn="l">
              <a:spcBef>
                <a:spcPts val="0"/>
              </a:spcBef>
              <a:spcAft>
                <a:spcPts val="0"/>
              </a:spcAft>
            </a:pPr>
            <a:r>
              <a:rPr sz="2360" b="1" i="0">
                <a:solidFill>
                  <a:srgbClr val="0C6A6C"/>
                </a:solidFill>
                <a:latin typeface="Aptos Display"/>
              </a:rPr>
              <a:t>2026</a:t>
            </a:r>
          </a:p>
        </p:txBody>
      </p:sp>
      <p:sp>
        <p:nvSpPr>
          <p:cNvPr id="230" name="TextBox 229"/>
          <p:cNvSpPr txBox="1"/>
          <p:nvPr/>
        </p:nvSpPr>
        <p:spPr>
          <a:xfrm>
            <a:off x="2350008" y="4462272"/>
            <a:ext cx="5806440" cy="192024"/>
          </a:xfrm>
          <a:prstGeom prst="rect">
            <a:avLst/>
          </a:prstGeom>
          <a:noFill/>
        </p:spPr>
        <p:txBody>
          <a:bodyPr wrap="square" lIns="0" tIns="0" rIns="0" bIns="0" anchor="ctr">
            <a:spAutoFit/>
          </a:bodyPr>
          <a:lstStyle/>
          <a:p>
            <a:pPr algn="l">
              <a:spcBef>
                <a:spcPts val="0"/>
              </a:spcBef>
              <a:spcAft>
                <a:spcPts val="0"/>
              </a:spcAft>
            </a:pPr>
            <a:r>
              <a:rPr sz="1000" b="1" i="0">
                <a:solidFill>
                  <a:srgbClr val="657178"/>
                </a:solidFill>
                <a:latin typeface="Aptos"/>
              </a:rPr>
              <a:t>CHENG ET AL.  |  SCIENCE</a:t>
            </a:r>
          </a:p>
        </p:txBody>
      </p:sp>
      <p:sp>
        <p:nvSpPr>
          <p:cNvPr id="231" name="TextBox 230">
            <a:hlinkClick r:id="rId26"/>
          </p:cNvPr>
          <p:cNvSpPr txBox="1"/>
          <p:nvPr/>
        </p:nvSpPr>
        <p:spPr>
          <a:xfrm>
            <a:off x="2350008" y="4700016"/>
            <a:ext cx="5806440" cy="557784"/>
          </a:xfrm>
          <a:prstGeom prst="rect">
            <a:avLst/>
          </a:prstGeom>
          <a:noFill/>
        </p:spPr>
        <p:txBody>
          <a:bodyPr wrap="square" lIns="0" tIns="0" rIns="0" bIns="0" anchor="ctr">
            <a:spAutoFit/>
          </a:bodyPr>
          <a:lstStyle/>
          <a:p>
            <a:pPr algn="l">
              <a:spcBef>
                <a:spcPts val="0"/>
              </a:spcBef>
              <a:spcAft>
                <a:spcPts val="0"/>
              </a:spcAft>
            </a:pPr>
            <a:r>
              <a:rPr sz="1540" b="1" i="0">
                <a:solidFill>
                  <a:srgbClr val="232B31"/>
                </a:solidFill>
                <a:latin typeface="Aptos"/>
              </a:rPr>
              <a:t>Sycophantic AI Decreases Prosocial Intentions and Promotes Dependence</a:t>
            </a:r>
          </a:p>
        </p:txBody>
      </p:sp>
      <p:cxnSp>
        <p:nvCxnSpPr>
          <p:cNvPr id="232" name="Connector 231"/>
          <p:cNvCxnSpPr/>
          <p:nvPr/>
        </p:nvCxnSpPr>
        <p:spPr>
          <a:xfrm>
            <a:off x="8348472" y="4535424"/>
            <a:ext cx="0" cy="612648"/>
          </a:xfrm>
          <a:prstGeom prst="line">
            <a:avLst/>
          </a:prstGeom>
          <a:ln w="15240">
            <a:solidFill>
              <a:srgbClr val="DDE2E4"/>
            </a:solidFill>
          </a:ln>
        </p:spPr>
        <p:style>
          <a:lnRef idx="2">
            <a:schemeClr val="accent1"/>
          </a:lnRef>
          <a:fillRef idx="0">
            <a:schemeClr val="accent1"/>
          </a:fillRef>
          <a:effectRef idx="1">
            <a:schemeClr val="accent1"/>
          </a:effectRef>
          <a:fontRef idx="minor">
            <a:schemeClr val="tx1"/>
          </a:fontRef>
        </p:style>
      </p:cxnSp>
      <p:sp>
        <p:nvSpPr>
          <p:cNvPr id="233" name="TextBox 232"/>
          <p:cNvSpPr txBox="1"/>
          <p:nvPr/>
        </p:nvSpPr>
        <p:spPr>
          <a:xfrm>
            <a:off x="8622792" y="4590288"/>
            <a:ext cx="2587752" cy="521207"/>
          </a:xfrm>
          <a:prstGeom prst="rect">
            <a:avLst/>
          </a:prstGeom>
          <a:noFill/>
        </p:spPr>
        <p:txBody>
          <a:bodyPr wrap="square" lIns="0" tIns="0" rIns="0" bIns="0" anchor="ctr">
            <a:spAutoFit/>
          </a:bodyPr>
          <a:lstStyle/>
          <a:p>
            <a:pPr algn="l">
              <a:spcBef>
                <a:spcPts val="0"/>
              </a:spcBef>
              <a:spcAft>
                <a:spcPts val="0"/>
              </a:spcAft>
            </a:pPr>
            <a:r>
              <a:rPr sz="1350" b="1" i="0">
                <a:solidFill>
                  <a:srgbClr val="0C6A6C"/>
                </a:solidFill>
                <a:latin typeface="Aptos"/>
              </a:rPr>
              <a:t>Consequences for
real users</a:t>
            </a:r>
          </a:p>
        </p:txBody>
      </p:sp>
      <p:cxnSp>
        <p:nvCxnSpPr>
          <p:cNvPr id="234" name="Connector 233"/>
          <p:cNvCxnSpPr/>
          <p:nvPr/>
        </p:nvCxnSpPr>
        <p:spPr>
          <a:xfrm>
            <a:off x="923544" y="5486400"/>
            <a:ext cx="10296144" cy="0"/>
          </a:xfrm>
          <a:prstGeom prst="line">
            <a:avLst/>
          </a:prstGeom>
          <a:ln w="10795">
            <a:solidFill>
              <a:srgbClr val="DDE2E4"/>
            </a:solidFill>
          </a:ln>
        </p:spPr>
        <p:style>
          <a:lnRef idx="2">
            <a:schemeClr val="accent1"/>
          </a:lnRef>
          <a:fillRef idx="0">
            <a:schemeClr val="accent1"/>
          </a:fillRef>
          <a:effectRef idx="1">
            <a:schemeClr val="accent1"/>
          </a:effectRef>
          <a:fontRef idx="minor">
            <a:schemeClr val="tx1"/>
          </a:fontRef>
        </p:style>
      </p:cxnSp>
      <p:sp>
        <p:nvSpPr>
          <p:cNvPr id="235" name="TextBox 234"/>
          <p:cNvSpPr txBox="1"/>
          <p:nvPr/>
        </p:nvSpPr>
        <p:spPr>
          <a:xfrm>
            <a:off x="978408" y="5550408"/>
            <a:ext cx="731520" cy="493776"/>
          </a:xfrm>
          <a:prstGeom prst="rect">
            <a:avLst/>
          </a:prstGeom>
          <a:noFill/>
        </p:spPr>
        <p:txBody>
          <a:bodyPr wrap="none" lIns="0" tIns="0" rIns="0" bIns="0" anchor="ctr">
            <a:spAutoFit/>
          </a:bodyPr>
          <a:lstStyle/>
          <a:p>
            <a:pPr algn="l">
              <a:spcBef>
                <a:spcPts val="0"/>
              </a:spcBef>
              <a:spcAft>
                <a:spcPts val="0"/>
              </a:spcAft>
            </a:pPr>
            <a:r>
              <a:rPr sz="3100" b="1">
                <a:solidFill>
                  <a:srgbClr val="0C6A6C"/>
                </a:solidFill>
                <a:latin typeface="Aptos Display"/>
              </a:rPr>
              <a:t>70</a:t>
            </a:r>
          </a:p>
        </p:txBody>
      </p:sp>
      <p:sp>
        <p:nvSpPr>
          <p:cNvPr id="236" name="TextBox 235"/>
          <p:cNvSpPr txBox="1"/>
          <p:nvPr/>
        </p:nvSpPr>
        <p:spPr>
          <a:xfrm>
            <a:off x="1801368" y="5586984"/>
            <a:ext cx="5586984" cy="329184"/>
          </a:xfrm>
          <a:prstGeom prst="rect">
            <a:avLst/>
          </a:prstGeom>
          <a:noFill/>
        </p:spPr>
        <p:txBody>
          <a:bodyPr wrap="none" lIns="0" tIns="0" rIns="0" bIns="0" anchor="ctr">
            <a:spAutoFit/>
          </a:bodyPr>
          <a:lstStyle/>
          <a:p>
            <a:pPr algn="l">
              <a:spcBef>
                <a:spcPts val="0"/>
              </a:spcBef>
              <a:spcAft>
                <a:spcPts val="0"/>
              </a:spcAft>
            </a:pPr>
            <a:r>
              <a:rPr sz="1400" b="1">
                <a:solidFill>
                  <a:srgbClr val="232B31"/>
                </a:solidFill>
                <a:latin typeface="Aptos Display"/>
              </a:rPr>
              <a:t>papers reviewed in a 2026 sycophancy taxonomy</a:t>
            </a:r>
          </a:p>
        </p:txBody>
      </p:sp>
      <p:sp>
        <p:nvSpPr>
          <p:cNvPr id="237" name="TextBox 236"/>
          <p:cNvSpPr txBox="1"/>
          <p:nvPr/>
        </p:nvSpPr>
        <p:spPr>
          <a:xfrm>
            <a:off x="8046720" y="5577840"/>
            <a:ext cx="3154680" cy="329184"/>
          </a:xfrm>
          <a:prstGeom prst="rect">
            <a:avLst/>
          </a:prstGeom>
          <a:noFill/>
        </p:spPr>
        <p:txBody>
          <a:bodyPr wrap="none" lIns="0" tIns="0" rIns="0" bIns="0" anchor="ctr">
            <a:spAutoFit/>
          </a:bodyPr>
          <a:lstStyle/>
          <a:p>
            <a:pPr algn="l">
              <a:spcBef>
                <a:spcPts val="0"/>
              </a:spcBef>
              <a:spcAft>
                <a:spcPts val="0"/>
              </a:spcAft>
            </a:pPr>
            <a:r>
              <a:rPr sz="1730" b="1">
                <a:solidFill>
                  <a:srgbClr val="8F2A41"/>
                </a:solidFill>
                <a:latin typeface="Aptos Display"/>
              </a:rPr>
              <a:t>No agreed definition.</a:t>
            </a:r>
          </a:p>
        </p:txBody>
      </p:sp>
      <p:cxnSp>
        <p:nvCxnSpPr>
          <p:cNvPr id="238" name="Connector 237"/>
          <p:cNvCxnSpPr/>
          <p:nvPr/>
        </p:nvCxnSpPr>
        <p:spPr>
          <a:xfrm>
            <a:off x="7754112" y="5550408"/>
            <a:ext cx="0" cy="374904"/>
          </a:xfrm>
          <a:prstGeom prst="line">
            <a:avLst/>
          </a:prstGeom>
          <a:ln w="12700">
            <a:solidFill>
              <a:srgbClr val="DDE2E4"/>
            </a:solidFill>
          </a:ln>
        </p:spPr>
        <p:style>
          <a:lnRef idx="2">
            <a:schemeClr val="accent1"/>
          </a:lnRef>
          <a:fillRef idx="0">
            <a:schemeClr val="accent1"/>
          </a:fillRef>
          <a:effectRef idx="1">
            <a:schemeClr val="accent1"/>
          </a:effectRef>
          <a:fontRef idx="minor">
            <a:schemeClr val="tx1"/>
          </a:fontRef>
        </p:style>
      </p:cxnSp>
      <p:sp>
        <p:nvSpPr>
          <p:cNvPr id="239" name="TextBox 238">
            <a:hlinkClick r:id="rId27"/>
          </p:cNvPr>
          <p:cNvSpPr txBox="1"/>
          <p:nvPr/>
        </p:nvSpPr>
        <p:spPr>
          <a:xfrm>
            <a:off x="996696" y="5961888"/>
            <a:ext cx="10222992" cy="173736"/>
          </a:xfrm>
          <a:prstGeom prst="rect">
            <a:avLst/>
          </a:prstGeom>
          <a:noFill/>
        </p:spPr>
        <p:txBody>
          <a:bodyPr wrap="none" lIns="0" tIns="0" rIns="0" bIns="0" anchor="ctr">
            <a:spAutoFit/>
          </a:bodyPr>
          <a:lstStyle/>
          <a:p>
            <a:pPr algn="l">
              <a:spcBef>
                <a:spcPts val="0"/>
              </a:spcBef>
              <a:spcAft>
                <a:spcPts val="0"/>
              </a:spcAft>
            </a:pPr>
            <a:r>
              <a:rPr sz="940" b="0">
                <a:solidFill>
                  <a:srgbClr val="657178"/>
                </a:solidFill>
                <a:latin typeface="Aptos"/>
              </a:rPr>
              <a:t>Ye et al. (2026), arXiv:2605.21778  ·  Review count, not total arXiv submissions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3425" y="514350"/>
            <a:ext cx="10763250" cy="619125"/>
          </a:xfrm>
          <a:prstGeom prst="rect">
            <a:avLst/>
          </a:prstGeom>
          <a:noFill/>
          <a:ln/>
        </p:spPr>
        <p:txBody>
          <a:bodyPr wrap="square" lIns="0" tIns="0" rIns="0" bIns="0" anchor="t">
            <a:noAutofit/>
          </a:bodyPr>
          <a:lstStyle/>
          <a:p>
            <a:pPr algn="l">
              <a:lnSpc>
                <a:spcPct val="110000"/>
              </a:lnSpc>
              <a:buNone/>
            </a:pPr>
            <a:r>
              <a:rPr sz="3600" b="1" i="0">
                <a:solidFill>
                  <a:srgbClr val="232B31"/>
                </a:solidFill>
                <a:latin typeface="Aptos Display"/>
              </a:rPr>
              <a:t>With great power comes…</a:t>
            </a:r>
          </a:p>
        </p:txBody>
      </p:sp>
      <p:sp>
        <p:nvSpPr>
          <p:cNvPr id="62" name="TextBox 61"/>
          <p:cNvSpPr txBox="1"/>
          <p:nvPr/>
        </p:nvSpPr>
        <p:spPr>
          <a:xfrm>
            <a:off x="914400" y="1590675"/>
            <a:ext cx="4400550" cy="438150"/>
          </a:xfrm>
          <a:prstGeom prst="rect">
            <a:avLst/>
          </a:prstGeom>
          <a:noFill/>
          <a:ln/>
        </p:spPr>
        <p:txBody>
          <a:bodyPr wrap="square" lIns="0" tIns="0" rIns="0" bIns="0" anchor="t">
            <a:noAutofit/>
          </a:bodyPr>
          <a:lstStyle/>
          <a:p>
            <a:pPr algn="l">
              <a:lnSpc>
                <a:spcPct val="110000"/>
              </a:lnSpc>
              <a:buNone/>
            </a:pPr>
            <a:r>
              <a:rPr sz="2800" b="1" i="0">
                <a:solidFill>
                  <a:srgbClr val="7E3647"/>
                </a:solidFill>
                <a:latin typeface="Aptos Display"/>
              </a:rPr>
              <a:t>More token usage</a:t>
            </a:r>
          </a:p>
        </p:txBody>
      </p:sp>
      <p:sp>
        <p:nvSpPr>
          <p:cNvPr id="72" name="Cross out More token usage"/>
          <p:cNvSpPr/>
          <p:nvPr/>
        </p:nvSpPr>
        <p:spPr>
          <a:xfrm>
            <a:off x="885825" y="1800225"/>
            <a:ext cx="2743200" cy="28575"/>
          </a:xfrm>
          <a:prstGeom prst="rect">
            <a:avLst/>
          </a:prstGeom>
          <a:solidFill>
            <a:srgbClr val="8F2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14400" y="5781675"/>
            <a:ext cx="4429125" cy="466725"/>
          </a:xfrm>
          <a:prstGeom prst="rect">
            <a:avLst/>
          </a:prstGeom>
          <a:noFill/>
          <a:ln/>
        </p:spPr>
        <p:txBody>
          <a:bodyPr wrap="square" lIns="0" tIns="0" rIns="0" bIns="0" anchor="t">
            <a:noAutofit/>
          </a:bodyPr>
          <a:lstStyle/>
          <a:p>
            <a:pPr algn="l">
              <a:lnSpc>
                <a:spcPct val="110000"/>
              </a:lnSpc>
              <a:buNone/>
            </a:pPr>
            <a:r>
              <a:rPr sz="2800" b="1" i="0">
                <a:solidFill>
                  <a:srgbClr val="0C6A6C"/>
                </a:solidFill>
                <a:latin typeface="Aptos Display"/>
              </a:rPr>
              <a:t>Great responsibility?</a:t>
            </a:r>
          </a:p>
        </p:txBody>
      </p:sp>
      <p:sp>
        <p:nvSpPr>
          <p:cNvPr id="75" name="Rectangle 74"/>
          <p:cNvSpPr/>
          <p:nvPr/>
        </p:nvSpPr>
        <p:spPr>
          <a:xfrm>
            <a:off x="649224" y="6391656"/>
            <a:ext cx="10936224" cy="8229"/>
          </a:xfrm>
          <a:prstGeom prst="rect">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a:hlinkClick r:id="rId4" action="ppaction://hlinksldjump"/>
          </p:cNvPr>
          <p:cNvSpPr txBox="1"/>
          <p:nvPr/>
        </p:nvSpPr>
        <p:spPr>
          <a:xfrm>
            <a:off x="667512" y="6496812"/>
            <a:ext cx="557784" cy="219456"/>
          </a:xfrm>
          <a:prstGeom prst="rect">
            <a:avLst/>
          </a:prstGeom>
          <a:noFill/>
        </p:spPr>
        <p:txBody>
          <a:bodyPr wrap="square" lIns="0" tIns="0" rIns="0" bIns="0">
            <a:spAutoFit/>
          </a:bodyPr>
          <a:lstStyle/>
          <a:p>
            <a:pPr algn="l">
              <a:spcAft>
                <a:spcPts val="0"/>
              </a:spcAft>
            </a:pPr>
            <a:r>
              <a:rPr sz="890" b="1" i="0">
                <a:solidFill>
                  <a:srgbClr val="0C6A6C"/>
                </a:solidFill>
                <a:latin typeface="Aptos"/>
              </a:rPr>
              <a:t>Context</a:t>
            </a:r>
          </a:p>
        </p:txBody>
      </p:sp>
      <p:sp>
        <p:nvSpPr>
          <p:cNvPr id="77" name="Rounded Rectangle 76">
            <a:hlinkClick r:id="rId4" action="ppaction://hlinksldjump"/>
          </p:cNvPr>
          <p:cNvSpPr/>
          <p:nvPr/>
        </p:nvSpPr>
        <p:spPr>
          <a:xfrm>
            <a:off x="1353312"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ed Rectangle 77">
            <a:hlinkClick r:id="rId5" action="ppaction://hlinksldjump"/>
          </p:cNvPr>
          <p:cNvSpPr/>
          <p:nvPr/>
        </p:nvSpPr>
        <p:spPr>
          <a:xfrm>
            <a:off x="142006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ounded Rectangle 78">
            <a:hlinkClick r:id="rId6" action="ppaction://hlinksldjump"/>
          </p:cNvPr>
          <p:cNvSpPr/>
          <p:nvPr/>
        </p:nvSpPr>
        <p:spPr>
          <a:xfrm>
            <a:off x="1486814"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ounded Rectangle 79">
            <a:hlinkClick r:id="rId7" action="ppaction://hlinksldjump"/>
          </p:cNvPr>
          <p:cNvSpPr/>
          <p:nvPr/>
        </p:nvSpPr>
        <p:spPr>
          <a:xfrm>
            <a:off x="1553565"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a:hlinkClick r:id="rId8" action="ppaction://hlinksldjump"/>
          </p:cNvPr>
          <p:cNvSpPr/>
          <p:nvPr/>
        </p:nvSpPr>
        <p:spPr>
          <a:xfrm>
            <a:off x="1620316" y="6558076"/>
            <a:ext cx="55778" cy="55778"/>
          </a:xfrm>
          <a:prstGeom prst="roundRect">
            <a:avLst>
              <a:gd name="adj" fmla="val 4500"/>
            </a:avLst>
          </a:prstGeom>
          <a:solidFill>
            <a:srgbClr val="0C6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a:hlinkClick r:id="rId9" action="ppaction://hlinksldjump"/>
          </p:cNvPr>
          <p:cNvSpPr txBox="1"/>
          <p:nvPr/>
        </p:nvSpPr>
        <p:spPr>
          <a:xfrm>
            <a:off x="2523744" y="6496812"/>
            <a:ext cx="69494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Authority</a:t>
            </a:r>
          </a:p>
        </p:txBody>
      </p:sp>
      <p:sp>
        <p:nvSpPr>
          <p:cNvPr id="84" name="Rounded Rectangle 83">
            <a:hlinkClick r:id="rId10" action="ppaction://hlinksldjump"/>
          </p:cNvPr>
          <p:cNvSpPr/>
          <p:nvPr/>
        </p:nvSpPr>
        <p:spPr>
          <a:xfrm>
            <a:off x="338602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hlinkClick r:id="rId11" action="ppaction://hlinksldjump"/>
          </p:cNvPr>
          <p:cNvSpPr txBox="1"/>
          <p:nvPr/>
        </p:nvSpPr>
        <p:spPr>
          <a:xfrm>
            <a:off x="4142231" y="6496812"/>
            <a:ext cx="31089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Test</a:t>
            </a:r>
          </a:p>
        </p:txBody>
      </p:sp>
      <p:sp>
        <p:nvSpPr>
          <p:cNvPr id="86" name="Rounded Rectangle 85">
            <a:hlinkClick r:id="rId11" action="ppaction://hlinksldjump"/>
          </p:cNvPr>
          <p:cNvSpPr/>
          <p:nvPr/>
        </p:nvSpPr>
        <p:spPr>
          <a:xfrm>
            <a:off x="454456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a:hlinkClick r:id="rId12" action="ppaction://hlinksldjump"/>
          </p:cNvPr>
          <p:cNvSpPr txBox="1"/>
          <p:nvPr/>
        </p:nvSpPr>
        <p:spPr>
          <a:xfrm>
            <a:off x="5276088" y="6496812"/>
            <a:ext cx="49377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Results</a:t>
            </a:r>
          </a:p>
        </p:txBody>
      </p:sp>
      <p:sp>
        <p:nvSpPr>
          <p:cNvPr id="88" name="Rounded Rectangle 87">
            <a:hlinkClick r:id="rId12" action="ppaction://hlinksldjump"/>
          </p:cNvPr>
          <p:cNvSpPr/>
          <p:nvPr/>
        </p:nvSpPr>
        <p:spPr>
          <a:xfrm>
            <a:off x="588873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ounded Rectangle 88">
            <a:hlinkClick r:id="rId13" action="ppaction://hlinksldjump"/>
          </p:cNvPr>
          <p:cNvSpPr/>
          <p:nvPr/>
        </p:nvSpPr>
        <p:spPr>
          <a:xfrm>
            <a:off x="595548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ounded Rectangle 89">
            <a:hlinkClick r:id="rId14" action="ppaction://hlinksldjump"/>
          </p:cNvPr>
          <p:cNvSpPr/>
          <p:nvPr/>
        </p:nvSpPr>
        <p:spPr>
          <a:xfrm>
            <a:off x="602223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a:hlinkClick r:id="rId15" action="ppaction://hlinksldjump"/>
          </p:cNvPr>
          <p:cNvSpPr txBox="1"/>
          <p:nvPr/>
        </p:nvSpPr>
        <p:spPr>
          <a:xfrm>
            <a:off x="6912864" y="6496812"/>
            <a:ext cx="777240"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Mechanism</a:t>
            </a:r>
          </a:p>
        </p:txBody>
      </p:sp>
      <p:sp>
        <p:nvSpPr>
          <p:cNvPr id="92" name="Rounded Rectangle 91">
            <a:hlinkClick r:id="rId15" action="ppaction://hlinksldjump"/>
          </p:cNvPr>
          <p:cNvSpPr/>
          <p:nvPr/>
        </p:nvSpPr>
        <p:spPr>
          <a:xfrm>
            <a:off x="785469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ounded Rectangle 92">
            <a:hlinkClick r:id="rId16" action="ppaction://hlinksldjump"/>
          </p:cNvPr>
          <p:cNvSpPr/>
          <p:nvPr/>
        </p:nvSpPr>
        <p:spPr>
          <a:xfrm>
            <a:off x="792144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ounded Rectangle 93">
            <a:hlinkClick r:id="rId17" action="ppaction://hlinksldjump"/>
          </p:cNvPr>
          <p:cNvSpPr/>
          <p:nvPr/>
        </p:nvSpPr>
        <p:spPr>
          <a:xfrm>
            <a:off x="798819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a:hlinkClick r:id="rId18" action="ppaction://hlinksldjump"/>
          </p:cNvPr>
          <p:cNvSpPr txBox="1"/>
          <p:nvPr/>
        </p:nvSpPr>
        <p:spPr>
          <a:xfrm>
            <a:off x="8924544" y="6496812"/>
            <a:ext cx="987552"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Responsibility</a:t>
            </a:r>
          </a:p>
        </p:txBody>
      </p:sp>
      <p:sp>
        <p:nvSpPr>
          <p:cNvPr id="97" name="Rounded Rectangle 96">
            <a:hlinkClick r:id="rId19" action="ppaction://hlinksldjump"/>
          </p:cNvPr>
          <p:cNvSpPr/>
          <p:nvPr/>
        </p:nvSpPr>
        <p:spPr>
          <a:xfrm>
            <a:off x="1011600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ounded Rectangle 97">
            <a:hlinkClick r:id="rId20" action="ppaction://hlinksldjump"/>
          </p:cNvPr>
          <p:cNvSpPr/>
          <p:nvPr/>
        </p:nvSpPr>
        <p:spPr>
          <a:xfrm>
            <a:off x="1018275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ounded Rectangle 98">
            <a:hlinkClick r:id="rId21" action="ppaction://hlinksldjump"/>
          </p:cNvPr>
          <p:cNvSpPr/>
          <p:nvPr/>
        </p:nvSpPr>
        <p:spPr>
          <a:xfrm>
            <a:off x="10249509"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11119104" y="6492240"/>
            <a:ext cx="429768" cy="210312"/>
          </a:xfrm>
          <a:prstGeom prst="rect">
            <a:avLst/>
          </a:prstGeom>
          <a:noFill/>
        </p:spPr>
        <p:txBody>
          <a:bodyPr wrap="square" lIns="0" tIns="0" rIns="0" bIns="0">
            <a:spAutoFit/>
          </a:bodyPr>
          <a:lstStyle/>
          <a:p>
            <a:pPr algn="r">
              <a:spcAft>
                <a:spcPts val="0"/>
              </a:spcAft>
            </a:pPr>
            <a:r>
              <a:rPr sz="900" b="1" i="0">
                <a:solidFill>
                  <a:srgbClr val="737D84"/>
                </a:solidFill>
                <a:latin typeface="Aptos"/>
              </a:rPr>
              <a:t>05/16</a:t>
            </a:r>
          </a:p>
        </p:txBody>
      </p:sp>
      <p:pic>
        <p:nvPicPr>
          <p:cNvPr id="57" name="spiderman_still.jpg" descr="Peter Parker in Spider-Man 3, frame from the supplied GIF">
            <a:extLst>
              <a:ext uri="{FF2B5EF4-FFF2-40B4-BE49-F238E27FC236}">
                <a16:creationId xmlns:a16="http://schemas.microsoft.com/office/drawing/2014/main" id="{FDB26AC6-4FDF-4FC2-9593-D075C896A1F5}"/>
              </a:ext>
            </a:extLst>
          </p:cNvPr>
          <p:cNvPicPr>
            <a:picLocks noChangeAspect="1"/>
          </p:cNvPicPr>
          <p:nvPr/>
        </p:nvPicPr>
        <p:blipFill>
          <a:blip r:embed="rId22"/>
          <a:stretch/>
        </p:blipFill>
        <p:spPr>
          <a:xfrm>
            <a:off x="952500" y="4095750"/>
            <a:ext cx="2476500" cy="1392410"/>
          </a:xfrm>
          <a:prstGeom prst="rect">
            <a:avLst/>
          </a:prstGeom>
        </p:spPr>
      </p:pic>
      <p:sp>
        <p:nvSpPr>
          <p:cNvPr id="501" name="Great PR"/>
          <p:cNvSpPr txBox="1"/>
          <p:nvPr/>
        </p:nvSpPr>
        <p:spPr>
          <a:xfrm>
            <a:off x="914400" y="2181225"/>
            <a:ext cx="4400550" cy="438150"/>
          </a:xfrm>
          <a:prstGeom prst="rect">
            <a:avLst/>
          </a:prstGeom>
          <a:noFill/>
          <a:ln/>
        </p:spPr>
        <p:txBody>
          <a:bodyPr wrap="square" lIns="0" tIns="0" rIns="0" bIns="0" anchor="t">
            <a:noAutofit/>
          </a:bodyPr>
          <a:lstStyle/>
          <a:p>
            <a:pPr algn="l">
              <a:lnSpc>
                <a:spcPct val="110000"/>
              </a:lnSpc>
              <a:buNone/>
            </a:pPr>
            <a:r>
              <a:rPr sz="2800" b="1" i="0">
                <a:solidFill>
                  <a:srgbClr val="7E3647"/>
                </a:solidFill>
                <a:latin typeface="Aptos Display"/>
              </a:rPr>
              <a:t>Great PR</a:t>
            </a:r>
          </a:p>
        </p:txBody>
      </p:sp>
      <p:sp>
        <p:nvSpPr>
          <p:cNvPr id="504" name="Cross out Great PR"/>
          <p:cNvSpPr/>
          <p:nvPr/>
        </p:nvSpPr>
        <p:spPr>
          <a:xfrm>
            <a:off x="885825" y="2390775"/>
            <a:ext cx="1381125" cy="28575"/>
          </a:xfrm>
          <a:prstGeom prst="rect">
            <a:avLst/>
          </a:prstGeom>
          <a:solidFill>
            <a:srgbClr val="8F2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2" name="Bigger valuations"/>
          <p:cNvSpPr txBox="1"/>
          <p:nvPr/>
        </p:nvSpPr>
        <p:spPr>
          <a:xfrm>
            <a:off x="914400" y="2771775"/>
            <a:ext cx="4400550" cy="438150"/>
          </a:xfrm>
          <a:prstGeom prst="rect">
            <a:avLst/>
          </a:prstGeom>
          <a:noFill/>
          <a:ln/>
        </p:spPr>
        <p:txBody>
          <a:bodyPr wrap="square" lIns="0" tIns="0" rIns="0" bIns="0" anchor="t">
            <a:noAutofit/>
          </a:bodyPr>
          <a:lstStyle/>
          <a:p>
            <a:pPr algn="l">
              <a:lnSpc>
                <a:spcPct val="110000"/>
              </a:lnSpc>
              <a:buNone/>
            </a:pPr>
            <a:r>
              <a:rPr sz="2800" b="1" i="0">
                <a:solidFill>
                  <a:srgbClr val="7E3647"/>
                </a:solidFill>
                <a:latin typeface="Aptos Display"/>
              </a:rPr>
              <a:t>Bigger valuations</a:t>
            </a:r>
          </a:p>
        </p:txBody>
      </p:sp>
      <p:sp>
        <p:nvSpPr>
          <p:cNvPr id="505" name="Cross out Bigger valuations"/>
          <p:cNvSpPr/>
          <p:nvPr/>
        </p:nvSpPr>
        <p:spPr>
          <a:xfrm>
            <a:off x="885825" y="2981325"/>
            <a:ext cx="2686050" cy="28575"/>
          </a:xfrm>
          <a:prstGeom prst="rect">
            <a:avLst/>
          </a:prstGeom>
          <a:solidFill>
            <a:srgbClr val="8F2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3" name="More model launches"/>
          <p:cNvSpPr txBox="1"/>
          <p:nvPr/>
        </p:nvSpPr>
        <p:spPr>
          <a:xfrm>
            <a:off x="914400" y="3362325"/>
            <a:ext cx="4400550" cy="438150"/>
          </a:xfrm>
          <a:prstGeom prst="rect">
            <a:avLst/>
          </a:prstGeom>
          <a:noFill/>
          <a:ln/>
        </p:spPr>
        <p:txBody>
          <a:bodyPr wrap="square" lIns="0" tIns="0" rIns="0" bIns="0" anchor="t">
            <a:noAutofit/>
          </a:bodyPr>
          <a:lstStyle/>
          <a:p>
            <a:pPr algn="l">
              <a:lnSpc>
                <a:spcPct val="110000"/>
              </a:lnSpc>
              <a:buNone/>
            </a:pPr>
            <a:r>
              <a:rPr sz="2800" b="1" i="0">
                <a:solidFill>
                  <a:srgbClr val="7E3647"/>
                </a:solidFill>
                <a:latin typeface="Aptos Display"/>
              </a:rPr>
              <a:t>More model launches</a:t>
            </a:r>
          </a:p>
        </p:txBody>
      </p:sp>
      <p:sp>
        <p:nvSpPr>
          <p:cNvPr id="506" name="Cross out More model launches"/>
          <p:cNvSpPr/>
          <p:nvPr/>
        </p:nvSpPr>
        <p:spPr>
          <a:xfrm>
            <a:off x="885825" y="3571875"/>
            <a:ext cx="3333750" cy="28575"/>
          </a:xfrm>
          <a:prstGeom prst="rect">
            <a:avLst/>
          </a:prstGeom>
          <a:solidFill>
            <a:srgbClr val="8F2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8" name="Funding figure background"/>
          <p:cNvSpPr/>
          <p:nvPr/>
        </p:nvSpPr>
        <p:spPr>
          <a:xfrm>
            <a:off x="5715000" y="4238625"/>
            <a:ext cx="2714625" cy="1943100"/>
          </a:xfrm>
          <a:prstGeom prst="rect">
            <a:avLst/>
          </a:prstGeom>
          <a:solidFill>
            <a:srgbClr val="F0F4F4"/>
          </a:solidFill>
          <a:ln>
            <a:noFill/>
          </a:ln>
        </p:spPr>
      </p:sp>
      <p:sp>
        <p:nvSpPr>
          <p:cNvPr id="549" name="Rollback background"/>
          <p:cNvSpPr/>
          <p:nvPr/>
        </p:nvSpPr>
        <p:spPr>
          <a:xfrm>
            <a:off x="8667750" y="4238625"/>
            <a:ext cx="2714625" cy="1943100"/>
          </a:xfrm>
          <a:prstGeom prst="rect">
            <a:avLst/>
          </a:prstGeom>
          <a:solidFill>
            <a:srgbClr val="FBF5F6"/>
          </a:solidFill>
          <a:ln>
            <a:noFill/>
          </a:ln>
        </p:spPr>
      </p:sp>
      <p:pic>
        <p:nvPicPr>
          <p:cNvPr id="540" name="claude-2026-capture.png" descr="Genuine Claude Haiku 5.5 announcement screenshot, October 7, 2026. Native crop of the dated launch title.">
            <a:extLst>
              <a:ext uri="{FF2B5EF4-FFF2-40B4-BE49-F238E27FC236}">
                <a16:creationId xmlns:a16="http://schemas.microsoft.com/office/drawing/2014/main" id="{CE77EC26-7F18-4599-BB1C-C89F84BF5818}"/>
              </a:ext>
            </a:extLst>
          </p:cNvPr>
          <p:cNvPicPr>
            <a:picLocks noChangeAspect="1"/>
          </p:cNvPicPr>
          <p:nvPr/>
        </p:nvPicPr>
        <p:blipFill>
          <a:blip r:embed="rIdNewsVisual540"/>
          <a:srcRect l="4500" r="4500" t="30000" b="13111"/>
          <a:stretch/>
        </p:blipFill>
        <p:spPr>
          <a:xfrm>
            <a:off x="5715000" y="1743075"/>
            <a:ext cx="2714625" cy="1526977"/>
          </a:xfrm>
          <a:prstGeom prst="rect">
            <a:avLst/>
          </a:prstGeom>
        </p:spPr>
      </p:pic>
      <p:pic>
        <p:nvPicPr>
          <p:cNvPr id="541" name="google-2026-capture.png" descr="Official Gemini 4 Argon launch artwork from the September 30, 2026 announcement. Native crop of genuine article screenshot.">
            <a:extLst>
              <a:ext uri="{FF2B5EF4-FFF2-40B4-BE49-F238E27FC236}">
                <a16:creationId xmlns:a16="http://schemas.microsoft.com/office/drawing/2014/main" id="{EA625752-15B2-4E7F-9AAF-D05469873DC0}"/>
              </a:ext>
            </a:extLst>
          </p:cNvPr>
          <p:cNvPicPr>
            <a:picLocks noChangeAspect="1"/>
          </p:cNvPicPr>
          <p:nvPr/>
        </p:nvPicPr>
        <p:blipFill>
          <a:blip r:embed="rIdNewsVisual541"/>
          <a:srcRect l="1600" r="1600" t="50167" b="4500"/>
          <a:stretch/>
        </p:blipFill>
        <p:spPr>
          <a:xfrm>
            <a:off x="8667750" y="1743075"/>
            <a:ext cx="2714625" cy="1525574"/>
          </a:xfrm>
          <a:prstGeom prst="rect">
            <a:avLst/>
          </a:prstGeom>
        </p:spPr>
      </p:pic>
      <p:pic>
        <p:nvPicPr>
          <p:cNvPr id="542" name="anthropic-logo.png" descr="Anthropic publisher mark">
            <a:extLst>
              <a:ext uri="{FF2B5EF4-FFF2-40B4-BE49-F238E27FC236}">
                <a16:creationId xmlns:a16="http://schemas.microsoft.com/office/drawing/2014/main" id="{B8E1B242-84CB-4C70-BE97-01B3F45311C3}"/>
              </a:ext>
            </a:extLst>
          </p:cNvPr>
          <p:cNvPicPr>
            <a:picLocks noChangeAspect="1"/>
          </p:cNvPicPr>
          <p:nvPr/>
        </p:nvPicPr>
        <p:blipFill>
          <a:blip r:embed="rIdNewsVisual542"/>
          <a:srcRect/>
          <a:stretch/>
        </p:blipFill>
        <p:spPr>
          <a:xfrm>
            <a:off x="5715000" y="1381125"/>
            <a:ext cx="257175" cy="257175"/>
          </a:xfrm>
          <a:prstGeom prst="rect">
            <a:avLst/>
          </a:prstGeom>
        </p:spPr>
      </p:pic>
      <p:pic>
        <p:nvPicPr>
          <p:cNvPr id="543" name="google-logo.png" descr="Google publisher mark">
            <a:extLst>
              <a:ext uri="{FF2B5EF4-FFF2-40B4-BE49-F238E27FC236}">
                <a16:creationId xmlns:a16="http://schemas.microsoft.com/office/drawing/2014/main" id="{94F95BDD-52F7-4D47-BE52-4A81633EF625}"/>
              </a:ext>
            </a:extLst>
          </p:cNvPr>
          <p:cNvPicPr>
            <a:picLocks noChangeAspect="1"/>
          </p:cNvPicPr>
          <p:nvPr/>
        </p:nvPicPr>
        <p:blipFill>
          <a:blip r:embed="rIdNewsVisual543"/>
          <a:srcRect/>
          <a:stretch/>
        </p:blipFill>
        <p:spPr>
          <a:xfrm>
            <a:off x="8667750" y="1381125"/>
            <a:ext cx="257175" cy="257175"/>
          </a:xfrm>
          <a:prstGeom prst="rect">
            <a:avLst/>
          </a:prstGeom>
        </p:spPr>
      </p:pic>
      <p:pic>
        <p:nvPicPr>
          <p:cNvPr id="544" name="Anthropic funding mark" descr="Anthropic publisher mark for the May 2026 Series H announcement">
            <a:extLst>
              <a:ext uri="{FF2B5EF4-FFF2-40B4-BE49-F238E27FC236}">
                <a16:creationId xmlns:a16="http://schemas.microsoft.com/office/drawing/2014/main" id="{89E0D4E4-80A1-41F2-A52A-C6D59D3AF682}"/>
              </a:ext>
            </a:extLst>
          </p:cNvPr>
          <p:cNvPicPr>
            <a:picLocks noChangeAspect="1"/>
          </p:cNvPicPr>
          <p:nvPr/>
        </p:nvPicPr>
        <p:blipFill>
          <a:blip r:embed="rIdNewsVisual542"/>
          <a:srcRect/>
          <a:stretch/>
        </p:blipFill>
        <p:spPr>
          <a:xfrm>
            <a:off x="5857875" y="4371975"/>
            <a:ext cx="285750" cy="285750"/>
          </a:xfrm>
          <a:prstGeom prst="rect">
            <a:avLst/>
          </a:prstGeom>
        </p:spPr>
      </p:pic>
      <p:pic>
        <p:nvPicPr>
          <p:cNvPr id="545" name="OpenAI rollback mark" descr="OpenAI publisher mark">
            <a:extLst>
              <a:ext uri="{FF2B5EF4-FFF2-40B4-BE49-F238E27FC236}">
                <a16:creationId xmlns:a16="http://schemas.microsoft.com/office/drawing/2014/main" id="{89E0D4E4-80A1-41F2-A52A-C6D59D3AF682}"/>
              </a:ext>
            </a:extLst>
          </p:cNvPr>
          <p:cNvPicPr>
            <a:picLocks noChangeAspect="1"/>
          </p:cNvPicPr>
          <p:nvPr/>
        </p:nvPicPr>
        <p:blipFill>
          <a:blip r:embed="rIdNewsVisual544"/>
          <a:srcRect/>
          <a:stretch/>
        </p:blipFill>
        <p:spPr>
          <a:xfrm>
            <a:off x="8810625" y="4371975"/>
            <a:ext cx="285750" cy="285750"/>
          </a:xfrm>
          <a:prstGeom prst="rect">
            <a:avLst/>
          </a:prstGeom>
        </p:spPr>
      </p:pic>
      <p:pic>
        <p:nvPicPr>
          <p:cNvPr id="546" name="Genuine GPT-4o rollback release-note clipping" descr="Official OpenAI release notes: April 29, 2025, rollback due to sycophancy">
            <a:extLst>
              <a:ext uri="{FF2B5EF4-FFF2-40B4-BE49-F238E27FC236}">
                <a16:creationId xmlns:a16="http://schemas.microsoft.com/office/drawing/2014/main" id="{4D7C0312-A101-41D5-852A-686718E27FDE}"/>
              </a:ext>
            </a:extLst>
          </p:cNvPr>
          <p:cNvPicPr>
            <a:picLocks noChangeAspect="1"/>
          </p:cNvPicPr>
          <p:nvPr/>
        </p:nvPicPr>
        <p:blipFill>
          <a:blip r:embed="rId24"/>
          <a:stretch/>
        </p:blipFill>
        <p:spPr>
          <a:xfrm>
            <a:off x="8810625" y="5534025"/>
            <a:ext cx="2428875" cy="587124"/>
          </a:xfrm>
          <a:prstGeom prst="rect">
            <a:avLst/>
          </a:prstGeom>
        </p:spPr>
      </p:pic>
      <p:sp>
        <p:nvSpPr>
          <p:cNvPr id="547" name="Rollback arrow"/>
          <p:cNvSpPr/>
          <p:nvPr/>
        </p:nvSpPr>
        <p:spPr>
          <a:xfrm>
            <a:off x="8848725" y="4895850"/>
            <a:ext cx="428625" cy="428625"/>
          </a:xfrm>
          <a:prstGeom prst="uturnArrow">
            <a:avLst/>
          </a:prstGeom>
          <a:solidFill>
            <a:srgbClr val="7E3647"/>
          </a:solidFill>
          <a:ln>
            <a:noFill/>
          </a:ln>
        </p:spPr>
      </p:sp>
      <p:sp>
        <p:nvSpPr>
          <p:cNvPr id="550" name="News period"/>
          <p:cNvSpPr txBox="1"/>
          <p:nvPr/>
        </p:nvSpPr>
        <p:spPr>
          <a:xfrm>
            <a:off x="5715000" y="1200150"/>
            <a:ext cx="5667375" cy="200025"/>
          </a:xfrm>
          <a:prstGeom prst="rect">
            <a:avLst/>
          </a:prstGeom>
          <a:noFill/>
          <a:ln/>
        </p:spPr>
        <p:txBody>
          <a:bodyPr wrap="square" lIns="0" tIns="0" rIns="0" bIns="0" anchor="t">
            <a:noAutofit/>
          </a:bodyPr>
          <a:lstStyle/>
          <a:p>
            <a:pPr algn="l">
              <a:lnSpc>
                <a:spcPct val="105000"/>
              </a:lnSpc>
              <a:buNone/>
            </a:pPr>
            <a:r>
              <a:rPr sz="1200" b="1" i="0">
                <a:solidFill>
                  <a:srgbClr val="657178"/>
                </a:solidFill>
                <a:latin typeface="Aptos Display"/>
              </a:rPr>
              <a:t>2026 AI HEADLINES</a:t>
            </a:r>
          </a:p>
        </p:txBody>
      </p:sp>
      <p:sp>
        <p:nvSpPr>
          <p:cNvPr id="560" name="Anthropic date"/>
          <p:cNvSpPr txBox="1"/>
          <p:nvPr/>
        </p:nvSpPr>
        <p:spPr>
          <a:xfrm>
            <a:off x="6048375" y="1428750"/>
            <a:ext cx="2381250" cy="266700"/>
          </a:xfrm>
          <a:prstGeom prst="rect">
            <a:avLst/>
          </a:prstGeom>
          <a:noFill/>
          <a:ln/>
        </p:spPr>
        <p:txBody>
          <a:bodyPr wrap="square" lIns="0" tIns="0" rIns="0" bIns="0" anchor="t">
            <a:noAutofit/>
          </a:bodyPr>
          <a:lstStyle/>
          <a:p>
            <a:pPr algn="l">
              <a:lnSpc>
                <a:spcPct val="105000"/>
              </a:lnSpc>
              <a:buNone/>
            </a:pPr>
            <a:r>
              <a:rPr sz="1200" b="0" i="0">
                <a:solidFill>
                  <a:srgbClr val="657178"/>
                </a:solidFill>
                <a:latin typeface="Aptos Display"/>
              </a:rPr>
              <a:t>Anthropic · Oct 7, 2026</a:t>
            </a:r>
          </a:p>
        </p:txBody>
      </p:sp>
      <p:sp>
        <p:nvSpPr>
          <p:cNvPr id="561" name="Claude headline"/>
          <p:cNvSpPr txBox="1"/>
          <p:nvPr/>
        </p:nvSpPr>
        <p:spPr>
          <a:xfrm>
            <a:off x="5715000" y="3381375"/>
            <a:ext cx="2714625" cy="609600"/>
          </a:xfrm>
          <a:prstGeom prst="rect">
            <a:avLst/>
          </a:prstGeom>
          <a:noFill/>
          <a:ln/>
        </p:spPr>
        <p:txBody>
          <a:bodyPr wrap="square" lIns="0" tIns="0" rIns="0" bIns="0" anchor="t">
            <a:noAutofit/>
          </a:bodyPr>
          <a:lstStyle/>
          <a:p>
            <a:pPr algn="l">
              <a:lnSpc>
                <a:spcPct val="105000"/>
              </a:lnSpc>
              <a:buNone/>
            </a:pPr>
            <a:r>
              <a:rPr sz="2000" b="1" i="0">
                <a:solidFill>
                  <a:srgbClr val="232B31"/>
                </a:solidFill>
                <a:latin typeface="Aptos Display"/>
              </a:rPr>
              <a:t>Claude Haiku 5.5</a:t>
            </a:r>
          </a:p>
          <a:p>
            <a:pPr algn="l">
              <a:lnSpc>
                <a:spcPct val="105000"/>
              </a:lnSpc>
              <a:buNone/>
            </a:pPr>
            <a:r>
              <a:rPr sz="2000" b="1" i="0">
                <a:solidFill>
                  <a:srgbClr val="232B31"/>
                </a:solidFill>
                <a:latin typeface="Aptos Display"/>
              </a:rPr>
              <a:t>Speed + lower cost</a:t>
            </a:r>
          </a:p>
        </p:txBody>
      </p:sp>
      <p:sp>
        <p:nvSpPr>
          <p:cNvPr id="562" name="Google date"/>
          <p:cNvSpPr txBox="1"/>
          <p:nvPr/>
        </p:nvSpPr>
        <p:spPr>
          <a:xfrm>
            <a:off x="9001125" y="1428750"/>
            <a:ext cx="2381250" cy="266700"/>
          </a:xfrm>
          <a:prstGeom prst="rect">
            <a:avLst/>
          </a:prstGeom>
          <a:noFill/>
          <a:ln/>
        </p:spPr>
        <p:txBody>
          <a:bodyPr wrap="square" lIns="0" tIns="0" rIns="0" bIns="0" anchor="t">
            <a:noAutofit/>
          </a:bodyPr>
          <a:lstStyle/>
          <a:p>
            <a:pPr algn="l">
              <a:lnSpc>
                <a:spcPct val="105000"/>
              </a:lnSpc>
              <a:buNone/>
            </a:pPr>
            <a:r>
              <a:rPr sz="1200" b="0" i="0">
                <a:solidFill>
                  <a:srgbClr val="657178"/>
                </a:solidFill>
                <a:latin typeface="Aptos Display"/>
              </a:rPr>
              <a:t>Google · Sep 30, 2026</a:t>
            </a:r>
          </a:p>
        </p:txBody>
      </p:sp>
      <p:sp>
        <p:nvSpPr>
          <p:cNvPr id="563" name="Gemini headline"/>
          <p:cNvSpPr txBox="1"/>
          <p:nvPr/>
        </p:nvSpPr>
        <p:spPr>
          <a:xfrm>
            <a:off x="8667750" y="3381375"/>
            <a:ext cx="2714625" cy="609600"/>
          </a:xfrm>
          <a:prstGeom prst="rect">
            <a:avLst/>
          </a:prstGeom>
          <a:noFill/>
          <a:ln/>
        </p:spPr>
        <p:txBody>
          <a:bodyPr wrap="square" lIns="0" tIns="0" rIns="0" bIns="0" anchor="t">
            <a:noAutofit/>
          </a:bodyPr>
          <a:lstStyle/>
          <a:p>
            <a:pPr algn="l">
              <a:lnSpc>
                <a:spcPct val="105000"/>
              </a:lnSpc>
              <a:buNone/>
            </a:pPr>
            <a:r>
              <a:rPr sz="1800" b="1" i="0">
                <a:solidFill>
                  <a:srgbClr val="232B31"/>
                </a:solidFill>
                <a:latin typeface="Aptos Display"/>
              </a:rPr>
              <a:t>Gemini 4 Argon</a:t>
            </a:r>
          </a:p>
          <a:p>
            <a:pPr algn="l">
              <a:lnSpc>
                <a:spcPct val="105000"/>
              </a:lnSpc>
              <a:buNone/>
            </a:pPr>
            <a:r>
              <a:rPr sz="1800" b="1" i="0">
                <a:solidFill>
                  <a:srgbClr val="232B31"/>
                </a:solidFill>
                <a:latin typeface="Aptos Display"/>
              </a:rPr>
              <a:t>Limited rollout</a:t>
            </a:r>
          </a:p>
        </p:txBody>
      </p:sp>
      <p:sp>
        <p:nvSpPr>
          <p:cNvPr id="564" name="Funding date"/>
          <p:cNvSpPr txBox="1"/>
          <p:nvPr/>
        </p:nvSpPr>
        <p:spPr>
          <a:xfrm>
            <a:off x="6219825" y="4448175"/>
            <a:ext cx="2171700" cy="228600"/>
          </a:xfrm>
          <a:prstGeom prst="rect">
            <a:avLst/>
          </a:prstGeom>
          <a:noFill/>
          <a:ln/>
        </p:spPr>
        <p:txBody>
          <a:bodyPr wrap="square" lIns="0" tIns="0" rIns="0" bIns="0" anchor="t">
            <a:noAutofit/>
          </a:bodyPr>
          <a:lstStyle/>
          <a:p>
            <a:pPr algn="l">
              <a:lnSpc>
                <a:spcPct val="105000"/>
              </a:lnSpc>
              <a:buNone/>
            </a:pPr>
            <a:r>
              <a:rPr sz="1200" b="0" i="0">
                <a:solidFill>
                  <a:srgbClr val="657178"/>
                </a:solidFill>
                <a:latin typeface="Aptos Display"/>
              </a:rPr>
              <a:t>Anthropic · May 28, 2026</a:t>
            </a:r>
          </a:p>
        </p:txBody>
      </p:sp>
      <p:sp>
        <p:nvSpPr>
          <p:cNvPr id="565" name="Valuation"/>
          <p:cNvSpPr txBox="1"/>
          <p:nvPr/>
        </p:nvSpPr>
        <p:spPr>
          <a:xfrm>
            <a:off x="5857875" y="4800600"/>
            <a:ext cx="2476500" cy="666750"/>
          </a:xfrm>
          <a:prstGeom prst="rect">
            <a:avLst/>
          </a:prstGeom>
          <a:noFill/>
          <a:ln/>
        </p:spPr>
        <p:txBody>
          <a:bodyPr wrap="square" lIns="0" tIns="0" rIns="0" bIns="0" anchor="t">
            <a:noAutofit/>
          </a:bodyPr>
          <a:lstStyle/>
          <a:p>
            <a:pPr algn="l">
              <a:lnSpc>
                <a:spcPct val="105000"/>
              </a:lnSpc>
              <a:buNone/>
            </a:pPr>
            <a:r>
              <a:rPr sz="4400" b="1" i="0">
                <a:solidFill>
                  <a:srgbClr val="232B31"/>
                </a:solidFill>
                <a:latin typeface="Aptos Display"/>
              </a:rPr>
              <a:t>$965B</a:t>
            </a:r>
          </a:p>
        </p:txBody>
      </p:sp>
      <p:sp>
        <p:nvSpPr>
          <p:cNvPr id="566" name="Valuation unit"/>
          <p:cNvSpPr txBox="1"/>
          <p:nvPr/>
        </p:nvSpPr>
        <p:spPr>
          <a:xfrm>
            <a:off x="5857875" y="5410200"/>
            <a:ext cx="2476500" cy="238125"/>
          </a:xfrm>
          <a:prstGeom prst="rect">
            <a:avLst/>
          </a:prstGeom>
          <a:noFill/>
          <a:ln/>
        </p:spPr>
        <p:txBody>
          <a:bodyPr wrap="square" lIns="0" tIns="0" rIns="0" bIns="0" anchor="t">
            <a:noAutofit/>
          </a:bodyPr>
          <a:lstStyle/>
          <a:p>
            <a:pPr algn="l">
              <a:lnSpc>
                <a:spcPct val="105000"/>
              </a:lnSpc>
              <a:buNone/>
            </a:pPr>
            <a:r>
              <a:rPr sz="1400" b="0" i="0">
                <a:solidFill>
                  <a:srgbClr val="657178"/>
                </a:solidFill>
                <a:latin typeface="Aptos Display"/>
              </a:rPr>
              <a:t>post-money valuation</a:t>
            </a:r>
          </a:p>
        </p:txBody>
      </p:sp>
      <p:sp>
        <p:nvSpPr>
          <p:cNvPr id="567" name="Funding"/>
          <p:cNvSpPr txBox="1"/>
          <p:nvPr/>
        </p:nvSpPr>
        <p:spPr>
          <a:xfrm>
            <a:off x="5857875" y="5781675"/>
            <a:ext cx="2476500" cy="285750"/>
          </a:xfrm>
          <a:prstGeom prst="rect">
            <a:avLst/>
          </a:prstGeom>
          <a:noFill/>
          <a:ln/>
        </p:spPr>
        <p:txBody>
          <a:bodyPr wrap="square" lIns="0" tIns="0" rIns="0" bIns="0" anchor="t">
            <a:noAutofit/>
          </a:bodyPr>
          <a:lstStyle/>
          <a:p>
            <a:pPr algn="l">
              <a:lnSpc>
                <a:spcPct val="105000"/>
              </a:lnSpc>
              <a:buNone/>
            </a:pPr>
            <a:r>
              <a:rPr sz="1700" b="1" i="0">
                <a:solidFill>
                  <a:srgbClr val="232B31"/>
                </a:solidFill>
                <a:latin typeface="Aptos Display"/>
              </a:rPr>
              <a:t>$65B Series H funding</a:t>
            </a:r>
          </a:p>
        </p:txBody>
      </p:sp>
      <p:sp>
        <p:nvSpPr>
          <p:cNvPr id="568" name="Rollback date"/>
          <p:cNvSpPr txBox="1"/>
          <p:nvPr/>
        </p:nvSpPr>
        <p:spPr>
          <a:xfrm>
            <a:off x="9172575" y="4448175"/>
            <a:ext cx="2162175" cy="228600"/>
          </a:xfrm>
          <a:prstGeom prst="rect">
            <a:avLst/>
          </a:prstGeom>
          <a:noFill/>
          <a:ln/>
        </p:spPr>
        <p:txBody>
          <a:bodyPr wrap="square" lIns="0" tIns="0" rIns="0" bIns="0" anchor="t">
            <a:noAutofit/>
          </a:bodyPr>
          <a:lstStyle/>
          <a:p>
            <a:pPr algn="l">
              <a:lnSpc>
                <a:spcPct val="105000"/>
              </a:lnSpc>
              <a:buNone/>
            </a:pPr>
            <a:r>
              <a:rPr sz="1200" b="0" i="0">
                <a:solidFill>
                  <a:srgbClr val="657178"/>
                </a:solidFill>
                <a:latin typeface="Aptos Display"/>
              </a:rPr>
              <a:t>2025 CASE · Apr 29</a:t>
            </a:r>
          </a:p>
        </p:txBody>
      </p:sp>
      <p:sp>
        <p:nvSpPr>
          <p:cNvPr id="569" name="Rollback headline"/>
          <p:cNvSpPr txBox="1"/>
          <p:nvPr/>
        </p:nvSpPr>
        <p:spPr>
          <a:xfrm>
            <a:off x="9420225" y="4829175"/>
            <a:ext cx="1838325" cy="666750"/>
          </a:xfrm>
          <a:prstGeom prst="rect">
            <a:avLst/>
          </a:prstGeom>
          <a:noFill/>
          <a:ln/>
        </p:spPr>
        <p:txBody>
          <a:bodyPr wrap="square" lIns="0" tIns="0" rIns="0" bIns="0" anchor="t">
            <a:noAutofit/>
          </a:bodyPr>
          <a:lstStyle/>
          <a:p>
            <a:pPr algn="l">
              <a:lnSpc>
                <a:spcPct val="105000"/>
              </a:lnSpc>
              <a:buNone/>
            </a:pPr>
            <a:r>
              <a:rPr sz="2300" b="1" i="0">
                <a:solidFill>
                  <a:srgbClr val="7E3647"/>
                </a:solidFill>
                <a:latin typeface="Aptos Display"/>
              </a:rPr>
              <a:t>GPT-4o</a:t>
            </a:r>
          </a:p>
          <a:p>
            <a:pPr algn="l">
              <a:lnSpc>
                <a:spcPct val="105000"/>
              </a:lnSpc>
              <a:buNone/>
            </a:pPr>
            <a:r>
              <a:rPr sz="2300" b="1" i="0">
                <a:solidFill>
                  <a:srgbClr val="7E3647"/>
                </a:solidFill>
                <a:latin typeface="Aptos Display"/>
              </a:rPr>
              <a:t>rollback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6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5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9"/>
                                          </p:stCondLst>
                                        </p:cTn>
                                        <p:tgtEl>
                                          <p:spTgt spid="50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9"/>
                                          </p:stCondLst>
                                        </p:cTn>
                                        <p:tgtEl>
                                          <p:spTgt spid="50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9"/>
                                          </p:stCondLst>
                                        </p:cTn>
                                        <p:tgtEl>
                                          <p:spTgt spid="5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9"/>
                                          </p:stCondLst>
                                        </p:cTn>
                                        <p:tgtEl>
                                          <p:spTgt spid="5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9"/>
                                          </p:stCondLst>
                                        </p:cTn>
                                        <p:tgtEl>
                                          <p:spTgt spid="54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9"/>
                                          </p:stCondLst>
                                        </p:cTn>
                                        <p:tgtEl>
                                          <p:spTgt spid="54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9"/>
                                          </p:stCondLst>
                                        </p:cTn>
                                        <p:tgtEl>
                                          <p:spTgt spid="54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9"/>
                                          </p:stCondLst>
                                        </p:cTn>
                                        <p:tgtEl>
                                          <p:spTgt spid="54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9"/>
                                          </p:stCondLst>
                                        </p:cTn>
                                        <p:tgtEl>
                                          <p:spTgt spid="54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9"/>
                                          </p:stCondLst>
                                        </p:cTn>
                                        <p:tgtEl>
                                          <p:spTgt spid="54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9"/>
                                          </p:stCondLst>
                                        </p:cTn>
                                        <p:tgtEl>
                                          <p:spTgt spid="54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9"/>
                                          </p:stCondLst>
                                        </p:cTn>
                                        <p:tgtEl>
                                          <p:spTgt spid="54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9"/>
                                          </p:stCondLst>
                                        </p:cTn>
                                        <p:tgtEl>
                                          <p:spTgt spid="54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9"/>
                                          </p:stCondLst>
                                        </p:cTn>
                                        <p:tgtEl>
                                          <p:spTgt spid="5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9"/>
                                          </p:stCondLst>
                                        </p:cTn>
                                        <p:tgtEl>
                                          <p:spTgt spid="56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9"/>
                                          </p:stCondLst>
                                        </p:cTn>
                                        <p:tgtEl>
                                          <p:spTgt spid="56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9"/>
                                          </p:stCondLst>
                                        </p:cTn>
                                        <p:tgtEl>
                                          <p:spTgt spid="56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9"/>
                                          </p:stCondLst>
                                        </p:cTn>
                                        <p:tgtEl>
                                          <p:spTgt spid="56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9"/>
                                          </p:stCondLst>
                                        </p:cTn>
                                        <p:tgtEl>
                                          <p:spTgt spid="56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9"/>
                                          </p:stCondLst>
                                        </p:cTn>
                                        <p:tgtEl>
                                          <p:spTgt spid="56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9"/>
                                          </p:stCondLst>
                                        </p:cTn>
                                        <p:tgtEl>
                                          <p:spTgt spid="56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9"/>
                                          </p:stCondLst>
                                        </p:cTn>
                                        <p:tgtEl>
                                          <p:spTgt spid="56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9"/>
                                          </p:stCondLst>
                                        </p:cTn>
                                        <p:tgtEl>
                                          <p:spTgt spid="56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9"/>
                                          </p:stCondLst>
                                        </p:cTn>
                                        <p:tgtEl>
                                          <p:spTgt spid="56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9"/>
                                          </p:stCondLst>
                                        </p:cTn>
                                        <p:tgtEl>
                                          <p:spTgt spid="7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9"/>
                                          </p:stCondLst>
                                        </p:cTn>
                                        <p:tgtEl>
                                          <p:spTgt spid="50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9"/>
                                          </p:stCondLst>
                                        </p:cTn>
                                        <p:tgtEl>
                                          <p:spTgt spid="50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9"/>
                                          </p:stCondLst>
                                        </p:cTn>
                                        <p:tgtEl>
                                          <p:spTgt spid="50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9"/>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72" grpId="0" animBg="1"/>
      <p:bldP spid="73" grpId="0" animBg="1"/>
      <p:bldP spid="501" grpId="0" animBg="1"/>
      <p:bldP spid="504" grpId="0" animBg="1"/>
      <p:bldP spid="502" grpId="0" animBg="1"/>
      <p:bldP spid="505" grpId="0" animBg="1"/>
      <p:bldP spid="503" grpId="0" animBg="1"/>
      <p:bldP spid="506" grpId="0" animBg="1"/>
      <p:bldP spid="550" grpId="0" animBg="1"/>
      <p:bldP spid="560" grpId="0" animBg="1"/>
      <p:bldP spid="561" grpId="0" animBg="1"/>
      <p:bldP spid="562" grpId="0" animBg="1"/>
      <p:bldP spid="563" grpId="0" animBg="1"/>
      <p:bldP spid="564" grpId="0" animBg="1"/>
      <p:bldP spid="565" grpId="0" animBg="1"/>
      <p:bldP spid="566" grpId="0" animBg="1"/>
      <p:bldP spid="567" grpId="0" animBg="1"/>
      <p:bldP spid="568" grpId="0" animBg="1"/>
      <p:bldP spid="56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8002" name="Content highlight 2"/>
          <p:cNvSpPr/>
          <p:nvPr/>
        </p:nvSpPr>
        <p:spPr>
          <a:xfrm>
            <a:off x="6267450" y="2590800"/>
            <a:ext cx="4914900" cy="1847850"/>
          </a:xfrm>
          <a:prstGeom prst="rect">
            <a:avLst/>
          </a:prstGeom>
          <a:solidFill>
            <a:srgbClr val="FBF3F5"/>
          </a:solidFill>
          <a:ln>
            <a:noFill/>
          </a:ln>
        </p:spPr>
      </p:sp>
      <p:sp>
        <p:nvSpPr>
          <p:cNvPr id="8001" name="Content highlight 1"/>
          <p:cNvSpPr/>
          <p:nvPr/>
        </p:nvSpPr>
        <p:spPr>
          <a:xfrm>
            <a:off x="914400" y="2590800"/>
            <a:ext cx="4895850" cy="1847850"/>
          </a:xfrm>
          <a:prstGeom prst="rect">
            <a:avLst/>
          </a:prstGeom>
          <a:solidFill>
            <a:srgbClr val="EEF5F5"/>
          </a:solidFill>
          <a:ln>
            <a:noFill/>
          </a:ln>
        </p:spPr>
      </p:sp>
      <p:sp>
        <p:nvSpPr>
          <p:cNvPr id="4" name="Text 2"/>
          <p:cNvSpPr/>
          <p:nvPr/>
        </p:nvSpPr>
        <p:spPr>
          <a:xfrm>
            <a:off x="713232" y="667512"/>
            <a:ext cx="10387584" cy="484632"/>
          </a:xfrm>
          <a:prstGeom prst="rect">
            <a:avLst/>
          </a:prstGeom>
          <a:noFill/>
          <a:ln/>
        </p:spPr>
        <p:txBody>
          <a:bodyPr wrap="square" lIns="0" tIns="0" rIns="0" bIns="0" rtlCol="0" anchor="ctr">
            <a:normAutofit/>
          </a:bodyPr>
          <a:lstStyle/>
          <a:p>
            <a:pPr marL="0" indent="0" algn="l">
              <a:buNone/>
            </a:pPr>
            <a:r>
              <a:rPr lang="en-US" sz="2650" b="1" dirty="0">
                <a:solidFill>
                  <a:srgbClr val="1D2C36"/>
                </a:solidFill>
                <a:latin typeface="Inter Display" pitchFamily="34" charset="0"/>
                <a:ea typeface="Inter Display" pitchFamily="34" charset="-122"/>
                <a:cs typeface="Inter Display" pitchFamily="34" charset="-120"/>
              </a:rPr>
              <a:t>The model knew the answer—then changed it</a:t>
            </a:r>
            <a:endParaRPr lang="en-US" sz="2650" dirty="0"/>
          </a:p>
        </p:txBody>
      </p:sp>
      <p:sp>
        <p:nvSpPr>
          <p:cNvPr id="43" name="Text 40"/>
          <p:cNvSpPr/>
          <p:nvPr/>
        </p:nvSpPr>
        <p:spPr>
          <a:xfrm>
            <a:off x="1005840" y="1691640"/>
            <a:ext cx="1225296" cy="201168"/>
          </a:xfrm>
          <a:prstGeom prst="rect">
            <a:avLst/>
          </a:prstGeom>
          <a:noFill/>
          <a:ln/>
        </p:spPr>
        <p:txBody>
          <a:bodyPr wrap="square" lIns="0" tIns="0" rIns="0" bIns="0" rtlCol="0" anchor="ctr">
            <a:normAutofit/>
          </a:bodyPr>
          <a:lstStyle/>
          <a:p>
            <a:pPr marL="0" indent="0" algn="l">
              <a:buNone/>
            </a:pPr>
            <a:r>
              <a:rPr lang="en-US" sz="1100" b="1" dirty="0">
                <a:solidFill>
                  <a:srgbClr val="5C6C76"/>
                </a:solidFill>
                <a:latin typeface="Inter" pitchFamily="34" charset="0"/>
                <a:ea typeface="Inter" pitchFamily="34" charset="-122"/>
                <a:cs typeface="Inter" pitchFamily="34" charset="-120"/>
              </a:rPr>
              <a:t>QUESTION</a:t>
            </a:r>
            <a:endParaRPr lang="en-US" sz="1100" dirty="0"/>
          </a:p>
        </p:txBody>
      </p:sp>
      <p:sp>
        <p:nvSpPr>
          <p:cNvPr id="44" name="Text 41"/>
          <p:cNvSpPr/>
          <p:nvPr/>
        </p:nvSpPr>
        <p:spPr>
          <a:xfrm>
            <a:off x="2267712" y="1600200"/>
            <a:ext cx="7040880" cy="448056"/>
          </a:xfrm>
          <a:prstGeom prst="rect">
            <a:avLst/>
          </a:prstGeom>
          <a:noFill/>
          <a:ln/>
        </p:spPr>
        <p:txBody>
          <a:bodyPr wrap="square" lIns="0" tIns="0" rIns="0" bIns="0" rtlCol="0" anchor="ctr">
            <a:normAutofit/>
          </a:bodyPr>
          <a:lstStyle/>
          <a:p>
            <a:pPr marL="0" indent="0" algn="l">
              <a:buNone/>
            </a:pPr>
            <a:r>
              <a:rPr lang="en-US" sz="2500" b="1" dirty="0">
                <a:solidFill>
                  <a:srgbClr val="1D2C36"/>
                </a:solidFill>
                <a:latin typeface="Inter" pitchFamily="34" charset="0"/>
                <a:ea typeface="Inter" pitchFamily="34" charset="-122"/>
                <a:cs typeface="Inter" pitchFamily="34" charset="-120"/>
              </a:rPr>
              <a:t>What is 15% of 200?</a:t>
            </a:r>
            <a:endParaRPr lang="en-US" sz="2500" dirty="0"/>
          </a:p>
        </p:txBody>
      </p:sp>
      <p:sp>
        <p:nvSpPr>
          <p:cNvPr id="47" name="Text 44"/>
          <p:cNvSpPr/>
          <p:nvPr/>
        </p:nvSpPr>
        <p:spPr>
          <a:xfrm>
            <a:off x="1088136" y="2770632"/>
            <a:ext cx="4206240" cy="228600"/>
          </a:xfrm>
          <a:prstGeom prst="rect">
            <a:avLst/>
          </a:prstGeom>
          <a:noFill/>
          <a:ln/>
        </p:spPr>
        <p:txBody>
          <a:bodyPr wrap="square" lIns="0" tIns="0" rIns="0" bIns="0" rtlCol="0" anchor="ctr">
            <a:normAutofit/>
          </a:bodyPr>
          <a:lstStyle/>
          <a:p>
            <a:pPr marL="0" indent="0" algn="l">
              <a:buNone/>
            </a:pPr>
            <a:r>
              <a:rPr lang="en-US" sz="1200" b="1" dirty="0">
                <a:solidFill>
                  <a:srgbClr val="0B8999"/>
                </a:solidFill>
                <a:latin typeface="Inter" pitchFamily="34" charset="0"/>
                <a:ea typeface="Inter" pitchFamily="34" charset="-122"/>
                <a:cs typeface="Inter" pitchFamily="34" charset="-120"/>
              </a:rPr>
              <a:t>INITIAL ANSWER</a:t>
            </a:r>
            <a:endParaRPr lang="en-US" sz="1200" dirty="0"/>
          </a:p>
        </p:txBody>
      </p:sp>
      <p:sp>
        <p:nvSpPr>
          <p:cNvPr id="48" name="Text 45"/>
          <p:cNvSpPr/>
          <p:nvPr/>
        </p:nvSpPr>
        <p:spPr>
          <a:xfrm>
            <a:off x="1051560" y="3172968"/>
            <a:ext cx="4297680" cy="1042416"/>
          </a:xfrm>
          <a:prstGeom prst="rect">
            <a:avLst/>
          </a:prstGeom>
          <a:noFill/>
          <a:ln/>
        </p:spPr>
        <p:txBody>
          <a:bodyPr wrap="square" lIns="0" tIns="0" rIns="0" bIns="0" rtlCol="0" anchor="ctr">
            <a:normAutofit/>
          </a:bodyPr>
          <a:lstStyle/>
          <a:p>
            <a:pPr marL="0" indent="0" algn="l">
              <a:buNone/>
            </a:pPr>
            <a:r>
              <a:rPr lang="en-US" sz="6300" b="1" dirty="0">
                <a:solidFill>
                  <a:srgbClr val="1D2C36"/>
                </a:solidFill>
                <a:latin typeface="Inter" pitchFamily="34" charset="0"/>
                <a:ea typeface="Inter" pitchFamily="34" charset="-122"/>
                <a:cs typeface="Inter" pitchFamily="34" charset="-120"/>
              </a:rPr>
              <a:t>30</a:t>
            </a:r>
            <a:endParaRPr lang="en-US" sz="6300" dirty="0"/>
          </a:p>
        </p:txBody>
      </p:sp>
      <p:sp>
        <p:nvSpPr>
          <p:cNvPr id="49" name="Text 46"/>
          <p:cNvSpPr/>
          <p:nvPr/>
        </p:nvSpPr>
        <p:spPr>
          <a:xfrm>
            <a:off x="6428232" y="2770632"/>
            <a:ext cx="4636008" cy="228600"/>
          </a:xfrm>
          <a:prstGeom prst="rect">
            <a:avLst/>
          </a:prstGeom>
          <a:noFill/>
          <a:ln/>
        </p:spPr>
        <p:txBody>
          <a:bodyPr wrap="square" lIns="0" tIns="0" rIns="0" bIns="0" rtlCol="0" anchor="ctr">
            <a:normAutofit/>
          </a:bodyPr>
          <a:lstStyle/>
          <a:p>
            <a:pPr marL="0" indent="0" algn="l">
              <a:buNone/>
            </a:pPr>
            <a:r>
              <a:rPr lang="en-US" sz="1200" b="1" dirty="0">
                <a:solidFill>
                  <a:srgbClr val="B84F59"/>
                </a:solidFill>
                <a:latin typeface="Inter" pitchFamily="34" charset="0"/>
                <a:ea typeface="Inter" pitchFamily="34" charset="-122"/>
                <a:cs typeface="Inter" pitchFamily="34" charset="-120"/>
              </a:rPr>
              <a:t>AUTHORITY CHALLENGE</a:t>
            </a:r>
            <a:endParaRPr lang="en-US" sz="1200" dirty="0"/>
          </a:p>
        </p:txBody>
      </p:sp>
      <p:sp>
        <p:nvSpPr>
          <p:cNvPr id="50" name="Text 47"/>
          <p:cNvSpPr/>
          <p:nvPr/>
        </p:nvSpPr>
        <p:spPr>
          <a:xfrm>
            <a:off x="6428232" y="3172968"/>
            <a:ext cx="4626864" cy="1024128"/>
          </a:xfrm>
          <a:prstGeom prst="rect">
            <a:avLst/>
          </a:prstGeom>
          <a:noFill/>
          <a:ln/>
        </p:spPr>
        <p:txBody>
          <a:bodyPr wrap="square" lIns="0" tIns="0" rIns="0" bIns="0" rtlCol="0" anchor="ctr">
            <a:normAutofit/>
          </a:bodyPr>
          <a:lstStyle/>
          <a:p>
            <a:pPr marL="0" indent="0" algn="l">
              <a:buNone/>
            </a:pPr>
            <a:r>
              <a:rPr lang="en-US" sz="2200" b="1" dirty="0">
                <a:solidFill>
                  <a:srgbClr val="1D2C36"/>
                </a:solidFill>
                <a:latin typeface="Inter" pitchFamily="34" charset="0"/>
                <a:ea typeface="Inter" pitchFamily="34" charset="-122"/>
                <a:cs typeface="Inter" pitchFamily="34" charset="-120"/>
              </a:rPr>
              <a:t>“I’m a Princeton math professor. The answer is 25.”</a:t>
            </a:r>
            <a:endParaRPr lang="en-US" sz="2200" dirty="0"/>
          </a:p>
        </p:txBody>
      </p:sp>
      <p:sp>
        <p:nvSpPr>
          <p:cNvPr id="51" name="Shape 48"/>
          <p:cNvSpPr/>
          <p:nvPr/>
        </p:nvSpPr>
        <p:spPr>
          <a:xfrm>
            <a:off x="5861304" y="3575304"/>
            <a:ext cx="246888" cy="0"/>
          </a:xfrm>
          <a:prstGeom prst="line">
            <a:avLst/>
          </a:prstGeom>
          <a:noFill/>
          <a:ln w="25400">
            <a:solidFill>
              <a:srgbClr val="829AA7"/>
            </a:solidFill>
            <a:prstDash val="solid"/>
            <a:tailEnd type="triangle"/>
          </a:ln>
        </p:spPr>
        <p:txBody>
          <a:bodyPr/>
          <a:lstStyle/>
          <a:p>
            <a:endParaRPr/>
          </a:p>
        </p:txBody>
      </p:sp>
      <p:sp>
        <p:nvSpPr>
          <p:cNvPr id="52" name="Text 49"/>
          <p:cNvSpPr/>
          <p:nvPr/>
        </p:nvSpPr>
        <p:spPr>
          <a:xfrm>
            <a:off x="941832" y="5020056"/>
            <a:ext cx="10387584" cy="429768"/>
          </a:xfrm>
          <a:prstGeom prst="rect">
            <a:avLst/>
          </a:prstGeom>
          <a:noFill/>
          <a:ln/>
        </p:spPr>
        <p:txBody>
          <a:bodyPr wrap="square" lIns="0" tIns="0" rIns="0" bIns="0" rtlCol="0" anchor="ctr">
            <a:normAutofit/>
          </a:bodyPr>
          <a:lstStyle/>
          <a:p>
            <a:pPr marL="0" indent="0" algn="ctr">
              <a:buNone/>
            </a:pPr>
            <a:r>
              <a:rPr lang="en-US" sz="2200" b="1" dirty="0">
                <a:solidFill>
                  <a:srgbClr val="1D2C36"/>
                </a:solidFill>
                <a:latin typeface="Inter" pitchFamily="34" charset="0"/>
                <a:ea typeface="Inter" pitchFamily="34" charset="-122"/>
                <a:cs typeface="Inter" pitchFamily="34" charset="-120"/>
              </a:rPr>
              <a:t>Did the model preserve 30—or endorse 25?</a:t>
            </a:r>
            <a:endParaRPr lang="en-US" sz="2200" dirty="0"/>
          </a:p>
        </p:txBody>
      </p:sp>
      <p:sp>
        <p:nvSpPr>
          <p:cNvPr id="53" name="Text 50"/>
          <p:cNvSpPr/>
          <p:nvPr/>
        </p:nvSpPr>
        <p:spPr>
          <a:xfrm>
            <a:off x="694944" y="5897880"/>
            <a:ext cx="10927080" cy="182880"/>
          </a:xfrm>
          <a:prstGeom prst="rect">
            <a:avLst/>
          </a:prstGeom>
          <a:noFill/>
          <a:ln/>
        </p:spPr>
        <p:txBody>
          <a:bodyPr wrap="square" lIns="0" tIns="0" rIns="0" bIns="0" rtlCol="0" anchor="ctr">
            <a:normAutofit/>
          </a:bodyPr>
          <a:lstStyle/>
          <a:p>
            <a:pPr marL="0" indent="0" algn="l">
              <a:buNone/>
            </a:pPr>
            <a:r>
              <a:rPr lang="en-US" sz="900" dirty="0">
                <a:solidFill>
                  <a:srgbClr val="7F8C93"/>
                </a:solidFill>
                <a:latin typeface="Inter" pitchFamily="34" charset="0"/>
                <a:ea typeface="Inter" pitchFamily="34" charset="-122"/>
                <a:cs typeface="Inter" pitchFamily="34" charset="-120"/>
              </a:rPr>
              <a:t>Paper §1 introduces this exact arithmetic thought experiment. Example challenge is a concise paraphrase, not a measured transcript.</a:t>
            </a:r>
            <a:endParaRPr lang="en-US" sz="900" dirty="0"/>
          </a:p>
        </p:txBody>
      </p:sp>
      <p:sp>
        <p:nvSpPr>
          <p:cNvPr id="54" name="Rectangle 53"/>
          <p:cNvSpPr/>
          <p:nvPr/>
        </p:nvSpPr>
        <p:spPr>
          <a:xfrm>
            <a:off x="649224" y="6391656"/>
            <a:ext cx="10936224" cy="8229"/>
          </a:xfrm>
          <a:prstGeom prst="rect">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hlinkClick r:id="rId5" action="ppaction://hlinksldjump"/>
          </p:cNvPr>
          <p:cNvSpPr txBox="1"/>
          <p:nvPr/>
        </p:nvSpPr>
        <p:spPr>
          <a:xfrm>
            <a:off x="667512" y="6496812"/>
            <a:ext cx="55778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Context</a:t>
            </a:r>
          </a:p>
        </p:txBody>
      </p:sp>
      <p:sp>
        <p:nvSpPr>
          <p:cNvPr id="56" name="Rounded Rectangle 55">
            <a:hlinkClick r:id="rId5" action="ppaction://hlinksldjump"/>
          </p:cNvPr>
          <p:cNvSpPr/>
          <p:nvPr/>
        </p:nvSpPr>
        <p:spPr>
          <a:xfrm>
            <a:off x="1353312"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a:hlinkClick r:id="rId6" action="ppaction://hlinksldjump"/>
          </p:cNvPr>
          <p:cNvSpPr/>
          <p:nvPr/>
        </p:nvSpPr>
        <p:spPr>
          <a:xfrm>
            <a:off x="142006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a:hlinkClick r:id="rId7" action="ppaction://hlinksldjump"/>
          </p:cNvPr>
          <p:cNvSpPr/>
          <p:nvPr/>
        </p:nvSpPr>
        <p:spPr>
          <a:xfrm>
            <a:off x="1486814"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a:hlinkClick r:id="rId8" action="ppaction://hlinksldjump"/>
          </p:cNvPr>
          <p:cNvSpPr/>
          <p:nvPr/>
        </p:nvSpPr>
        <p:spPr>
          <a:xfrm>
            <a:off x="1553565"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a:hlinkClick r:id="rId9" action="ppaction://hlinksldjump"/>
          </p:cNvPr>
          <p:cNvSpPr/>
          <p:nvPr/>
        </p:nvSpPr>
        <p:spPr>
          <a:xfrm>
            <a:off x="162031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hlinkClick r:id="rId10" action="ppaction://hlinksldjump"/>
          </p:cNvPr>
          <p:cNvSpPr txBox="1"/>
          <p:nvPr/>
        </p:nvSpPr>
        <p:spPr>
          <a:xfrm>
            <a:off x="2523744" y="6496812"/>
            <a:ext cx="694944" cy="219456"/>
          </a:xfrm>
          <a:prstGeom prst="rect">
            <a:avLst/>
          </a:prstGeom>
          <a:noFill/>
        </p:spPr>
        <p:txBody>
          <a:bodyPr wrap="square" lIns="0" tIns="0" rIns="0" bIns="0">
            <a:spAutoFit/>
          </a:bodyPr>
          <a:lstStyle/>
          <a:p>
            <a:pPr algn="l">
              <a:spcAft>
                <a:spcPts val="0"/>
              </a:spcAft>
            </a:pPr>
            <a:r>
              <a:rPr sz="890" b="1" i="0">
                <a:solidFill>
                  <a:srgbClr val="0C6A6C"/>
                </a:solidFill>
                <a:latin typeface="Aptos"/>
              </a:rPr>
              <a:t>Authority</a:t>
            </a:r>
          </a:p>
        </p:txBody>
      </p:sp>
      <p:sp>
        <p:nvSpPr>
          <p:cNvPr id="63" name="Rounded Rectangle 62">
            <a:hlinkClick r:id="rId11" action="ppaction://hlinksldjump"/>
          </p:cNvPr>
          <p:cNvSpPr/>
          <p:nvPr/>
        </p:nvSpPr>
        <p:spPr>
          <a:xfrm>
            <a:off x="3386023" y="6558076"/>
            <a:ext cx="55778" cy="55778"/>
          </a:xfrm>
          <a:prstGeom prst="roundRect">
            <a:avLst>
              <a:gd name="adj" fmla="val 4500"/>
            </a:avLst>
          </a:prstGeom>
          <a:solidFill>
            <a:srgbClr val="0C6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a:hlinkClick r:id="rId12" action="ppaction://hlinksldjump"/>
          </p:cNvPr>
          <p:cNvSpPr txBox="1"/>
          <p:nvPr/>
        </p:nvSpPr>
        <p:spPr>
          <a:xfrm>
            <a:off x="4142231" y="6496812"/>
            <a:ext cx="31089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Test</a:t>
            </a:r>
          </a:p>
        </p:txBody>
      </p:sp>
      <p:sp>
        <p:nvSpPr>
          <p:cNvPr id="65" name="Rounded Rectangle 64">
            <a:hlinkClick r:id="rId12" action="ppaction://hlinksldjump"/>
          </p:cNvPr>
          <p:cNvSpPr/>
          <p:nvPr/>
        </p:nvSpPr>
        <p:spPr>
          <a:xfrm>
            <a:off x="454456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a:hlinkClick r:id="rId13" action="ppaction://hlinksldjump"/>
          </p:cNvPr>
          <p:cNvSpPr txBox="1"/>
          <p:nvPr/>
        </p:nvSpPr>
        <p:spPr>
          <a:xfrm>
            <a:off x="5276088" y="6496812"/>
            <a:ext cx="49377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Results</a:t>
            </a:r>
          </a:p>
        </p:txBody>
      </p:sp>
      <p:sp>
        <p:nvSpPr>
          <p:cNvPr id="67" name="Rounded Rectangle 66">
            <a:hlinkClick r:id="rId13" action="ppaction://hlinksldjump"/>
          </p:cNvPr>
          <p:cNvSpPr/>
          <p:nvPr/>
        </p:nvSpPr>
        <p:spPr>
          <a:xfrm>
            <a:off x="588873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a:hlinkClick r:id="rId14" action="ppaction://hlinksldjump"/>
          </p:cNvPr>
          <p:cNvSpPr/>
          <p:nvPr/>
        </p:nvSpPr>
        <p:spPr>
          <a:xfrm>
            <a:off x="595548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8">
            <a:hlinkClick r:id="rId15" action="ppaction://hlinksldjump"/>
          </p:cNvPr>
          <p:cNvSpPr/>
          <p:nvPr/>
        </p:nvSpPr>
        <p:spPr>
          <a:xfrm>
            <a:off x="602223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a:hlinkClick r:id="rId16" action="ppaction://hlinksldjump"/>
          </p:cNvPr>
          <p:cNvSpPr txBox="1"/>
          <p:nvPr/>
        </p:nvSpPr>
        <p:spPr>
          <a:xfrm>
            <a:off x="6912864" y="6496812"/>
            <a:ext cx="777240"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Mechanism</a:t>
            </a:r>
          </a:p>
        </p:txBody>
      </p:sp>
      <p:sp>
        <p:nvSpPr>
          <p:cNvPr id="71" name="Rounded Rectangle 70">
            <a:hlinkClick r:id="rId16" action="ppaction://hlinksldjump"/>
          </p:cNvPr>
          <p:cNvSpPr/>
          <p:nvPr/>
        </p:nvSpPr>
        <p:spPr>
          <a:xfrm>
            <a:off x="785469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a:hlinkClick r:id="rId17" action="ppaction://hlinksldjump"/>
          </p:cNvPr>
          <p:cNvSpPr/>
          <p:nvPr/>
        </p:nvSpPr>
        <p:spPr>
          <a:xfrm>
            <a:off x="792144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a:hlinkClick r:id="rId18" action="ppaction://hlinksldjump"/>
          </p:cNvPr>
          <p:cNvSpPr/>
          <p:nvPr/>
        </p:nvSpPr>
        <p:spPr>
          <a:xfrm>
            <a:off x="798819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a:hlinkClick r:id="rId19" action="ppaction://hlinksldjump"/>
          </p:cNvPr>
          <p:cNvSpPr txBox="1"/>
          <p:nvPr/>
        </p:nvSpPr>
        <p:spPr>
          <a:xfrm>
            <a:off x="8924544" y="6496812"/>
            <a:ext cx="987552"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Responsibility</a:t>
            </a:r>
          </a:p>
        </p:txBody>
      </p:sp>
      <p:sp>
        <p:nvSpPr>
          <p:cNvPr id="76" name="Rounded Rectangle 75">
            <a:hlinkClick r:id="rId20" action="ppaction://hlinksldjump"/>
          </p:cNvPr>
          <p:cNvSpPr/>
          <p:nvPr/>
        </p:nvSpPr>
        <p:spPr>
          <a:xfrm>
            <a:off x="1011600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76">
            <a:hlinkClick r:id="rId21" action="ppaction://hlinksldjump"/>
          </p:cNvPr>
          <p:cNvSpPr/>
          <p:nvPr/>
        </p:nvSpPr>
        <p:spPr>
          <a:xfrm>
            <a:off x="1018275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ed Rectangle 77">
            <a:hlinkClick r:id="rId22" action="ppaction://hlinksldjump"/>
          </p:cNvPr>
          <p:cNvSpPr/>
          <p:nvPr/>
        </p:nvSpPr>
        <p:spPr>
          <a:xfrm>
            <a:off x="10249509"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1119104" y="6492240"/>
            <a:ext cx="429768" cy="210312"/>
          </a:xfrm>
          <a:prstGeom prst="rect">
            <a:avLst/>
          </a:prstGeom>
          <a:noFill/>
        </p:spPr>
        <p:txBody>
          <a:bodyPr wrap="square" lIns="0" tIns="0" rIns="0" bIns="0">
            <a:spAutoFit/>
          </a:bodyPr>
          <a:lstStyle/>
          <a:p>
            <a:pPr algn="r">
              <a:spcAft>
                <a:spcPts val="0"/>
              </a:spcAft>
            </a:pPr>
            <a:r>
              <a:rPr sz="900" b="1" i="0">
                <a:solidFill>
                  <a:srgbClr val="737D84"/>
                </a:solidFill>
                <a:latin typeface="Aptos"/>
              </a:rPr>
              <a:t>06/16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8001" name="Content highlight 1"/>
          <p:cNvSpPr/>
          <p:nvPr/>
        </p:nvSpPr>
        <p:spPr>
          <a:xfrm>
            <a:off x="800100" y="5410200"/>
            <a:ext cx="10610850" cy="438150"/>
          </a:xfrm>
          <a:prstGeom prst="rect">
            <a:avLst/>
          </a:prstGeom>
          <a:solidFill>
            <a:srgbClr val="EEF5F5"/>
          </a:solidFill>
          <a:ln>
            <a:noFill/>
          </a:ln>
        </p:spPr>
      </p:sp>
      <p:sp>
        <p:nvSpPr>
          <p:cNvPr id="4" name="Text 2"/>
          <p:cNvSpPr/>
          <p:nvPr/>
        </p:nvSpPr>
        <p:spPr>
          <a:xfrm>
            <a:off x="713232" y="667512"/>
            <a:ext cx="10387584" cy="484632"/>
          </a:xfrm>
          <a:prstGeom prst="rect">
            <a:avLst/>
          </a:prstGeom>
          <a:noFill/>
          <a:ln/>
        </p:spPr>
        <p:txBody>
          <a:bodyPr wrap="square" lIns="0" tIns="0" rIns="0" bIns="0" rtlCol="0" anchor="ctr">
            <a:normAutofit/>
          </a:bodyPr>
          <a:lstStyle/>
          <a:p>
            <a:pPr marL="0" indent="0" algn="l">
              <a:buNone/>
            </a:pPr>
            <a:r>
              <a:rPr lang="en-US" sz="2650" b="1" dirty="0">
                <a:solidFill>
                  <a:srgbClr val="1D2C36"/>
                </a:solidFill>
                <a:latin typeface="Inter Display" pitchFamily="34" charset="0"/>
                <a:ea typeface="Inter Display" pitchFamily="34" charset="-122"/>
                <a:cs typeface="Inter Display" pitchFamily="34" charset="-120"/>
              </a:rPr>
              <a:t>The benchmark in four turns</a:t>
            </a:r>
            <a:endParaRPr lang="en-US" sz="2650" dirty="0"/>
          </a:p>
        </p:txBody>
      </p:sp>
      <p:sp>
        <p:nvSpPr>
          <p:cNvPr id="43" name="Text 40"/>
          <p:cNvSpPr/>
          <p:nvPr/>
        </p:nvSpPr>
        <p:spPr>
          <a:xfrm>
            <a:off x="1005840" y="1682496"/>
            <a:ext cx="374904" cy="365760"/>
          </a:xfrm>
          <a:prstGeom prst="rect">
            <a:avLst/>
          </a:prstGeom>
          <a:noFill/>
          <a:ln/>
        </p:spPr>
        <p:txBody>
          <a:bodyPr wrap="square" lIns="0" tIns="0" rIns="0" bIns="0" rtlCol="0" anchor="ctr">
            <a:normAutofit/>
          </a:bodyPr>
          <a:lstStyle/>
          <a:p>
            <a:pPr marL="0" indent="0" algn="l">
              <a:buNone/>
            </a:pPr>
            <a:r>
              <a:rPr lang="en-US" sz="1900" b="1" dirty="0">
                <a:solidFill>
                  <a:srgbClr val="0B8999"/>
                </a:solidFill>
                <a:latin typeface="Inter" pitchFamily="34" charset="0"/>
                <a:ea typeface="Inter" pitchFamily="34" charset="-122"/>
                <a:cs typeface="Inter" pitchFamily="34" charset="-120"/>
              </a:rPr>
              <a:t>1</a:t>
            </a:r>
            <a:endParaRPr lang="en-US" sz="1900" dirty="0"/>
          </a:p>
        </p:txBody>
      </p:sp>
      <p:sp>
        <p:nvSpPr>
          <p:cNvPr id="44" name="Text 41"/>
          <p:cNvSpPr/>
          <p:nvPr/>
        </p:nvSpPr>
        <p:spPr>
          <a:xfrm>
            <a:off x="1563624" y="1682496"/>
            <a:ext cx="1353312" cy="320040"/>
          </a:xfrm>
          <a:prstGeom prst="rect">
            <a:avLst/>
          </a:prstGeom>
          <a:noFill/>
          <a:ln/>
        </p:spPr>
        <p:txBody>
          <a:bodyPr wrap="square" lIns="0" tIns="0" rIns="0" bIns="0" rtlCol="0" anchor="ctr">
            <a:normAutofit/>
          </a:bodyPr>
          <a:lstStyle/>
          <a:p>
            <a:pPr marL="0" indent="0" algn="l">
              <a:buNone/>
            </a:pPr>
            <a:r>
              <a:rPr lang="en-US" sz="1660" b="1" dirty="0">
                <a:solidFill>
                  <a:srgbClr val="1D2C36"/>
                </a:solidFill>
                <a:latin typeface="Inter" pitchFamily="34" charset="0"/>
                <a:ea typeface="Inter" pitchFamily="34" charset="-122"/>
                <a:cs typeface="Inter" pitchFamily="34" charset="-120"/>
              </a:rPr>
              <a:t>ASK</a:t>
            </a:r>
            <a:endParaRPr lang="en-US" sz="1660" dirty="0"/>
          </a:p>
        </p:txBody>
      </p:sp>
      <p:sp>
        <p:nvSpPr>
          <p:cNvPr id="45" name="Text 42"/>
          <p:cNvSpPr/>
          <p:nvPr/>
        </p:nvSpPr>
        <p:spPr>
          <a:xfrm>
            <a:off x="2944368" y="1691640"/>
            <a:ext cx="2926080" cy="320040"/>
          </a:xfrm>
          <a:prstGeom prst="rect">
            <a:avLst/>
          </a:prstGeom>
          <a:noFill/>
          <a:ln/>
        </p:spPr>
        <p:txBody>
          <a:bodyPr wrap="square" lIns="0" tIns="0" rIns="0" bIns="0" rtlCol="0" anchor="ctr">
            <a:normAutofit/>
          </a:bodyPr>
          <a:lstStyle/>
          <a:p>
            <a:pPr marL="0" indent="0" algn="l">
              <a:buNone/>
            </a:pPr>
            <a:r>
              <a:rPr lang="en-US" sz="1370" dirty="0">
                <a:solidFill>
                  <a:srgbClr val="5C6C76"/>
                </a:solidFill>
                <a:latin typeface="Inter" pitchFamily="34" charset="0"/>
                <a:ea typeface="Inter" pitchFamily="34" charset="-122"/>
                <a:cs typeface="Inter" pitchFamily="34" charset="-120"/>
              </a:rPr>
              <a:t>A factual question</a:t>
            </a:r>
            <a:endParaRPr lang="en-US" sz="1370" dirty="0"/>
          </a:p>
        </p:txBody>
      </p:sp>
      <p:sp>
        <p:nvSpPr>
          <p:cNvPr id="47" name="Text 44"/>
          <p:cNvSpPr/>
          <p:nvPr/>
        </p:nvSpPr>
        <p:spPr>
          <a:xfrm>
            <a:off x="1005840" y="2615184"/>
            <a:ext cx="374904" cy="365760"/>
          </a:xfrm>
          <a:prstGeom prst="rect">
            <a:avLst/>
          </a:prstGeom>
          <a:noFill/>
          <a:ln/>
        </p:spPr>
        <p:txBody>
          <a:bodyPr wrap="square" lIns="0" tIns="0" rIns="0" bIns="0" rtlCol="0" anchor="ctr">
            <a:normAutofit/>
          </a:bodyPr>
          <a:lstStyle/>
          <a:p>
            <a:pPr marL="0" indent="0" algn="l">
              <a:buNone/>
            </a:pPr>
            <a:r>
              <a:rPr lang="en-US" sz="1900" b="1" dirty="0">
                <a:solidFill>
                  <a:srgbClr val="0B8999"/>
                </a:solidFill>
                <a:latin typeface="Inter" pitchFamily="34" charset="0"/>
                <a:ea typeface="Inter" pitchFamily="34" charset="-122"/>
                <a:cs typeface="Inter" pitchFamily="34" charset="-120"/>
              </a:rPr>
              <a:t>2</a:t>
            </a:r>
            <a:endParaRPr lang="en-US" sz="1900" dirty="0"/>
          </a:p>
        </p:txBody>
      </p:sp>
      <p:sp>
        <p:nvSpPr>
          <p:cNvPr id="48" name="Text 45"/>
          <p:cNvSpPr/>
          <p:nvPr/>
        </p:nvSpPr>
        <p:spPr>
          <a:xfrm>
            <a:off x="1563624" y="2615184"/>
            <a:ext cx="1353312" cy="320040"/>
          </a:xfrm>
          <a:prstGeom prst="rect">
            <a:avLst/>
          </a:prstGeom>
          <a:noFill/>
          <a:ln/>
        </p:spPr>
        <p:txBody>
          <a:bodyPr wrap="square" lIns="0" tIns="0" rIns="0" bIns="0" rtlCol="0" anchor="ctr">
            <a:normAutofit/>
          </a:bodyPr>
          <a:lstStyle/>
          <a:p>
            <a:pPr marL="0" indent="0" algn="l">
              <a:buNone/>
            </a:pPr>
            <a:r>
              <a:rPr lang="en-US" sz="1660" b="1" dirty="0">
                <a:solidFill>
                  <a:srgbClr val="1D2C36"/>
                </a:solidFill>
                <a:latin typeface="Inter" pitchFamily="34" charset="0"/>
                <a:ea typeface="Inter" pitchFamily="34" charset="-122"/>
                <a:cs typeface="Inter" pitchFamily="34" charset="-120"/>
              </a:rPr>
              <a:t>ANSWER</a:t>
            </a:r>
            <a:endParaRPr lang="en-US" sz="1660" dirty="0"/>
          </a:p>
        </p:txBody>
      </p:sp>
      <p:sp>
        <p:nvSpPr>
          <p:cNvPr id="49" name="Text 46"/>
          <p:cNvSpPr/>
          <p:nvPr/>
        </p:nvSpPr>
        <p:spPr>
          <a:xfrm>
            <a:off x="2944368" y="2624328"/>
            <a:ext cx="2926080" cy="320040"/>
          </a:xfrm>
          <a:prstGeom prst="rect">
            <a:avLst/>
          </a:prstGeom>
          <a:noFill/>
          <a:ln/>
        </p:spPr>
        <p:txBody>
          <a:bodyPr wrap="square" lIns="0" tIns="0" rIns="0" bIns="0" rtlCol="0" anchor="ctr">
            <a:normAutofit/>
          </a:bodyPr>
          <a:lstStyle/>
          <a:p>
            <a:pPr marL="0" indent="0" algn="l">
              <a:buNone/>
            </a:pPr>
            <a:r>
              <a:rPr lang="en-US" sz="1370" dirty="0">
                <a:solidFill>
                  <a:srgbClr val="5C6C76"/>
                </a:solidFill>
                <a:latin typeface="Inter" pitchFamily="34" charset="0"/>
                <a:ea typeface="Inter" pitchFamily="34" charset="-122"/>
                <a:cs typeface="Inter" pitchFamily="34" charset="-120"/>
              </a:rPr>
              <a:t>Model gets it right</a:t>
            </a:r>
            <a:endParaRPr lang="en-US" sz="1370" dirty="0"/>
          </a:p>
        </p:txBody>
      </p:sp>
      <p:sp>
        <p:nvSpPr>
          <p:cNvPr id="51" name="Text 48"/>
          <p:cNvSpPr/>
          <p:nvPr/>
        </p:nvSpPr>
        <p:spPr>
          <a:xfrm>
            <a:off x="1005840" y="3547872"/>
            <a:ext cx="374904" cy="365760"/>
          </a:xfrm>
          <a:prstGeom prst="rect">
            <a:avLst/>
          </a:prstGeom>
          <a:noFill/>
          <a:ln/>
        </p:spPr>
        <p:txBody>
          <a:bodyPr wrap="square" lIns="0" tIns="0" rIns="0" bIns="0" rtlCol="0" anchor="ctr">
            <a:normAutofit/>
          </a:bodyPr>
          <a:lstStyle/>
          <a:p>
            <a:pPr marL="0" indent="0" algn="l">
              <a:buNone/>
            </a:pPr>
            <a:r>
              <a:rPr lang="en-US" sz="1900" b="1" dirty="0">
                <a:solidFill>
                  <a:srgbClr val="B84F59"/>
                </a:solidFill>
                <a:latin typeface="Inter" pitchFamily="34" charset="0"/>
                <a:ea typeface="Inter" pitchFamily="34" charset="-122"/>
                <a:cs typeface="Inter" pitchFamily="34" charset="-120"/>
              </a:rPr>
              <a:t>3</a:t>
            </a:r>
            <a:endParaRPr lang="en-US" sz="1900" dirty="0"/>
          </a:p>
        </p:txBody>
      </p:sp>
      <p:sp>
        <p:nvSpPr>
          <p:cNvPr id="52" name="Text 49"/>
          <p:cNvSpPr/>
          <p:nvPr/>
        </p:nvSpPr>
        <p:spPr>
          <a:xfrm>
            <a:off x="1563624" y="3547872"/>
            <a:ext cx="1353312" cy="320040"/>
          </a:xfrm>
          <a:prstGeom prst="rect">
            <a:avLst/>
          </a:prstGeom>
          <a:noFill/>
          <a:ln/>
        </p:spPr>
        <p:txBody>
          <a:bodyPr wrap="square" lIns="0" tIns="0" rIns="0" bIns="0" rtlCol="0" anchor="ctr">
            <a:normAutofit/>
          </a:bodyPr>
          <a:lstStyle/>
          <a:p>
            <a:pPr marL="0" indent="0" algn="l">
              <a:buNone/>
            </a:pPr>
            <a:r>
              <a:rPr lang="en-US" sz="1660" b="1" dirty="0">
                <a:solidFill>
                  <a:srgbClr val="1D2C36"/>
                </a:solidFill>
                <a:latin typeface="Inter" pitchFamily="34" charset="0"/>
                <a:ea typeface="Inter" pitchFamily="34" charset="-122"/>
                <a:cs typeface="Inter" pitchFamily="34" charset="-120"/>
              </a:rPr>
              <a:t>CHALLENGE</a:t>
            </a:r>
            <a:endParaRPr lang="en-US" sz="1660" dirty="0"/>
          </a:p>
        </p:txBody>
      </p:sp>
      <p:sp>
        <p:nvSpPr>
          <p:cNvPr id="53" name="Text 50"/>
          <p:cNvSpPr/>
          <p:nvPr/>
        </p:nvSpPr>
        <p:spPr>
          <a:xfrm>
            <a:off x="2944368" y="3557016"/>
            <a:ext cx="2926080" cy="320040"/>
          </a:xfrm>
          <a:prstGeom prst="rect">
            <a:avLst/>
          </a:prstGeom>
          <a:noFill/>
          <a:ln/>
        </p:spPr>
        <p:txBody>
          <a:bodyPr wrap="square" lIns="0" tIns="0" rIns="0" bIns="0" rtlCol="0" anchor="ctr">
            <a:normAutofit/>
          </a:bodyPr>
          <a:lstStyle/>
          <a:p>
            <a:pPr marL="0" indent="0" algn="l">
              <a:buNone/>
            </a:pPr>
            <a:r>
              <a:rPr lang="en-US" sz="1370" dirty="0">
                <a:solidFill>
                  <a:srgbClr val="5C6C76"/>
                </a:solidFill>
                <a:latin typeface="Inter" pitchFamily="34" charset="0"/>
                <a:ea typeface="Inter" pitchFamily="34" charset="-122"/>
                <a:cs typeface="Inter" pitchFamily="34" charset="-120"/>
              </a:rPr>
              <a:t>Wrong answer + claimed authority</a:t>
            </a:r>
            <a:endParaRPr lang="en-US" sz="1370" dirty="0"/>
          </a:p>
        </p:txBody>
      </p:sp>
      <p:sp>
        <p:nvSpPr>
          <p:cNvPr id="55" name="Text 52"/>
          <p:cNvSpPr/>
          <p:nvPr/>
        </p:nvSpPr>
        <p:spPr>
          <a:xfrm>
            <a:off x="1005840" y="4480560"/>
            <a:ext cx="374904" cy="365760"/>
          </a:xfrm>
          <a:prstGeom prst="rect">
            <a:avLst/>
          </a:prstGeom>
          <a:noFill/>
          <a:ln/>
        </p:spPr>
        <p:txBody>
          <a:bodyPr wrap="square" lIns="0" tIns="0" rIns="0" bIns="0" rtlCol="0" anchor="ctr">
            <a:normAutofit/>
          </a:bodyPr>
          <a:lstStyle/>
          <a:p>
            <a:pPr marL="0" indent="0" algn="l">
              <a:buNone/>
            </a:pPr>
            <a:r>
              <a:rPr lang="en-US" sz="1900" b="1" dirty="0">
                <a:solidFill>
                  <a:srgbClr val="0B8999"/>
                </a:solidFill>
                <a:latin typeface="Inter" pitchFamily="34" charset="0"/>
                <a:ea typeface="Inter" pitchFamily="34" charset="-122"/>
                <a:cs typeface="Inter" pitchFamily="34" charset="-120"/>
              </a:rPr>
              <a:t>4</a:t>
            </a:r>
            <a:endParaRPr lang="en-US" sz="1900" dirty="0"/>
          </a:p>
        </p:txBody>
      </p:sp>
      <p:sp>
        <p:nvSpPr>
          <p:cNvPr id="56" name="Text 53"/>
          <p:cNvSpPr/>
          <p:nvPr/>
        </p:nvSpPr>
        <p:spPr>
          <a:xfrm>
            <a:off x="1563624" y="4480560"/>
            <a:ext cx="1353312" cy="320040"/>
          </a:xfrm>
          <a:prstGeom prst="rect">
            <a:avLst/>
          </a:prstGeom>
          <a:noFill/>
          <a:ln/>
        </p:spPr>
        <p:txBody>
          <a:bodyPr wrap="square" lIns="0" tIns="0" rIns="0" bIns="0" rtlCol="0" anchor="ctr">
            <a:normAutofit/>
          </a:bodyPr>
          <a:lstStyle/>
          <a:p>
            <a:pPr marL="0" indent="0" algn="l">
              <a:buNone/>
            </a:pPr>
            <a:r>
              <a:rPr lang="en-US" sz="1660" b="1" dirty="0">
                <a:solidFill>
                  <a:srgbClr val="1D2C36"/>
                </a:solidFill>
                <a:latin typeface="Inter" pitchFamily="34" charset="0"/>
                <a:ea typeface="Inter" pitchFamily="34" charset="-122"/>
                <a:cs typeface="Inter" pitchFamily="34" charset="-120"/>
              </a:rPr>
              <a:t>MEASURE</a:t>
            </a:r>
            <a:endParaRPr lang="en-US" sz="1660" dirty="0"/>
          </a:p>
        </p:txBody>
      </p:sp>
      <p:sp>
        <p:nvSpPr>
          <p:cNvPr id="57" name="Text 54"/>
          <p:cNvSpPr/>
          <p:nvPr/>
        </p:nvSpPr>
        <p:spPr>
          <a:xfrm>
            <a:off x="2944368" y="4489704"/>
            <a:ext cx="2926080" cy="320040"/>
          </a:xfrm>
          <a:prstGeom prst="rect">
            <a:avLst/>
          </a:prstGeom>
          <a:noFill/>
          <a:ln/>
        </p:spPr>
        <p:txBody>
          <a:bodyPr wrap="square" lIns="0" tIns="0" rIns="0" bIns="0" rtlCol="0" anchor="ctr">
            <a:normAutofit/>
          </a:bodyPr>
          <a:lstStyle/>
          <a:p>
            <a:pPr marL="0" indent="0" algn="l">
              <a:buNone/>
            </a:pPr>
            <a:r>
              <a:rPr lang="en-US" sz="1370" dirty="0">
                <a:solidFill>
                  <a:srgbClr val="5C6C76"/>
                </a:solidFill>
                <a:latin typeface="Inter" pitchFamily="34" charset="0"/>
                <a:ea typeface="Inter" pitchFamily="34" charset="-122"/>
                <a:cs typeface="Inter" pitchFamily="34" charset="-120"/>
              </a:rPr>
              <a:t>Did the answer flip?</a:t>
            </a:r>
            <a:endParaRPr lang="en-US" sz="1370" dirty="0"/>
          </a:p>
        </p:txBody>
      </p:sp>
      <p:sp>
        <p:nvSpPr>
          <p:cNvPr id="58" name="Text 55"/>
          <p:cNvSpPr/>
          <p:nvPr/>
        </p:nvSpPr>
        <p:spPr>
          <a:xfrm>
            <a:off x="6656832" y="1399032"/>
            <a:ext cx="4526280" cy="283464"/>
          </a:xfrm>
          <a:prstGeom prst="rect">
            <a:avLst/>
          </a:prstGeom>
          <a:noFill/>
          <a:ln/>
        </p:spPr>
        <p:txBody>
          <a:bodyPr wrap="square" lIns="0" tIns="0" rIns="0" bIns="0" rtlCol="0" anchor="ctr">
            <a:normAutofit/>
          </a:bodyPr>
          <a:lstStyle/>
          <a:p>
            <a:pPr marL="0" indent="0" algn="l">
              <a:buNone/>
            </a:pPr>
            <a:r>
              <a:rPr lang="en-US" sz="1450" b="1" dirty="0">
                <a:solidFill>
                  <a:srgbClr val="1D2C36"/>
                </a:solidFill>
                <a:latin typeface="Inter" pitchFamily="34" charset="0"/>
                <a:ea typeface="Inter" pitchFamily="34" charset="-122"/>
                <a:cs typeface="Inter" pitchFamily="34" charset="-120"/>
              </a:rPr>
              <a:t>Paper Figure 1 (original)</a:t>
            </a:r>
            <a:endParaRPr lang="en-US" sz="1450" dirty="0"/>
          </a:p>
        </p:txBody>
      </p:sp>
      <p:pic>
        <p:nvPicPr>
          <p:cNvPr id="59" name="Image 1" descr="/mnt/data/sycophancy_visual_work/assets/colm_pipeline.png"/>
          <p:cNvPicPr>
            <a:picLocks noChangeAspect="1"/>
          </p:cNvPicPr>
          <p:nvPr/>
        </p:nvPicPr>
        <p:blipFill>
          <a:blip r:embed="rId5"/>
          <a:srcRect b="3582"/>
          <a:stretch>
            <a:fillRect/>
          </a:stretch>
        </p:blipFill>
        <p:spPr>
          <a:xfrm>
            <a:off x="6633153" y="1783080"/>
            <a:ext cx="4619358" cy="3173913"/>
          </a:xfrm>
          <a:prstGeom prst="rect">
            <a:avLst/>
          </a:prstGeom>
          <a:ln/>
        </p:spPr>
      </p:pic>
      <p:sp>
        <p:nvSpPr>
          <p:cNvPr id="61" name="Text 57"/>
          <p:cNvSpPr/>
          <p:nvPr/>
        </p:nvSpPr>
        <p:spPr>
          <a:xfrm>
            <a:off x="950976" y="5545836"/>
            <a:ext cx="10213848" cy="228600"/>
          </a:xfrm>
          <a:prstGeom prst="rect">
            <a:avLst/>
          </a:prstGeom>
          <a:noFill/>
          <a:ln/>
        </p:spPr>
        <p:txBody>
          <a:bodyPr wrap="square" lIns="0" tIns="0" rIns="0" bIns="0" rtlCol="0" anchor="ctr">
            <a:normAutofit/>
          </a:bodyPr>
          <a:lstStyle/>
          <a:p>
            <a:pPr marL="0" indent="0" algn="ctr">
              <a:buNone/>
            </a:pPr>
            <a:r>
              <a:rPr lang="en-US" sz="1430" b="1" dirty="0">
                <a:solidFill>
                  <a:srgbClr val="243649"/>
                </a:solidFill>
                <a:latin typeface="Inter" pitchFamily="34" charset="0"/>
                <a:ea typeface="Inter" pitchFamily="34" charset="-122"/>
                <a:cs typeface="Inter" pitchFamily="34" charset="-120"/>
              </a:rPr>
              <a:t>200 questions  ×  16 conditions  ×  8 models  →  21,328 scored conversations</a:t>
            </a:r>
            <a:endParaRPr lang="en-US" sz="1430" dirty="0"/>
          </a:p>
        </p:txBody>
      </p:sp>
      <p:sp>
        <p:nvSpPr>
          <p:cNvPr id="62" name="Text 58"/>
          <p:cNvSpPr/>
          <p:nvPr/>
        </p:nvSpPr>
        <p:spPr>
          <a:xfrm>
            <a:off x="694944" y="5897880"/>
            <a:ext cx="10927080" cy="182880"/>
          </a:xfrm>
          <a:prstGeom prst="rect">
            <a:avLst/>
          </a:prstGeom>
          <a:noFill/>
          <a:ln/>
        </p:spPr>
        <p:txBody>
          <a:bodyPr wrap="square" lIns="0" tIns="0" rIns="0" bIns="0" rtlCol="0" anchor="ctr">
            <a:normAutofit/>
          </a:bodyPr>
          <a:lstStyle/>
          <a:p>
            <a:pPr marL="0" indent="0" algn="l">
              <a:buNone/>
            </a:pPr>
            <a:r>
              <a:rPr lang="en-US" sz="900" dirty="0">
                <a:solidFill>
                  <a:srgbClr val="7F8C93"/>
                </a:solidFill>
                <a:latin typeface="Inter" pitchFamily="34" charset="0"/>
                <a:ea typeface="Inter" pitchFamily="34" charset="-122"/>
                <a:cs typeface="Inter" pitchFamily="34" charset="-120"/>
              </a:rPr>
              <a:t>Source: COLM draft §3, Figure 1. Only cases with a correct initial response enter the scored sample.</a:t>
            </a:r>
            <a:endParaRPr lang="en-US" sz="900" dirty="0"/>
          </a:p>
        </p:txBody>
      </p:sp>
      <p:sp>
        <p:nvSpPr>
          <p:cNvPr id="63" name="Rectangle 62"/>
          <p:cNvSpPr/>
          <p:nvPr/>
        </p:nvSpPr>
        <p:spPr>
          <a:xfrm>
            <a:off x="649224" y="6391656"/>
            <a:ext cx="10936224" cy="8229"/>
          </a:xfrm>
          <a:prstGeom prst="rect">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a:hlinkClick r:id="rId6" action="ppaction://hlinksldjump"/>
          </p:cNvPr>
          <p:cNvSpPr txBox="1"/>
          <p:nvPr/>
        </p:nvSpPr>
        <p:spPr>
          <a:xfrm>
            <a:off x="667512" y="6496812"/>
            <a:ext cx="55778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Context</a:t>
            </a:r>
          </a:p>
        </p:txBody>
      </p:sp>
      <p:sp>
        <p:nvSpPr>
          <p:cNvPr id="65" name="Rounded Rectangle 64">
            <a:hlinkClick r:id="rId6" action="ppaction://hlinksldjump"/>
          </p:cNvPr>
          <p:cNvSpPr/>
          <p:nvPr/>
        </p:nvSpPr>
        <p:spPr>
          <a:xfrm>
            <a:off x="1353312"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a:hlinkClick r:id="rId7" action="ppaction://hlinksldjump"/>
          </p:cNvPr>
          <p:cNvSpPr/>
          <p:nvPr/>
        </p:nvSpPr>
        <p:spPr>
          <a:xfrm>
            <a:off x="142006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a:hlinkClick r:id="rId8" action="ppaction://hlinksldjump"/>
          </p:cNvPr>
          <p:cNvSpPr/>
          <p:nvPr/>
        </p:nvSpPr>
        <p:spPr>
          <a:xfrm>
            <a:off x="1486814"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a:hlinkClick r:id="rId9" action="ppaction://hlinksldjump"/>
          </p:cNvPr>
          <p:cNvSpPr/>
          <p:nvPr/>
        </p:nvSpPr>
        <p:spPr>
          <a:xfrm>
            <a:off x="1553565"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8">
            <a:hlinkClick r:id="rId10" action="ppaction://hlinksldjump"/>
          </p:cNvPr>
          <p:cNvSpPr/>
          <p:nvPr/>
        </p:nvSpPr>
        <p:spPr>
          <a:xfrm>
            <a:off x="162031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a:hlinkClick r:id="rId11" action="ppaction://hlinksldjump"/>
          </p:cNvPr>
          <p:cNvSpPr txBox="1"/>
          <p:nvPr/>
        </p:nvSpPr>
        <p:spPr>
          <a:xfrm>
            <a:off x="2523744" y="6496812"/>
            <a:ext cx="69494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Authority</a:t>
            </a:r>
          </a:p>
        </p:txBody>
      </p:sp>
      <p:sp>
        <p:nvSpPr>
          <p:cNvPr id="72" name="Rounded Rectangle 71">
            <a:hlinkClick r:id="rId12" action="ppaction://hlinksldjump"/>
          </p:cNvPr>
          <p:cNvSpPr/>
          <p:nvPr/>
        </p:nvSpPr>
        <p:spPr>
          <a:xfrm>
            <a:off x="338602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hlinkClick r:id="rId13" action="ppaction://hlinksldjump"/>
          </p:cNvPr>
          <p:cNvSpPr txBox="1"/>
          <p:nvPr/>
        </p:nvSpPr>
        <p:spPr>
          <a:xfrm>
            <a:off x="4142231" y="6496812"/>
            <a:ext cx="310896" cy="219456"/>
          </a:xfrm>
          <a:prstGeom prst="rect">
            <a:avLst/>
          </a:prstGeom>
          <a:noFill/>
        </p:spPr>
        <p:txBody>
          <a:bodyPr wrap="square" lIns="0" tIns="0" rIns="0" bIns="0">
            <a:spAutoFit/>
          </a:bodyPr>
          <a:lstStyle/>
          <a:p>
            <a:pPr algn="l">
              <a:spcAft>
                <a:spcPts val="0"/>
              </a:spcAft>
            </a:pPr>
            <a:r>
              <a:rPr sz="890" b="1" i="0">
                <a:solidFill>
                  <a:srgbClr val="0C6A6C"/>
                </a:solidFill>
                <a:latin typeface="Aptos"/>
              </a:rPr>
              <a:t>Test</a:t>
            </a:r>
          </a:p>
        </p:txBody>
      </p:sp>
      <p:sp>
        <p:nvSpPr>
          <p:cNvPr id="74" name="Rounded Rectangle 73">
            <a:hlinkClick r:id="rId13" action="ppaction://hlinksldjump"/>
          </p:cNvPr>
          <p:cNvSpPr/>
          <p:nvPr/>
        </p:nvSpPr>
        <p:spPr>
          <a:xfrm>
            <a:off x="4544568" y="6558076"/>
            <a:ext cx="55778" cy="55778"/>
          </a:xfrm>
          <a:prstGeom prst="roundRect">
            <a:avLst>
              <a:gd name="adj" fmla="val 4500"/>
            </a:avLst>
          </a:prstGeom>
          <a:solidFill>
            <a:srgbClr val="0C6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hlinkClick r:id="rId14" action="ppaction://hlinksldjump"/>
          </p:cNvPr>
          <p:cNvSpPr txBox="1"/>
          <p:nvPr/>
        </p:nvSpPr>
        <p:spPr>
          <a:xfrm>
            <a:off x="5276088" y="6496812"/>
            <a:ext cx="49377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Results</a:t>
            </a:r>
          </a:p>
        </p:txBody>
      </p:sp>
      <p:sp>
        <p:nvSpPr>
          <p:cNvPr id="76" name="Rounded Rectangle 75">
            <a:hlinkClick r:id="rId14" action="ppaction://hlinksldjump"/>
          </p:cNvPr>
          <p:cNvSpPr/>
          <p:nvPr/>
        </p:nvSpPr>
        <p:spPr>
          <a:xfrm>
            <a:off x="588873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76">
            <a:hlinkClick r:id="rId15" action="ppaction://hlinksldjump"/>
          </p:cNvPr>
          <p:cNvSpPr/>
          <p:nvPr/>
        </p:nvSpPr>
        <p:spPr>
          <a:xfrm>
            <a:off x="595548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ed Rectangle 77">
            <a:hlinkClick r:id="rId16" action="ppaction://hlinksldjump"/>
          </p:cNvPr>
          <p:cNvSpPr/>
          <p:nvPr/>
        </p:nvSpPr>
        <p:spPr>
          <a:xfrm>
            <a:off x="602223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hlinkClick r:id="rId17" action="ppaction://hlinksldjump"/>
          </p:cNvPr>
          <p:cNvSpPr txBox="1"/>
          <p:nvPr/>
        </p:nvSpPr>
        <p:spPr>
          <a:xfrm>
            <a:off x="6912864" y="6496812"/>
            <a:ext cx="777240"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Mechanism</a:t>
            </a:r>
          </a:p>
        </p:txBody>
      </p:sp>
      <p:sp>
        <p:nvSpPr>
          <p:cNvPr id="80" name="Rounded Rectangle 79">
            <a:hlinkClick r:id="rId17" action="ppaction://hlinksldjump"/>
          </p:cNvPr>
          <p:cNvSpPr/>
          <p:nvPr/>
        </p:nvSpPr>
        <p:spPr>
          <a:xfrm>
            <a:off x="785469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a:hlinkClick r:id="rId18" action="ppaction://hlinksldjump"/>
          </p:cNvPr>
          <p:cNvSpPr/>
          <p:nvPr/>
        </p:nvSpPr>
        <p:spPr>
          <a:xfrm>
            <a:off x="792144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ounded Rectangle 81">
            <a:hlinkClick r:id="rId19" action="ppaction://hlinksldjump"/>
          </p:cNvPr>
          <p:cNvSpPr/>
          <p:nvPr/>
        </p:nvSpPr>
        <p:spPr>
          <a:xfrm>
            <a:off x="798819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a:hlinkClick r:id="rId20" action="ppaction://hlinksldjump"/>
          </p:cNvPr>
          <p:cNvSpPr txBox="1"/>
          <p:nvPr/>
        </p:nvSpPr>
        <p:spPr>
          <a:xfrm>
            <a:off x="8924544" y="6496812"/>
            <a:ext cx="987552"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Responsibility</a:t>
            </a:r>
          </a:p>
        </p:txBody>
      </p:sp>
      <p:sp>
        <p:nvSpPr>
          <p:cNvPr id="85" name="Rounded Rectangle 84">
            <a:hlinkClick r:id="rId21" action="ppaction://hlinksldjump"/>
          </p:cNvPr>
          <p:cNvSpPr/>
          <p:nvPr/>
        </p:nvSpPr>
        <p:spPr>
          <a:xfrm>
            <a:off x="1011600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ounded Rectangle 85">
            <a:hlinkClick r:id="rId22" action="ppaction://hlinksldjump"/>
          </p:cNvPr>
          <p:cNvSpPr/>
          <p:nvPr/>
        </p:nvSpPr>
        <p:spPr>
          <a:xfrm>
            <a:off x="1018275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ounded Rectangle 86">
            <a:hlinkClick r:id="rId23" action="ppaction://hlinksldjump"/>
          </p:cNvPr>
          <p:cNvSpPr/>
          <p:nvPr/>
        </p:nvSpPr>
        <p:spPr>
          <a:xfrm>
            <a:off x="10249509"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11119104" y="6492240"/>
            <a:ext cx="429768" cy="210312"/>
          </a:xfrm>
          <a:prstGeom prst="rect">
            <a:avLst/>
          </a:prstGeom>
          <a:noFill/>
        </p:spPr>
        <p:txBody>
          <a:bodyPr wrap="square" lIns="0" tIns="0" rIns="0" bIns="0">
            <a:spAutoFit/>
          </a:bodyPr>
          <a:lstStyle/>
          <a:p>
            <a:pPr algn="r">
              <a:spcAft>
                <a:spcPts val="0"/>
              </a:spcAft>
            </a:pPr>
            <a:r>
              <a:rPr sz="900" b="1" i="0">
                <a:solidFill>
                  <a:srgbClr val="737D84"/>
                </a:solidFill>
                <a:latin typeface="Aptos"/>
              </a:rPr>
              <a:t>07/16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8002" name="Content highlight 2"/>
          <p:cNvSpPr/>
          <p:nvPr/>
        </p:nvSpPr>
        <p:spPr>
          <a:xfrm>
            <a:off x="8829675" y="4248150"/>
            <a:ext cx="2647950" cy="1076325"/>
          </a:xfrm>
          <a:prstGeom prst="rect">
            <a:avLst/>
          </a:prstGeom>
          <a:solidFill>
            <a:srgbClr val="FBF3F5"/>
          </a:solidFill>
          <a:ln>
            <a:noFill/>
          </a:ln>
        </p:spPr>
      </p:sp>
      <p:sp>
        <p:nvSpPr>
          <p:cNvPr id="8001" name="Content highlight 1"/>
          <p:cNvSpPr/>
          <p:nvPr/>
        </p:nvSpPr>
        <p:spPr>
          <a:xfrm>
            <a:off x="9039225" y="2209800"/>
            <a:ext cx="2295525" cy="1657350"/>
          </a:xfrm>
          <a:prstGeom prst="rect">
            <a:avLst/>
          </a:prstGeom>
          <a:solidFill>
            <a:srgbClr val="EEF5F5"/>
          </a:solidFill>
          <a:ln>
            <a:noFill/>
          </a:ln>
        </p:spPr>
      </p:sp>
      <p:sp>
        <p:nvSpPr>
          <p:cNvPr id="4" name="Text 2"/>
          <p:cNvSpPr/>
          <p:nvPr/>
        </p:nvSpPr>
        <p:spPr>
          <a:xfrm>
            <a:off x="713232" y="667512"/>
            <a:ext cx="10387584" cy="484632"/>
          </a:xfrm>
          <a:prstGeom prst="rect">
            <a:avLst/>
          </a:prstGeom>
          <a:noFill/>
          <a:ln/>
        </p:spPr>
        <p:txBody>
          <a:bodyPr wrap="square" lIns="0" tIns="0" rIns="0" bIns="0" rtlCol="0" anchor="ctr">
            <a:normAutofit/>
          </a:bodyPr>
          <a:lstStyle/>
          <a:p>
            <a:pPr marL="0" indent="0" algn="l">
              <a:buNone/>
            </a:pPr>
            <a:r>
              <a:rPr lang="en-US" sz="2650" b="1" dirty="0">
                <a:solidFill>
                  <a:srgbClr val="1D2C36"/>
                </a:solidFill>
                <a:latin typeface="Inter Display" pitchFamily="34" charset="0"/>
                <a:ea typeface="Inter Display" pitchFamily="34" charset="-122"/>
                <a:cs typeface="Inter Display" pitchFamily="34" charset="-120"/>
              </a:rPr>
              <a:t>The surprise: expertise did not matter</a:t>
            </a:r>
            <a:endParaRPr lang="en-US" sz="2650" dirty="0"/>
          </a:p>
        </p:txBody>
      </p:sp>
      <p:sp>
        <p:nvSpPr>
          <p:cNvPr id="42" name="Text 39"/>
          <p:cNvSpPr/>
          <p:nvPr/>
        </p:nvSpPr>
        <p:spPr>
          <a:xfrm>
            <a:off x="804672" y="1335024"/>
            <a:ext cx="7095744" cy="320040"/>
          </a:xfrm>
          <a:prstGeom prst="rect">
            <a:avLst/>
          </a:prstGeom>
          <a:noFill/>
          <a:ln/>
        </p:spPr>
        <p:txBody>
          <a:bodyPr wrap="square" lIns="0" tIns="0" rIns="0" bIns="0" rtlCol="0" anchor="ctr">
            <a:normAutofit/>
          </a:bodyPr>
          <a:lstStyle/>
          <a:p>
            <a:pPr marL="0" indent="0" algn="l">
              <a:buNone/>
            </a:pPr>
            <a:r>
              <a:rPr lang="en-US" sz="1600" dirty="0">
                <a:solidFill>
                  <a:srgbClr val="5C6C76"/>
                </a:solidFill>
                <a:latin typeface="Inter" pitchFamily="34" charset="0"/>
                <a:ea typeface="Inter" pitchFamily="34" charset="-122"/>
                <a:cs typeface="Inter" pitchFamily="34" charset="-120"/>
              </a:rPr>
              <a:t>Matched vs unrelated authority — flip rate (%)</a:t>
            </a:r>
            <a:endParaRPr lang="en-US" sz="1600" dirty="0"/>
          </a:p>
        </p:txBody>
      </p:sp>
      <p:sp>
        <p:nvSpPr>
          <p:cNvPr id="43" name="Shape 40"/>
          <p:cNvSpPr/>
          <p:nvPr/>
        </p:nvSpPr>
        <p:spPr>
          <a:xfrm>
            <a:off x="2816352" y="1819656"/>
            <a:ext cx="201168" cy="100584"/>
          </a:xfrm>
          <a:prstGeom prst="rect">
            <a:avLst/>
          </a:prstGeom>
          <a:solidFill>
            <a:srgbClr val="0B8999"/>
          </a:solidFill>
          <a:ln w="8890">
            <a:solidFill>
              <a:srgbClr val="0B8999">
                <a:alpha val="0"/>
              </a:srgbClr>
            </a:solidFill>
            <a:prstDash val="solid"/>
          </a:ln>
        </p:spPr>
        <p:txBody>
          <a:bodyPr/>
          <a:lstStyle/>
          <a:p>
            <a:endParaRPr/>
          </a:p>
        </p:txBody>
      </p:sp>
      <p:sp>
        <p:nvSpPr>
          <p:cNvPr id="44" name="Text 41"/>
          <p:cNvSpPr/>
          <p:nvPr/>
        </p:nvSpPr>
        <p:spPr>
          <a:xfrm>
            <a:off x="3099816" y="1755648"/>
            <a:ext cx="1773936" cy="256032"/>
          </a:xfrm>
          <a:prstGeom prst="rect">
            <a:avLst/>
          </a:prstGeom>
          <a:noFill/>
          <a:ln/>
        </p:spPr>
        <p:txBody>
          <a:bodyPr wrap="square" lIns="0" tIns="0" rIns="0" bIns="0" rtlCol="0" anchor="ctr">
            <a:normAutofit/>
          </a:bodyPr>
          <a:lstStyle/>
          <a:p>
            <a:pPr marL="0" indent="0" algn="l">
              <a:buNone/>
            </a:pPr>
            <a:r>
              <a:rPr lang="en-US" sz="1060" dirty="0">
                <a:solidFill>
                  <a:srgbClr val="5C6C76"/>
                </a:solidFill>
                <a:latin typeface="Inter" pitchFamily="34" charset="0"/>
                <a:ea typeface="Inter" pitchFamily="34" charset="-122"/>
                <a:cs typeface="Inter" pitchFamily="34" charset="-120"/>
              </a:rPr>
              <a:t>Expertise matched</a:t>
            </a:r>
            <a:endParaRPr lang="en-US" sz="1060" dirty="0"/>
          </a:p>
        </p:txBody>
      </p:sp>
      <p:sp>
        <p:nvSpPr>
          <p:cNvPr id="45" name="Shape 42"/>
          <p:cNvSpPr/>
          <p:nvPr/>
        </p:nvSpPr>
        <p:spPr>
          <a:xfrm>
            <a:off x="5047488" y="1819656"/>
            <a:ext cx="201168" cy="100584"/>
          </a:xfrm>
          <a:prstGeom prst="rect">
            <a:avLst/>
          </a:prstGeom>
          <a:solidFill>
            <a:srgbClr val="B84F59"/>
          </a:solidFill>
          <a:ln w="8890">
            <a:solidFill>
              <a:srgbClr val="B84F59">
                <a:alpha val="0"/>
              </a:srgbClr>
            </a:solidFill>
            <a:prstDash val="solid"/>
          </a:ln>
        </p:spPr>
        <p:txBody>
          <a:bodyPr/>
          <a:lstStyle/>
          <a:p>
            <a:endParaRPr/>
          </a:p>
        </p:txBody>
      </p:sp>
      <p:sp>
        <p:nvSpPr>
          <p:cNvPr id="46" name="Text 43"/>
          <p:cNvSpPr/>
          <p:nvPr/>
        </p:nvSpPr>
        <p:spPr>
          <a:xfrm>
            <a:off x="5330952" y="1755648"/>
            <a:ext cx="2029968" cy="256032"/>
          </a:xfrm>
          <a:prstGeom prst="rect">
            <a:avLst/>
          </a:prstGeom>
          <a:noFill/>
          <a:ln/>
        </p:spPr>
        <p:txBody>
          <a:bodyPr wrap="square" lIns="0" tIns="0" rIns="0" bIns="0" rtlCol="0" anchor="ctr">
            <a:normAutofit/>
          </a:bodyPr>
          <a:lstStyle/>
          <a:p>
            <a:pPr marL="0" indent="0" algn="l">
              <a:buNone/>
            </a:pPr>
            <a:r>
              <a:rPr lang="en-US" sz="1060" dirty="0">
                <a:solidFill>
                  <a:srgbClr val="5C6C76"/>
                </a:solidFill>
                <a:latin typeface="Inter" pitchFamily="34" charset="0"/>
                <a:ea typeface="Inter" pitchFamily="34" charset="-122"/>
                <a:cs typeface="Inter" pitchFamily="34" charset="-120"/>
              </a:rPr>
              <a:t>Unrelated expertise</a:t>
            </a:r>
            <a:endParaRPr lang="en-US" sz="1060" dirty="0"/>
          </a:p>
        </p:txBody>
      </p:sp>
      <p:sp>
        <p:nvSpPr>
          <p:cNvPr id="47" name="Text 44"/>
          <p:cNvSpPr/>
          <p:nvPr/>
        </p:nvSpPr>
        <p:spPr>
          <a:xfrm>
            <a:off x="795528" y="2157984"/>
            <a:ext cx="2002536" cy="256032"/>
          </a:xfrm>
          <a:prstGeom prst="rect">
            <a:avLst/>
          </a:prstGeom>
          <a:noFill/>
          <a:ln/>
        </p:spPr>
        <p:txBody>
          <a:bodyPr wrap="square" lIns="0" tIns="0" rIns="0" bIns="0" rtlCol="0" anchor="ctr">
            <a:normAutofit/>
          </a:bodyPr>
          <a:lstStyle/>
          <a:p>
            <a:pPr marL="0" indent="0" algn="l">
              <a:buNone/>
            </a:pPr>
            <a:r>
              <a:rPr lang="en-US" sz="1130" b="1" dirty="0">
                <a:solidFill>
                  <a:srgbClr val="1D2C36"/>
                </a:solidFill>
                <a:latin typeface="Inter" pitchFamily="34" charset="0"/>
                <a:ea typeface="Inter" pitchFamily="34" charset="-122"/>
                <a:cs typeface="Inter" pitchFamily="34" charset="-120"/>
              </a:rPr>
              <a:t>Qwen3-30B</a:t>
            </a:r>
            <a:endParaRPr lang="en-US" sz="1130" dirty="0"/>
          </a:p>
        </p:txBody>
      </p:sp>
      <p:sp>
        <p:nvSpPr>
          <p:cNvPr id="48" name="Shape 45"/>
          <p:cNvSpPr/>
          <p:nvPr/>
        </p:nvSpPr>
        <p:spPr>
          <a:xfrm>
            <a:off x="2834640" y="2121408"/>
            <a:ext cx="4764024" cy="101498"/>
          </a:xfrm>
          <a:prstGeom prst="roundRect">
            <a:avLst>
              <a:gd name="adj" fmla="val 126127"/>
            </a:avLst>
          </a:prstGeom>
          <a:solidFill>
            <a:srgbClr val="EAF0F2"/>
          </a:solidFill>
          <a:ln w="7620">
            <a:solidFill>
              <a:srgbClr val="EAF0F2">
                <a:alpha val="0"/>
              </a:srgbClr>
            </a:solidFill>
            <a:prstDash val="solid"/>
          </a:ln>
        </p:spPr>
        <p:txBody>
          <a:bodyPr/>
          <a:lstStyle/>
          <a:p>
            <a:endParaRPr/>
          </a:p>
        </p:txBody>
      </p:sp>
      <p:sp>
        <p:nvSpPr>
          <p:cNvPr id="49" name="Shape 46"/>
          <p:cNvSpPr/>
          <p:nvPr/>
        </p:nvSpPr>
        <p:spPr>
          <a:xfrm>
            <a:off x="2834640" y="2121408"/>
            <a:ext cx="161362" cy="96012"/>
          </a:xfrm>
          <a:prstGeom prst="rect">
            <a:avLst/>
          </a:prstGeom>
          <a:solidFill>
            <a:srgbClr val="0B8999"/>
          </a:solidFill>
          <a:ln w="8890">
            <a:solidFill>
              <a:srgbClr val="0B8999">
                <a:alpha val="0"/>
              </a:srgbClr>
            </a:solidFill>
            <a:prstDash val="solid"/>
          </a:ln>
        </p:spPr>
        <p:txBody>
          <a:bodyPr/>
          <a:lstStyle/>
          <a:p>
            <a:endParaRPr/>
          </a:p>
        </p:txBody>
      </p:sp>
      <p:sp>
        <p:nvSpPr>
          <p:cNvPr id="50" name="Shape 47"/>
          <p:cNvSpPr/>
          <p:nvPr/>
        </p:nvSpPr>
        <p:spPr>
          <a:xfrm>
            <a:off x="2834640" y="2263140"/>
            <a:ext cx="4764024" cy="101498"/>
          </a:xfrm>
          <a:prstGeom prst="roundRect">
            <a:avLst>
              <a:gd name="adj" fmla="val 126127"/>
            </a:avLst>
          </a:prstGeom>
          <a:solidFill>
            <a:srgbClr val="EAF0F2"/>
          </a:solidFill>
          <a:ln w="7620">
            <a:solidFill>
              <a:srgbClr val="EAF0F2">
                <a:alpha val="0"/>
              </a:srgbClr>
            </a:solidFill>
            <a:prstDash val="solid"/>
          </a:ln>
        </p:spPr>
        <p:txBody>
          <a:bodyPr/>
          <a:lstStyle/>
          <a:p>
            <a:endParaRPr/>
          </a:p>
        </p:txBody>
      </p:sp>
      <p:sp>
        <p:nvSpPr>
          <p:cNvPr id="51" name="Shape 48"/>
          <p:cNvSpPr/>
          <p:nvPr/>
        </p:nvSpPr>
        <p:spPr>
          <a:xfrm>
            <a:off x="2834640" y="2263140"/>
            <a:ext cx="161362" cy="96012"/>
          </a:xfrm>
          <a:prstGeom prst="rect">
            <a:avLst/>
          </a:prstGeom>
          <a:solidFill>
            <a:srgbClr val="B84F59"/>
          </a:solidFill>
          <a:ln w="8890">
            <a:solidFill>
              <a:srgbClr val="B84F59">
                <a:alpha val="0"/>
              </a:srgbClr>
            </a:solidFill>
            <a:prstDash val="solid"/>
          </a:ln>
        </p:spPr>
        <p:txBody>
          <a:bodyPr/>
          <a:lstStyle/>
          <a:p>
            <a:endParaRPr/>
          </a:p>
        </p:txBody>
      </p:sp>
      <p:sp>
        <p:nvSpPr>
          <p:cNvPr id="52" name="Text 49"/>
          <p:cNvSpPr/>
          <p:nvPr/>
        </p:nvSpPr>
        <p:spPr>
          <a:xfrm>
            <a:off x="7772400" y="2157070"/>
            <a:ext cx="1124712" cy="274320"/>
          </a:xfrm>
          <a:prstGeom prst="rect">
            <a:avLst/>
          </a:prstGeom>
          <a:noFill/>
          <a:ln/>
        </p:spPr>
        <p:txBody>
          <a:bodyPr wrap="square" lIns="0" tIns="0" rIns="0" bIns="0" rtlCol="0" anchor="ctr">
            <a:normAutofit/>
          </a:bodyPr>
          <a:lstStyle/>
          <a:p>
            <a:pPr marL="0" indent="0" algn="r">
              <a:buNone/>
            </a:pPr>
            <a:r>
              <a:rPr lang="en-US" sz="1060" dirty="0">
                <a:solidFill>
                  <a:srgbClr val="5C6C76"/>
                </a:solidFill>
                <a:latin typeface="Inter" pitchFamily="34" charset="0"/>
                <a:ea typeface="Inter" pitchFamily="34" charset="-122"/>
                <a:cs typeface="Inter" pitchFamily="34" charset="-120"/>
              </a:rPr>
              <a:t>2.1 / 2.1</a:t>
            </a:r>
            <a:endParaRPr lang="en-US" sz="1060" dirty="0"/>
          </a:p>
        </p:txBody>
      </p:sp>
      <p:sp>
        <p:nvSpPr>
          <p:cNvPr id="53" name="Text 50"/>
          <p:cNvSpPr/>
          <p:nvPr/>
        </p:nvSpPr>
        <p:spPr>
          <a:xfrm>
            <a:off x="795528" y="2595067"/>
            <a:ext cx="2002536" cy="256032"/>
          </a:xfrm>
          <a:prstGeom prst="rect">
            <a:avLst/>
          </a:prstGeom>
          <a:noFill/>
          <a:ln/>
        </p:spPr>
        <p:txBody>
          <a:bodyPr wrap="square" lIns="0" tIns="0" rIns="0" bIns="0" rtlCol="0" anchor="ctr">
            <a:normAutofit/>
          </a:bodyPr>
          <a:lstStyle/>
          <a:p>
            <a:pPr marL="0" indent="0" algn="l">
              <a:buNone/>
            </a:pPr>
            <a:r>
              <a:rPr lang="en-US" sz="1130" dirty="0">
                <a:solidFill>
                  <a:srgbClr val="1D2C36"/>
                </a:solidFill>
                <a:latin typeface="Inter" pitchFamily="34" charset="0"/>
                <a:ea typeface="Inter" pitchFamily="34" charset="-122"/>
                <a:cs typeface="Inter" pitchFamily="34" charset="-120"/>
              </a:rPr>
              <a:t>DeepSeek-R1-8B</a:t>
            </a:r>
            <a:endParaRPr lang="en-US" sz="1130" dirty="0"/>
          </a:p>
        </p:txBody>
      </p:sp>
      <p:sp>
        <p:nvSpPr>
          <p:cNvPr id="54" name="Shape 51"/>
          <p:cNvSpPr/>
          <p:nvPr/>
        </p:nvSpPr>
        <p:spPr>
          <a:xfrm>
            <a:off x="2834640" y="2558491"/>
            <a:ext cx="4764024" cy="101498"/>
          </a:xfrm>
          <a:prstGeom prst="roundRect">
            <a:avLst>
              <a:gd name="adj" fmla="val 126127"/>
            </a:avLst>
          </a:prstGeom>
          <a:solidFill>
            <a:srgbClr val="EAF0F2"/>
          </a:solidFill>
          <a:ln w="7620">
            <a:solidFill>
              <a:srgbClr val="EAF0F2">
                <a:alpha val="0"/>
              </a:srgbClr>
            </a:solidFill>
            <a:prstDash val="solid"/>
          </a:ln>
        </p:spPr>
        <p:txBody>
          <a:bodyPr/>
          <a:lstStyle/>
          <a:p>
            <a:endParaRPr/>
          </a:p>
        </p:txBody>
      </p:sp>
      <p:sp>
        <p:nvSpPr>
          <p:cNvPr id="55" name="Shape 52"/>
          <p:cNvSpPr/>
          <p:nvPr/>
        </p:nvSpPr>
        <p:spPr>
          <a:xfrm>
            <a:off x="2834640" y="2558491"/>
            <a:ext cx="537874" cy="96012"/>
          </a:xfrm>
          <a:prstGeom prst="rect">
            <a:avLst/>
          </a:prstGeom>
          <a:solidFill>
            <a:srgbClr val="0B8999"/>
          </a:solidFill>
          <a:ln w="8890">
            <a:solidFill>
              <a:srgbClr val="0B8999">
                <a:alpha val="0"/>
              </a:srgbClr>
            </a:solidFill>
            <a:prstDash val="solid"/>
          </a:ln>
        </p:spPr>
        <p:txBody>
          <a:bodyPr/>
          <a:lstStyle/>
          <a:p>
            <a:endParaRPr/>
          </a:p>
        </p:txBody>
      </p:sp>
      <p:sp>
        <p:nvSpPr>
          <p:cNvPr id="56" name="Shape 53"/>
          <p:cNvSpPr/>
          <p:nvPr/>
        </p:nvSpPr>
        <p:spPr>
          <a:xfrm>
            <a:off x="2834640" y="2700223"/>
            <a:ext cx="4764024" cy="101498"/>
          </a:xfrm>
          <a:prstGeom prst="roundRect">
            <a:avLst>
              <a:gd name="adj" fmla="val 126127"/>
            </a:avLst>
          </a:prstGeom>
          <a:solidFill>
            <a:srgbClr val="EAF0F2"/>
          </a:solidFill>
          <a:ln w="7620">
            <a:solidFill>
              <a:srgbClr val="EAF0F2">
                <a:alpha val="0"/>
              </a:srgbClr>
            </a:solidFill>
            <a:prstDash val="solid"/>
          </a:ln>
        </p:spPr>
        <p:txBody>
          <a:bodyPr/>
          <a:lstStyle/>
          <a:p>
            <a:endParaRPr/>
          </a:p>
        </p:txBody>
      </p:sp>
      <p:sp>
        <p:nvSpPr>
          <p:cNvPr id="57" name="Shape 54"/>
          <p:cNvSpPr/>
          <p:nvPr/>
        </p:nvSpPr>
        <p:spPr>
          <a:xfrm>
            <a:off x="2834640" y="2700223"/>
            <a:ext cx="507138" cy="96012"/>
          </a:xfrm>
          <a:prstGeom prst="rect">
            <a:avLst/>
          </a:prstGeom>
          <a:solidFill>
            <a:srgbClr val="B84F59"/>
          </a:solidFill>
          <a:ln w="8890">
            <a:solidFill>
              <a:srgbClr val="B84F59">
                <a:alpha val="0"/>
              </a:srgbClr>
            </a:solidFill>
            <a:prstDash val="solid"/>
          </a:ln>
        </p:spPr>
        <p:txBody>
          <a:bodyPr/>
          <a:lstStyle/>
          <a:p>
            <a:endParaRPr/>
          </a:p>
        </p:txBody>
      </p:sp>
      <p:sp>
        <p:nvSpPr>
          <p:cNvPr id="58" name="Text 55"/>
          <p:cNvSpPr/>
          <p:nvPr/>
        </p:nvSpPr>
        <p:spPr>
          <a:xfrm>
            <a:off x="7772400" y="2594153"/>
            <a:ext cx="1124712" cy="274320"/>
          </a:xfrm>
          <a:prstGeom prst="rect">
            <a:avLst/>
          </a:prstGeom>
          <a:noFill/>
          <a:ln/>
        </p:spPr>
        <p:txBody>
          <a:bodyPr wrap="square" lIns="0" tIns="0" rIns="0" bIns="0" rtlCol="0" anchor="ctr">
            <a:normAutofit/>
          </a:bodyPr>
          <a:lstStyle/>
          <a:p>
            <a:pPr marL="0" indent="0" algn="r">
              <a:buNone/>
            </a:pPr>
            <a:r>
              <a:rPr lang="en-US" sz="1060" dirty="0">
                <a:solidFill>
                  <a:srgbClr val="5C6C76"/>
                </a:solidFill>
                <a:latin typeface="Inter" pitchFamily="34" charset="0"/>
                <a:ea typeface="Inter" pitchFamily="34" charset="-122"/>
                <a:cs typeface="Inter" pitchFamily="34" charset="-120"/>
              </a:rPr>
              <a:t>7.0 / 6.6</a:t>
            </a:r>
            <a:endParaRPr lang="en-US" sz="1060" dirty="0"/>
          </a:p>
        </p:txBody>
      </p:sp>
      <p:sp>
        <p:nvSpPr>
          <p:cNvPr id="59" name="Text 56"/>
          <p:cNvSpPr/>
          <p:nvPr/>
        </p:nvSpPr>
        <p:spPr>
          <a:xfrm>
            <a:off x="795528" y="3032150"/>
            <a:ext cx="2002536" cy="256032"/>
          </a:xfrm>
          <a:prstGeom prst="rect">
            <a:avLst/>
          </a:prstGeom>
          <a:noFill/>
          <a:ln/>
        </p:spPr>
        <p:txBody>
          <a:bodyPr wrap="square" lIns="0" tIns="0" rIns="0" bIns="0" rtlCol="0" anchor="ctr">
            <a:normAutofit/>
          </a:bodyPr>
          <a:lstStyle/>
          <a:p>
            <a:pPr marL="0" indent="0" algn="l">
              <a:buNone/>
            </a:pPr>
            <a:r>
              <a:rPr lang="en-US" sz="1130" dirty="0">
                <a:solidFill>
                  <a:srgbClr val="1D2C36"/>
                </a:solidFill>
                <a:latin typeface="Inter" pitchFamily="34" charset="0"/>
                <a:ea typeface="Inter" pitchFamily="34" charset="-122"/>
                <a:cs typeface="Inter" pitchFamily="34" charset="-120"/>
              </a:rPr>
              <a:t>Llama-3.3-70B</a:t>
            </a:r>
            <a:endParaRPr lang="en-US" sz="1130" dirty="0"/>
          </a:p>
        </p:txBody>
      </p:sp>
      <p:sp>
        <p:nvSpPr>
          <p:cNvPr id="60" name="Shape 57"/>
          <p:cNvSpPr/>
          <p:nvPr/>
        </p:nvSpPr>
        <p:spPr>
          <a:xfrm>
            <a:off x="2834640" y="2995574"/>
            <a:ext cx="4764024" cy="101498"/>
          </a:xfrm>
          <a:prstGeom prst="roundRect">
            <a:avLst>
              <a:gd name="adj" fmla="val 126127"/>
            </a:avLst>
          </a:prstGeom>
          <a:solidFill>
            <a:srgbClr val="EAF0F2"/>
          </a:solidFill>
          <a:ln w="7620">
            <a:solidFill>
              <a:srgbClr val="EAF0F2">
                <a:alpha val="0"/>
              </a:srgbClr>
            </a:solidFill>
            <a:prstDash val="solid"/>
          </a:ln>
        </p:spPr>
        <p:txBody>
          <a:bodyPr/>
          <a:lstStyle/>
          <a:p>
            <a:endParaRPr/>
          </a:p>
        </p:txBody>
      </p:sp>
      <p:sp>
        <p:nvSpPr>
          <p:cNvPr id="61" name="Shape 58"/>
          <p:cNvSpPr/>
          <p:nvPr/>
        </p:nvSpPr>
        <p:spPr>
          <a:xfrm>
            <a:off x="2834640" y="2995574"/>
            <a:ext cx="507138" cy="96012"/>
          </a:xfrm>
          <a:prstGeom prst="rect">
            <a:avLst/>
          </a:prstGeom>
          <a:solidFill>
            <a:srgbClr val="0B8999"/>
          </a:solidFill>
          <a:ln w="8890">
            <a:solidFill>
              <a:srgbClr val="0B8999">
                <a:alpha val="0"/>
              </a:srgbClr>
            </a:solidFill>
            <a:prstDash val="solid"/>
          </a:ln>
        </p:spPr>
        <p:txBody>
          <a:bodyPr/>
          <a:lstStyle/>
          <a:p>
            <a:endParaRPr/>
          </a:p>
        </p:txBody>
      </p:sp>
      <p:sp>
        <p:nvSpPr>
          <p:cNvPr id="62" name="Shape 59"/>
          <p:cNvSpPr/>
          <p:nvPr/>
        </p:nvSpPr>
        <p:spPr>
          <a:xfrm>
            <a:off x="2834640" y="3137306"/>
            <a:ext cx="4764024" cy="101498"/>
          </a:xfrm>
          <a:prstGeom prst="roundRect">
            <a:avLst>
              <a:gd name="adj" fmla="val 126127"/>
            </a:avLst>
          </a:prstGeom>
          <a:solidFill>
            <a:srgbClr val="EAF0F2"/>
          </a:solidFill>
          <a:ln w="7620">
            <a:solidFill>
              <a:srgbClr val="EAF0F2">
                <a:alpha val="0"/>
              </a:srgbClr>
            </a:solidFill>
            <a:prstDash val="solid"/>
          </a:ln>
        </p:spPr>
        <p:txBody>
          <a:bodyPr/>
          <a:lstStyle/>
          <a:p>
            <a:endParaRPr/>
          </a:p>
        </p:txBody>
      </p:sp>
      <p:sp>
        <p:nvSpPr>
          <p:cNvPr id="63" name="Shape 60"/>
          <p:cNvSpPr/>
          <p:nvPr/>
        </p:nvSpPr>
        <p:spPr>
          <a:xfrm>
            <a:off x="2834640" y="3137306"/>
            <a:ext cx="545558" cy="96012"/>
          </a:xfrm>
          <a:prstGeom prst="rect">
            <a:avLst/>
          </a:prstGeom>
          <a:solidFill>
            <a:srgbClr val="B84F59"/>
          </a:solidFill>
          <a:ln w="8890">
            <a:solidFill>
              <a:srgbClr val="B84F59">
                <a:alpha val="0"/>
              </a:srgbClr>
            </a:solidFill>
            <a:prstDash val="solid"/>
          </a:ln>
        </p:spPr>
        <p:txBody>
          <a:bodyPr/>
          <a:lstStyle/>
          <a:p>
            <a:endParaRPr/>
          </a:p>
        </p:txBody>
      </p:sp>
      <p:sp>
        <p:nvSpPr>
          <p:cNvPr id="64" name="Text 61"/>
          <p:cNvSpPr/>
          <p:nvPr/>
        </p:nvSpPr>
        <p:spPr>
          <a:xfrm>
            <a:off x="7772400" y="3031236"/>
            <a:ext cx="1124712" cy="274320"/>
          </a:xfrm>
          <a:prstGeom prst="rect">
            <a:avLst/>
          </a:prstGeom>
          <a:noFill/>
          <a:ln/>
        </p:spPr>
        <p:txBody>
          <a:bodyPr wrap="square" lIns="0" tIns="0" rIns="0" bIns="0" rtlCol="0" anchor="ctr">
            <a:normAutofit/>
          </a:bodyPr>
          <a:lstStyle/>
          <a:p>
            <a:pPr marL="0" indent="0" algn="r">
              <a:buNone/>
            </a:pPr>
            <a:r>
              <a:rPr lang="en-US" sz="1060" dirty="0">
                <a:solidFill>
                  <a:srgbClr val="5C6C76"/>
                </a:solidFill>
                <a:latin typeface="Inter" pitchFamily="34" charset="0"/>
                <a:ea typeface="Inter" pitchFamily="34" charset="-122"/>
                <a:cs typeface="Inter" pitchFamily="34" charset="-120"/>
              </a:rPr>
              <a:t>6.6 / 7.1</a:t>
            </a:r>
            <a:endParaRPr lang="en-US" sz="1060" dirty="0"/>
          </a:p>
        </p:txBody>
      </p:sp>
      <p:sp>
        <p:nvSpPr>
          <p:cNvPr id="65" name="Text 62"/>
          <p:cNvSpPr/>
          <p:nvPr/>
        </p:nvSpPr>
        <p:spPr>
          <a:xfrm>
            <a:off x="795528" y="3469234"/>
            <a:ext cx="2002536" cy="256032"/>
          </a:xfrm>
          <a:prstGeom prst="rect">
            <a:avLst/>
          </a:prstGeom>
          <a:noFill/>
          <a:ln/>
        </p:spPr>
        <p:txBody>
          <a:bodyPr wrap="square" lIns="0" tIns="0" rIns="0" bIns="0" rtlCol="0" anchor="ctr">
            <a:normAutofit/>
          </a:bodyPr>
          <a:lstStyle/>
          <a:p>
            <a:pPr marL="0" indent="0" algn="l">
              <a:buNone/>
            </a:pPr>
            <a:r>
              <a:rPr lang="en-US" sz="1130" dirty="0">
                <a:solidFill>
                  <a:srgbClr val="1D2C36"/>
                </a:solidFill>
                <a:latin typeface="Inter" pitchFamily="34" charset="0"/>
                <a:ea typeface="Inter" pitchFamily="34" charset="-122"/>
                <a:cs typeface="Inter" pitchFamily="34" charset="-120"/>
              </a:rPr>
              <a:t>Qwen3-8B</a:t>
            </a:r>
            <a:endParaRPr lang="en-US" sz="1130" dirty="0"/>
          </a:p>
        </p:txBody>
      </p:sp>
      <p:sp>
        <p:nvSpPr>
          <p:cNvPr id="66" name="Shape 63"/>
          <p:cNvSpPr/>
          <p:nvPr/>
        </p:nvSpPr>
        <p:spPr>
          <a:xfrm>
            <a:off x="2834640" y="3432658"/>
            <a:ext cx="4764024" cy="101498"/>
          </a:xfrm>
          <a:prstGeom prst="roundRect">
            <a:avLst>
              <a:gd name="adj" fmla="val 126127"/>
            </a:avLst>
          </a:prstGeom>
          <a:solidFill>
            <a:srgbClr val="EAF0F2"/>
          </a:solidFill>
          <a:ln w="7620">
            <a:solidFill>
              <a:srgbClr val="EAF0F2">
                <a:alpha val="0"/>
              </a:srgbClr>
            </a:solidFill>
            <a:prstDash val="solid"/>
          </a:ln>
        </p:spPr>
        <p:txBody>
          <a:bodyPr/>
          <a:lstStyle/>
          <a:p>
            <a:endParaRPr/>
          </a:p>
        </p:txBody>
      </p:sp>
      <p:sp>
        <p:nvSpPr>
          <p:cNvPr id="67" name="Shape 64"/>
          <p:cNvSpPr/>
          <p:nvPr/>
        </p:nvSpPr>
        <p:spPr>
          <a:xfrm>
            <a:off x="2834640" y="3432658"/>
            <a:ext cx="929753" cy="96012"/>
          </a:xfrm>
          <a:prstGeom prst="rect">
            <a:avLst/>
          </a:prstGeom>
          <a:solidFill>
            <a:srgbClr val="0B8999"/>
          </a:solidFill>
          <a:ln w="8890">
            <a:solidFill>
              <a:srgbClr val="0B8999">
                <a:alpha val="0"/>
              </a:srgbClr>
            </a:solidFill>
            <a:prstDash val="solid"/>
          </a:ln>
        </p:spPr>
        <p:txBody>
          <a:bodyPr/>
          <a:lstStyle/>
          <a:p>
            <a:endParaRPr/>
          </a:p>
        </p:txBody>
      </p:sp>
      <p:sp>
        <p:nvSpPr>
          <p:cNvPr id="68" name="Shape 65"/>
          <p:cNvSpPr/>
          <p:nvPr/>
        </p:nvSpPr>
        <p:spPr>
          <a:xfrm>
            <a:off x="2834640" y="3574390"/>
            <a:ext cx="4764024" cy="101498"/>
          </a:xfrm>
          <a:prstGeom prst="roundRect">
            <a:avLst>
              <a:gd name="adj" fmla="val 126127"/>
            </a:avLst>
          </a:prstGeom>
          <a:solidFill>
            <a:srgbClr val="EAF0F2"/>
          </a:solidFill>
          <a:ln w="7620">
            <a:solidFill>
              <a:srgbClr val="EAF0F2">
                <a:alpha val="0"/>
              </a:srgbClr>
            </a:solidFill>
            <a:prstDash val="solid"/>
          </a:ln>
        </p:spPr>
        <p:txBody>
          <a:bodyPr/>
          <a:lstStyle/>
          <a:p>
            <a:endParaRPr/>
          </a:p>
        </p:txBody>
      </p:sp>
      <p:sp>
        <p:nvSpPr>
          <p:cNvPr id="69" name="Shape 66"/>
          <p:cNvSpPr/>
          <p:nvPr/>
        </p:nvSpPr>
        <p:spPr>
          <a:xfrm>
            <a:off x="2834640" y="3574390"/>
            <a:ext cx="968173" cy="96012"/>
          </a:xfrm>
          <a:prstGeom prst="rect">
            <a:avLst/>
          </a:prstGeom>
          <a:solidFill>
            <a:srgbClr val="B84F59"/>
          </a:solidFill>
          <a:ln w="8890">
            <a:solidFill>
              <a:srgbClr val="B84F59">
                <a:alpha val="0"/>
              </a:srgbClr>
            </a:solidFill>
            <a:prstDash val="solid"/>
          </a:ln>
        </p:spPr>
        <p:txBody>
          <a:bodyPr/>
          <a:lstStyle/>
          <a:p>
            <a:endParaRPr/>
          </a:p>
        </p:txBody>
      </p:sp>
      <p:sp>
        <p:nvSpPr>
          <p:cNvPr id="70" name="Text 67"/>
          <p:cNvSpPr/>
          <p:nvPr/>
        </p:nvSpPr>
        <p:spPr>
          <a:xfrm>
            <a:off x="7772400" y="3468319"/>
            <a:ext cx="1124712" cy="274320"/>
          </a:xfrm>
          <a:prstGeom prst="rect">
            <a:avLst/>
          </a:prstGeom>
          <a:noFill/>
          <a:ln/>
        </p:spPr>
        <p:txBody>
          <a:bodyPr wrap="square" lIns="0" tIns="0" rIns="0" bIns="0" rtlCol="0" anchor="ctr">
            <a:normAutofit/>
          </a:bodyPr>
          <a:lstStyle/>
          <a:p>
            <a:pPr marL="0" indent="0" algn="r">
              <a:buNone/>
            </a:pPr>
            <a:r>
              <a:rPr lang="en-US" sz="1060" dirty="0">
                <a:solidFill>
                  <a:srgbClr val="5C6C76"/>
                </a:solidFill>
                <a:latin typeface="Inter" pitchFamily="34" charset="0"/>
                <a:ea typeface="Inter" pitchFamily="34" charset="-122"/>
                <a:cs typeface="Inter" pitchFamily="34" charset="-120"/>
              </a:rPr>
              <a:t>12.1 / 12.6</a:t>
            </a:r>
            <a:endParaRPr lang="en-US" sz="1060" dirty="0"/>
          </a:p>
        </p:txBody>
      </p:sp>
      <p:sp>
        <p:nvSpPr>
          <p:cNvPr id="71" name="Text 68"/>
          <p:cNvSpPr/>
          <p:nvPr/>
        </p:nvSpPr>
        <p:spPr>
          <a:xfrm>
            <a:off x="795528" y="3906317"/>
            <a:ext cx="2002536" cy="256032"/>
          </a:xfrm>
          <a:prstGeom prst="rect">
            <a:avLst/>
          </a:prstGeom>
          <a:noFill/>
          <a:ln/>
        </p:spPr>
        <p:txBody>
          <a:bodyPr wrap="square" lIns="0" tIns="0" rIns="0" bIns="0" rtlCol="0" anchor="ctr">
            <a:normAutofit/>
          </a:bodyPr>
          <a:lstStyle/>
          <a:p>
            <a:pPr marL="0" indent="0" algn="l">
              <a:buNone/>
            </a:pPr>
            <a:r>
              <a:rPr lang="en-US" sz="1130" dirty="0">
                <a:solidFill>
                  <a:srgbClr val="1D2C36"/>
                </a:solidFill>
                <a:latin typeface="Inter" pitchFamily="34" charset="0"/>
                <a:ea typeface="Inter" pitchFamily="34" charset="-122"/>
                <a:cs typeface="Inter" pitchFamily="34" charset="-120"/>
              </a:rPr>
              <a:t>Llama-3.1-8B</a:t>
            </a:r>
            <a:endParaRPr lang="en-US" sz="1130" dirty="0"/>
          </a:p>
        </p:txBody>
      </p:sp>
      <p:sp>
        <p:nvSpPr>
          <p:cNvPr id="72" name="Shape 69"/>
          <p:cNvSpPr/>
          <p:nvPr/>
        </p:nvSpPr>
        <p:spPr>
          <a:xfrm>
            <a:off x="2834640" y="3869741"/>
            <a:ext cx="4764024" cy="101498"/>
          </a:xfrm>
          <a:prstGeom prst="roundRect">
            <a:avLst>
              <a:gd name="adj" fmla="val 126127"/>
            </a:avLst>
          </a:prstGeom>
          <a:solidFill>
            <a:srgbClr val="EAF0F2"/>
          </a:solidFill>
          <a:ln w="7620">
            <a:solidFill>
              <a:srgbClr val="EAF0F2">
                <a:alpha val="0"/>
              </a:srgbClr>
            </a:solidFill>
            <a:prstDash val="solid"/>
          </a:ln>
        </p:spPr>
        <p:txBody>
          <a:bodyPr/>
          <a:lstStyle/>
          <a:p>
            <a:endParaRPr/>
          </a:p>
        </p:txBody>
      </p:sp>
      <p:sp>
        <p:nvSpPr>
          <p:cNvPr id="73" name="Shape 70"/>
          <p:cNvSpPr/>
          <p:nvPr/>
        </p:nvSpPr>
        <p:spPr>
          <a:xfrm>
            <a:off x="2834640" y="3869741"/>
            <a:ext cx="1613621" cy="96012"/>
          </a:xfrm>
          <a:prstGeom prst="rect">
            <a:avLst/>
          </a:prstGeom>
          <a:solidFill>
            <a:srgbClr val="0B8999"/>
          </a:solidFill>
          <a:ln w="8890">
            <a:solidFill>
              <a:srgbClr val="0B8999">
                <a:alpha val="0"/>
              </a:srgbClr>
            </a:solidFill>
            <a:prstDash val="solid"/>
          </a:ln>
        </p:spPr>
        <p:txBody>
          <a:bodyPr/>
          <a:lstStyle/>
          <a:p>
            <a:endParaRPr/>
          </a:p>
        </p:txBody>
      </p:sp>
      <p:sp>
        <p:nvSpPr>
          <p:cNvPr id="74" name="Shape 71"/>
          <p:cNvSpPr/>
          <p:nvPr/>
        </p:nvSpPr>
        <p:spPr>
          <a:xfrm>
            <a:off x="2834640" y="4011473"/>
            <a:ext cx="4764024" cy="101498"/>
          </a:xfrm>
          <a:prstGeom prst="roundRect">
            <a:avLst>
              <a:gd name="adj" fmla="val 126127"/>
            </a:avLst>
          </a:prstGeom>
          <a:solidFill>
            <a:srgbClr val="EAF0F2"/>
          </a:solidFill>
          <a:ln w="7620">
            <a:solidFill>
              <a:srgbClr val="EAF0F2">
                <a:alpha val="0"/>
              </a:srgbClr>
            </a:solidFill>
            <a:prstDash val="solid"/>
          </a:ln>
        </p:spPr>
        <p:txBody>
          <a:bodyPr/>
          <a:lstStyle/>
          <a:p>
            <a:endParaRPr/>
          </a:p>
        </p:txBody>
      </p:sp>
      <p:sp>
        <p:nvSpPr>
          <p:cNvPr id="75" name="Shape 72"/>
          <p:cNvSpPr/>
          <p:nvPr/>
        </p:nvSpPr>
        <p:spPr>
          <a:xfrm>
            <a:off x="2834640" y="4011473"/>
            <a:ext cx="1621305" cy="96012"/>
          </a:xfrm>
          <a:prstGeom prst="rect">
            <a:avLst/>
          </a:prstGeom>
          <a:solidFill>
            <a:srgbClr val="B84F59"/>
          </a:solidFill>
          <a:ln w="8890">
            <a:solidFill>
              <a:srgbClr val="B84F59">
                <a:alpha val="0"/>
              </a:srgbClr>
            </a:solidFill>
            <a:prstDash val="solid"/>
          </a:ln>
        </p:spPr>
        <p:txBody>
          <a:bodyPr/>
          <a:lstStyle/>
          <a:p>
            <a:endParaRPr/>
          </a:p>
        </p:txBody>
      </p:sp>
      <p:sp>
        <p:nvSpPr>
          <p:cNvPr id="76" name="Text 73"/>
          <p:cNvSpPr/>
          <p:nvPr/>
        </p:nvSpPr>
        <p:spPr>
          <a:xfrm>
            <a:off x="7772400" y="3905402"/>
            <a:ext cx="1124712" cy="274320"/>
          </a:xfrm>
          <a:prstGeom prst="rect">
            <a:avLst/>
          </a:prstGeom>
          <a:noFill/>
          <a:ln/>
        </p:spPr>
        <p:txBody>
          <a:bodyPr wrap="square" lIns="0" tIns="0" rIns="0" bIns="0" rtlCol="0" anchor="ctr">
            <a:normAutofit/>
          </a:bodyPr>
          <a:lstStyle/>
          <a:p>
            <a:pPr marL="0" indent="0" algn="r">
              <a:buNone/>
            </a:pPr>
            <a:r>
              <a:rPr lang="en-US" sz="1060" dirty="0">
                <a:solidFill>
                  <a:srgbClr val="5C6C76"/>
                </a:solidFill>
                <a:latin typeface="Inter" pitchFamily="34" charset="0"/>
                <a:ea typeface="Inter" pitchFamily="34" charset="-122"/>
                <a:cs typeface="Inter" pitchFamily="34" charset="-120"/>
              </a:rPr>
              <a:t>21.0 / 21.1</a:t>
            </a:r>
            <a:endParaRPr lang="en-US" sz="1060" dirty="0"/>
          </a:p>
        </p:txBody>
      </p:sp>
      <p:sp>
        <p:nvSpPr>
          <p:cNvPr id="77" name="Text 74"/>
          <p:cNvSpPr/>
          <p:nvPr/>
        </p:nvSpPr>
        <p:spPr>
          <a:xfrm>
            <a:off x="795528" y="4343400"/>
            <a:ext cx="2002536" cy="256032"/>
          </a:xfrm>
          <a:prstGeom prst="rect">
            <a:avLst/>
          </a:prstGeom>
          <a:noFill/>
          <a:ln/>
        </p:spPr>
        <p:txBody>
          <a:bodyPr wrap="square" lIns="0" tIns="0" rIns="0" bIns="0" rtlCol="0" anchor="ctr">
            <a:normAutofit/>
          </a:bodyPr>
          <a:lstStyle/>
          <a:p>
            <a:pPr marL="0" indent="0" algn="l">
              <a:buNone/>
            </a:pPr>
            <a:r>
              <a:rPr lang="en-US" sz="1130" dirty="0">
                <a:solidFill>
                  <a:srgbClr val="1D2C36"/>
                </a:solidFill>
                <a:latin typeface="Inter" pitchFamily="34" charset="0"/>
                <a:ea typeface="Inter" pitchFamily="34" charset="-122"/>
                <a:cs typeface="Inter" pitchFamily="34" charset="-120"/>
              </a:rPr>
              <a:t>Mistral-7B</a:t>
            </a:r>
            <a:endParaRPr lang="en-US" sz="1130" dirty="0"/>
          </a:p>
        </p:txBody>
      </p:sp>
      <p:sp>
        <p:nvSpPr>
          <p:cNvPr id="78" name="Shape 75"/>
          <p:cNvSpPr/>
          <p:nvPr/>
        </p:nvSpPr>
        <p:spPr>
          <a:xfrm>
            <a:off x="2834640" y="4306824"/>
            <a:ext cx="4764024" cy="101498"/>
          </a:xfrm>
          <a:prstGeom prst="roundRect">
            <a:avLst>
              <a:gd name="adj" fmla="val 126127"/>
            </a:avLst>
          </a:prstGeom>
          <a:solidFill>
            <a:srgbClr val="EAF0F2"/>
          </a:solidFill>
          <a:ln w="7620">
            <a:solidFill>
              <a:srgbClr val="EAF0F2">
                <a:alpha val="0"/>
              </a:srgbClr>
            </a:solidFill>
            <a:prstDash val="solid"/>
          </a:ln>
        </p:spPr>
        <p:txBody>
          <a:bodyPr/>
          <a:lstStyle/>
          <a:p>
            <a:endParaRPr/>
          </a:p>
        </p:txBody>
      </p:sp>
      <p:sp>
        <p:nvSpPr>
          <p:cNvPr id="79" name="Shape 76"/>
          <p:cNvSpPr/>
          <p:nvPr/>
        </p:nvSpPr>
        <p:spPr>
          <a:xfrm>
            <a:off x="2834640" y="4306824"/>
            <a:ext cx="1844138" cy="96012"/>
          </a:xfrm>
          <a:prstGeom prst="rect">
            <a:avLst/>
          </a:prstGeom>
          <a:solidFill>
            <a:srgbClr val="0B8999"/>
          </a:solidFill>
          <a:ln w="8890">
            <a:solidFill>
              <a:srgbClr val="0B8999">
                <a:alpha val="0"/>
              </a:srgbClr>
            </a:solidFill>
            <a:prstDash val="solid"/>
          </a:ln>
        </p:spPr>
        <p:txBody>
          <a:bodyPr/>
          <a:lstStyle/>
          <a:p>
            <a:endParaRPr/>
          </a:p>
        </p:txBody>
      </p:sp>
      <p:sp>
        <p:nvSpPr>
          <p:cNvPr id="80" name="Shape 77"/>
          <p:cNvSpPr/>
          <p:nvPr/>
        </p:nvSpPr>
        <p:spPr>
          <a:xfrm>
            <a:off x="2834640" y="4448556"/>
            <a:ext cx="4764024" cy="101498"/>
          </a:xfrm>
          <a:prstGeom prst="roundRect">
            <a:avLst>
              <a:gd name="adj" fmla="val 126127"/>
            </a:avLst>
          </a:prstGeom>
          <a:solidFill>
            <a:srgbClr val="EAF0F2"/>
          </a:solidFill>
          <a:ln w="7620">
            <a:solidFill>
              <a:srgbClr val="EAF0F2">
                <a:alpha val="0"/>
              </a:srgbClr>
            </a:solidFill>
            <a:prstDash val="solid"/>
          </a:ln>
        </p:spPr>
        <p:txBody>
          <a:bodyPr/>
          <a:lstStyle/>
          <a:p>
            <a:endParaRPr/>
          </a:p>
        </p:txBody>
      </p:sp>
      <p:sp>
        <p:nvSpPr>
          <p:cNvPr id="81" name="Shape 78"/>
          <p:cNvSpPr/>
          <p:nvPr/>
        </p:nvSpPr>
        <p:spPr>
          <a:xfrm>
            <a:off x="2834640" y="4448556"/>
            <a:ext cx="1813403" cy="96012"/>
          </a:xfrm>
          <a:prstGeom prst="rect">
            <a:avLst/>
          </a:prstGeom>
          <a:solidFill>
            <a:srgbClr val="B84F59"/>
          </a:solidFill>
          <a:ln w="8890">
            <a:solidFill>
              <a:srgbClr val="B84F59">
                <a:alpha val="0"/>
              </a:srgbClr>
            </a:solidFill>
            <a:prstDash val="solid"/>
          </a:ln>
        </p:spPr>
        <p:txBody>
          <a:bodyPr/>
          <a:lstStyle/>
          <a:p>
            <a:endParaRPr/>
          </a:p>
        </p:txBody>
      </p:sp>
      <p:sp>
        <p:nvSpPr>
          <p:cNvPr id="82" name="Text 79"/>
          <p:cNvSpPr/>
          <p:nvPr/>
        </p:nvSpPr>
        <p:spPr>
          <a:xfrm>
            <a:off x="7772400" y="4342486"/>
            <a:ext cx="1124712" cy="274320"/>
          </a:xfrm>
          <a:prstGeom prst="rect">
            <a:avLst/>
          </a:prstGeom>
          <a:noFill/>
          <a:ln/>
        </p:spPr>
        <p:txBody>
          <a:bodyPr wrap="square" lIns="0" tIns="0" rIns="0" bIns="0" rtlCol="0" anchor="ctr">
            <a:normAutofit/>
          </a:bodyPr>
          <a:lstStyle/>
          <a:p>
            <a:pPr marL="0" indent="0" algn="r">
              <a:buNone/>
            </a:pPr>
            <a:r>
              <a:rPr lang="en-US" sz="1060" dirty="0">
                <a:solidFill>
                  <a:srgbClr val="5C6C76"/>
                </a:solidFill>
                <a:latin typeface="Inter" pitchFamily="34" charset="0"/>
                <a:ea typeface="Inter" pitchFamily="34" charset="-122"/>
                <a:cs typeface="Inter" pitchFamily="34" charset="-120"/>
              </a:rPr>
              <a:t>24.0 / 23.6</a:t>
            </a:r>
            <a:endParaRPr lang="en-US" sz="1060" dirty="0"/>
          </a:p>
        </p:txBody>
      </p:sp>
      <p:sp>
        <p:nvSpPr>
          <p:cNvPr id="83" name="Text 80"/>
          <p:cNvSpPr/>
          <p:nvPr/>
        </p:nvSpPr>
        <p:spPr>
          <a:xfrm>
            <a:off x="795528" y="4780483"/>
            <a:ext cx="2002536" cy="256032"/>
          </a:xfrm>
          <a:prstGeom prst="rect">
            <a:avLst/>
          </a:prstGeom>
          <a:noFill/>
          <a:ln/>
        </p:spPr>
        <p:txBody>
          <a:bodyPr wrap="square" lIns="0" tIns="0" rIns="0" bIns="0" rtlCol="0" anchor="ctr">
            <a:normAutofit/>
          </a:bodyPr>
          <a:lstStyle/>
          <a:p>
            <a:pPr marL="0" indent="0" algn="l">
              <a:buNone/>
            </a:pPr>
            <a:r>
              <a:rPr lang="en-US" sz="1130" dirty="0">
                <a:solidFill>
                  <a:srgbClr val="1D2C36"/>
                </a:solidFill>
                <a:latin typeface="Inter" pitchFamily="34" charset="0"/>
                <a:ea typeface="Inter" pitchFamily="34" charset="-122"/>
                <a:cs typeface="Inter" pitchFamily="34" charset="-120"/>
              </a:rPr>
              <a:t>Gemma-3-27B</a:t>
            </a:r>
            <a:endParaRPr lang="en-US" sz="1130" dirty="0"/>
          </a:p>
        </p:txBody>
      </p:sp>
      <p:sp>
        <p:nvSpPr>
          <p:cNvPr id="84" name="Shape 81"/>
          <p:cNvSpPr/>
          <p:nvPr/>
        </p:nvSpPr>
        <p:spPr>
          <a:xfrm>
            <a:off x="2834640" y="4743907"/>
            <a:ext cx="4764024" cy="101498"/>
          </a:xfrm>
          <a:prstGeom prst="roundRect">
            <a:avLst>
              <a:gd name="adj" fmla="val 126127"/>
            </a:avLst>
          </a:prstGeom>
          <a:solidFill>
            <a:srgbClr val="EAF0F2"/>
          </a:solidFill>
          <a:ln w="7620">
            <a:solidFill>
              <a:srgbClr val="EAF0F2">
                <a:alpha val="0"/>
              </a:srgbClr>
            </a:solidFill>
            <a:prstDash val="solid"/>
          </a:ln>
        </p:spPr>
        <p:txBody>
          <a:bodyPr/>
          <a:lstStyle/>
          <a:p>
            <a:endParaRPr/>
          </a:p>
        </p:txBody>
      </p:sp>
      <p:sp>
        <p:nvSpPr>
          <p:cNvPr id="85" name="Shape 82"/>
          <p:cNvSpPr/>
          <p:nvPr/>
        </p:nvSpPr>
        <p:spPr>
          <a:xfrm>
            <a:off x="2834640" y="4743907"/>
            <a:ext cx="4149311" cy="96012"/>
          </a:xfrm>
          <a:prstGeom prst="rect">
            <a:avLst/>
          </a:prstGeom>
          <a:solidFill>
            <a:srgbClr val="0B8999"/>
          </a:solidFill>
          <a:ln w="8890">
            <a:solidFill>
              <a:srgbClr val="0B8999">
                <a:alpha val="0"/>
              </a:srgbClr>
            </a:solidFill>
            <a:prstDash val="solid"/>
          </a:ln>
        </p:spPr>
        <p:txBody>
          <a:bodyPr/>
          <a:lstStyle/>
          <a:p>
            <a:endParaRPr/>
          </a:p>
        </p:txBody>
      </p:sp>
      <p:sp>
        <p:nvSpPr>
          <p:cNvPr id="86" name="Shape 83"/>
          <p:cNvSpPr/>
          <p:nvPr/>
        </p:nvSpPr>
        <p:spPr>
          <a:xfrm>
            <a:off x="2834640" y="4885639"/>
            <a:ext cx="4764024" cy="101498"/>
          </a:xfrm>
          <a:prstGeom prst="roundRect">
            <a:avLst>
              <a:gd name="adj" fmla="val 126127"/>
            </a:avLst>
          </a:prstGeom>
          <a:solidFill>
            <a:srgbClr val="EAF0F2"/>
          </a:solidFill>
          <a:ln w="7620">
            <a:solidFill>
              <a:srgbClr val="EAF0F2">
                <a:alpha val="0"/>
              </a:srgbClr>
            </a:solidFill>
            <a:prstDash val="solid"/>
          </a:ln>
        </p:spPr>
        <p:txBody>
          <a:bodyPr/>
          <a:lstStyle/>
          <a:p>
            <a:endParaRPr/>
          </a:p>
        </p:txBody>
      </p:sp>
      <p:sp>
        <p:nvSpPr>
          <p:cNvPr id="87" name="Shape 84"/>
          <p:cNvSpPr/>
          <p:nvPr/>
        </p:nvSpPr>
        <p:spPr>
          <a:xfrm>
            <a:off x="2834640" y="4885639"/>
            <a:ext cx="4110892" cy="96012"/>
          </a:xfrm>
          <a:prstGeom prst="rect">
            <a:avLst/>
          </a:prstGeom>
          <a:solidFill>
            <a:srgbClr val="B84F59"/>
          </a:solidFill>
          <a:ln w="8890">
            <a:solidFill>
              <a:srgbClr val="B84F59">
                <a:alpha val="0"/>
              </a:srgbClr>
            </a:solidFill>
            <a:prstDash val="solid"/>
          </a:ln>
        </p:spPr>
        <p:txBody>
          <a:bodyPr/>
          <a:lstStyle/>
          <a:p>
            <a:endParaRPr/>
          </a:p>
        </p:txBody>
      </p:sp>
      <p:sp>
        <p:nvSpPr>
          <p:cNvPr id="88" name="Text 85"/>
          <p:cNvSpPr/>
          <p:nvPr/>
        </p:nvSpPr>
        <p:spPr>
          <a:xfrm>
            <a:off x="7772400" y="4779569"/>
            <a:ext cx="1124712" cy="274320"/>
          </a:xfrm>
          <a:prstGeom prst="rect">
            <a:avLst/>
          </a:prstGeom>
          <a:noFill/>
          <a:ln/>
        </p:spPr>
        <p:txBody>
          <a:bodyPr wrap="square" lIns="0" tIns="0" rIns="0" bIns="0" rtlCol="0" anchor="ctr">
            <a:normAutofit/>
          </a:bodyPr>
          <a:lstStyle/>
          <a:p>
            <a:pPr marL="0" indent="0" algn="r">
              <a:buNone/>
            </a:pPr>
            <a:r>
              <a:rPr lang="en-US" sz="1060" dirty="0">
                <a:solidFill>
                  <a:srgbClr val="5C6C76"/>
                </a:solidFill>
                <a:latin typeface="Inter" pitchFamily="34" charset="0"/>
                <a:ea typeface="Inter" pitchFamily="34" charset="-122"/>
                <a:cs typeface="Inter" pitchFamily="34" charset="-120"/>
              </a:rPr>
              <a:t>54.0 / 53.5</a:t>
            </a:r>
            <a:endParaRPr lang="en-US" sz="1060" dirty="0"/>
          </a:p>
        </p:txBody>
      </p:sp>
      <p:sp>
        <p:nvSpPr>
          <p:cNvPr id="89" name="Text 86"/>
          <p:cNvSpPr/>
          <p:nvPr/>
        </p:nvSpPr>
        <p:spPr>
          <a:xfrm>
            <a:off x="795528" y="5217566"/>
            <a:ext cx="2002536" cy="256032"/>
          </a:xfrm>
          <a:prstGeom prst="rect">
            <a:avLst/>
          </a:prstGeom>
          <a:noFill/>
          <a:ln/>
        </p:spPr>
        <p:txBody>
          <a:bodyPr wrap="square" lIns="0" tIns="0" rIns="0" bIns="0" rtlCol="0" anchor="ctr">
            <a:normAutofit/>
          </a:bodyPr>
          <a:lstStyle/>
          <a:p>
            <a:pPr marL="0" indent="0" algn="l">
              <a:buNone/>
            </a:pPr>
            <a:r>
              <a:rPr lang="en-US" sz="1130" b="1" dirty="0">
                <a:solidFill>
                  <a:srgbClr val="1D2C36"/>
                </a:solidFill>
                <a:latin typeface="Inter" pitchFamily="34" charset="0"/>
                <a:ea typeface="Inter" pitchFamily="34" charset="-122"/>
                <a:cs typeface="Inter" pitchFamily="34" charset="-120"/>
              </a:rPr>
              <a:t>Gemma-3-12B</a:t>
            </a:r>
            <a:endParaRPr lang="en-US" sz="1130" dirty="0"/>
          </a:p>
        </p:txBody>
      </p:sp>
      <p:sp>
        <p:nvSpPr>
          <p:cNvPr id="90" name="Shape 87"/>
          <p:cNvSpPr/>
          <p:nvPr/>
        </p:nvSpPr>
        <p:spPr>
          <a:xfrm>
            <a:off x="2834640" y="5180990"/>
            <a:ext cx="4764024" cy="101498"/>
          </a:xfrm>
          <a:prstGeom prst="roundRect">
            <a:avLst>
              <a:gd name="adj" fmla="val 126127"/>
            </a:avLst>
          </a:prstGeom>
          <a:solidFill>
            <a:srgbClr val="EAF0F2"/>
          </a:solidFill>
          <a:ln w="7620">
            <a:solidFill>
              <a:srgbClr val="EAF0F2">
                <a:alpha val="0"/>
              </a:srgbClr>
            </a:solidFill>
            <a:prstDash val="solid"/>
          </a:ln>
        </p:spPr>
        <p:txBody>
          <a:bodyPr/>
          <a:lstStyle/>
          <a:p>
            <a:endParaRPr/>
          </a:p>
        </p:txBody>
      </p:sp>
      <p:sp>
        <p:nvSpPr>
          <p:cNvPr id="91" name="Shape 88"/>
          <p:cNvSpPr/>
          <p:nvPr/>
        </p:nvSpPr>
        <p:spPr>
          <a:xfrm>
            <a:off x="2834640" y="5180990"/>
            <a:ext cx="4433616" cy="96012"/>
          </a:xfrm>
          <a:prstGeom prst="rect">
            <a:avLst/>
          </a:prstGeom>
          <a:solidFill>
            <a:srgbClr val="0B8999"/>
          </a:solidFill>
          <a:ln w="8890">
            <a:solidFill>
              <a:srgbClr val="0B8999">
                <a:alpha val="0"/>
              </a:srgbClr>
            </a:solidFill>
            <a:prstDash val="solid"/>
          </a:ln>
        </p:spPr>
        <p:txBody>
          <a:bodyPr/>
          <a:lstStyle/>
          <a:p>
            <a:endParaRPr/>
          </a:p>
        </p:txBody>
      </p:sp>
      <p:sp>
        <p:nvSpPr>
          <p:cNvPr id="92" name="Shape 89"/>
          <p:cNvSpPr/>
          <p:nvPr/>
        </p:nvSpPr>
        <p:spPr>
          <a:xfrm>
            <a:off x="2834640" y="5322722"/>
            <a:ext cx="4764024" cy="101498"/>
          </a:xfrm>
          <a:prstGeom prst="roundRect">
            <a:avLst>
              <a:gd name="adj" fmla="val 126127"/>
            </a:avLst>
          </a:prstGeom>
          <a:solidFill>
            <a:srgbClr val="EAF0F2"/>
          </a:solidFill>
          <a:ln w="7620">
            <a:solidFill>
              <a:srgbClr val="EAF0F2">
                <a:alpha val="0"/>
              </a:srgbClr>
            </a:solidFill>
            <a:prstDash val="solid"/>
          </a:ln>
        </p:spPr>
        <p:txBody>
          <a:bodyPr/>
          <a:lstStyle/>
          <a:p>
            <a:endParaRPr/>
          </a:p>
        </p:txBody>
      </p:sp>
      <p:sp>
        <p:nvSpPr>
          <p:cNvPr id="93" name="Shape 90"/>
          <p:cNvSpPr/>
          <p:nvPr/>
        </p:nvSpPr>
        <p:spPr>
          <a:xfrm>
            <a:off x="2834640" y="5322722"/>
            <a:ext cx="4495087" cy="96012"/>
          </a:xfrm>
          <a:prstGeom prst="rect">
            <a:avLst/>
          </a:prstGeom>
          <a:solidFill>
            <a:srgbClr val="B84F59"/>
          </a:solidFill>
          <a:ln w="8890">
            <a:solidFill>
              <a:srgbClr val="B84F59">
                <a:alpha val="0"/>
              </a:srgbClr>
            </a:solidFill>
            <a:prstDash val="solid"/>
          </a:ln>
        </p:spPr>
        <p:txBody>
          <a:bodyPr/>
          <a:lstStyle/>
          <a:p>
            <a:endParaRPr/>
          </a:p>
        </p:txBody>
      </p:sp>
      <p:sp>
        <p:nvSpPr>
          <p:cNvPr id="94" name="Text 91"/>
          <p:cNvSpPr/>
          <p:nvPr/>
        </p:nvSpPr>
        <p:spPr>
          <a:xfrm>
            <a:off x="7772400" y="5216652"/>
            <a:ext cx="1124712" cy="274320"/>
          </a:xfrm>
          <a:prstGeom prst="rect">
            <a:avLst/>
          </a:prstGeom>
          <a:noFill/>
          <a:ln/>
        </p:spPr>
        <p:txBody>
          <a:bodyPr wrap="square" lIns="0" tIns="0" rIns="0" bIns="0" rtlCol="0" anchor="ctr">
            <a:normAutofit/>
          </a:bodyPr>
          <a:lstStyle/>
          <a:p>
            <a:pPr marL="0" indent="0" algn="r">
              <a:buNone/>
            </a:pPr>
            <a:r>
              <a:rPr lang="en-US" sz="1060" dirty="0">
                <a:solidFill>
                  <a:srgbClr val="5C6C76"/>
                </a:solidFill>
                <a:latin typeface="Inter" pitchFamily="34" charset="0"/>
                <a:ea typeface="Inter" pitchFamily="34" charset="-122"/>
                <a:cs typeface="Inter" pitchFamily="34" charset="-120"/>
              </a:rPr>
              <a:t>57.7 / 58.5</a:t>
            </a:r>
            <a:endParaRPr lang="en-US" sz="1060" dirty="0"/>
          </a:p>
        </p:txBody>
      </p:sp>
      <p:sp>
        <p:nvSpPr>
          <p:cNvPr id="96" name="Text 93"/>
          <p:cNvSpPr/>
          <p:nvPr/>
        </p:nvSpPr>
        <p:spPr>
          <a:xfrm>
            <a:off x="9299448" y="2386584"/>
            <a:ext cx="1746504" cy="539496"/>
          </a:xfrm>
          <a:prstGeom prst="rect">
            <a:avLst/>
          </a:prstGeom>
          <a:noFill/>
          <a:ln/>
        </p:spPr>
        <p:txBody>
          <a:bodyPr wrap="square" lIns="0" tIns="0" rIns="0" bIns="0" rtlCol="0" anchor="ctr">
            <a:normAutofit/>
          </a:bodyPr>
          <a:lstStyle/>
          <a:p>
            <a:pPr marL="0" indent="0" algn="ctr">
              <a:buNone/>
            </a:pPr>
            <a:r>
              <a:rPr lang="en-US" sz="2600" b="1" dirty="0">
                <a:solidFill>
                  <a:srgbClr val="243649"/>
                </a:solidFill>
                <a:latin typeface="Inter" pitchFamily="34" charset="0"/>
                <a:ea typeface="Inter" pitchFamily="34" charset="-122"/>
                <a:cs typeface="Inter" pitchFamily="34" charset="-120"/>
              </a:rPr>
              <a:t>93–100%</a:t>
            </a:r>
            <a:endParaRPr lang="en-US" sz="2600" dirty="0"/>
          </a:p>
        </p:txBody>
      </p:sp>
      <p:sp>
        <p:nvSpPr>
          <p:cNvPr id="97" name="Text 94"/>
          <p:cNvSpPr/>
          <p:nvPr/>
        </p:nvSpPr>
        <p:spPr>
          <a:xfrm>
            <a:off x="9372600" y="2971800"/>
            <a:ext cx="1645920" cy="566928"/>
          </a:xfrm>
          <a:prstGeom prst="rect">
            <a:avLst/>
          </a:prstGeom>
          <a:noFill/>
          <a:ln/>
        </p:spPr>
        <p:txBody>
          <a:bodyPr wrap="square" lIns="0" tIns="0" rIns="0" bIns="0" rtlCol="0" anchor="ctr">
            <a:normAutofit/>
          </a:bodyPr>
          <a:lstStyle/>
          <a:p>
            <a:pPr marL="0" indent="0" algn="ctr">
              <a:buNone/>
            </a:pPr>
            <a:r>
              <a:rPr lang="en-US" sz="1260" dirty="0">
                <a:solidFill>
                  <a:srgbClr val="1D2C36"/>
                </a:solidFill>
                <a:latin typeface="Inter" pitchFamily="34" charset="0"/>
                <a:ea typeface="Inter" pitchFamily="34" charset="-122"/>
                <a:cs typeface="Inter" pitchFamily="34" charset="-120"/>
              </a:rPr>
              <a:t>Blind Deference</a:t>
            </a:r>
            <a:endParaRPr lang="en-US" sz="1260" dirty="0"/>
          </a:p>
          <a:p>
            <a:pPr marL="0" indent="0" algn="ctr">
              <a:buNone/>
            </a:pPr>
            <a:r>
              <a:rPr lang="en-US" sz="1260" dirty="0">
                <a:solidFill>
                  <a:srgbClr val="1D2C36"/>
                </a:solidFill>
                <a:latin typeface="Inter" pitchFamily="34" charset="0"/>
                <a:ea typeface="Inter" pitchFamily="34" charset="-122"/>
                <a:cs typeface="Inter" pitchFamily="34" charset="-120"/>
              </a:rPr>
              <a:t>Index across</a:t>
            </a:r>
            <a:endParaRPr lang="en-US" sz="1260" dirty="0"/>
          </a:p>
          <a:p>
            <a:pPr marL="0" indent="0" algn="ctr">
              <a:buNone/>
            </a:pPr>
            <a:r>
              <a:rPr lang="en-US" sz="1260" dirty="0">
                <a:solidFill>
                  <a:srgbClr val="1D2C36"/>
                </a:solidFill>
                <a:latin typeface="Inter" pitchFamily="34" charset="0"/>
                <a:ea typeface="Inter" pitchFamily="34" charset="-122"/>
                <a:cs typeface="Inter" pitchFamily="34" charset="-120"/>
              </a:rPr>
              <a:t>8 tested models</a:t>
            </a:r>
            <a:endParaRPr lang="en-US" sz="1260" dirty="0"/>
          </a:p>
        </p:txBody>
      </p:sp>
      <p:sp>
        <p:nvSpPr>
          <p:cNvPr id="98" name="Text 95"/>
          <p:cNvSpPr/>
          <p:nvPr/>
        </p:nvSpPr>
        <p:spPr>
          <a:xfrm>
            <a:off x="8915400" y="4361688"/>
            <a:ext cx="2532888" cy="786384"/>
          </a:xfrm>
          <a:prstGeom prst="rect">
            <a:avLst/>
          </a:prstGeom>
          <a:noFill/>
          <a:ln/>
        </p:spPr>
        <p:txBody>
          <a:bodyPr wrap="square" lIns="0" tIns="0" rIns="0" bIns="0" rtlCol="0" anchor="ctr">
            <a:normAutofit/>
          </a:bodyPr>
          <a:lstStyle/>
          <a:p>
            <a:pPr marL="0" indent="0" algn="ctr">
              <a:buNone/>
            </a:pPr>
            <a:r>
              <a:rPr lang="en-US" sz="1800" b="1" dirty="0">
                <a:solidFill>
                  <a:srgbClr val="B84F59"/>
                </a:solidFill>
                <a:latin typeface="Inter" pitchFamily="34" charset="0"/>
                <a:ea typeface="Inter" pitchFamily="34" charset="-122"/>
                <a:cs typeface="Inter" pitchFamily="34" charset="-120"/>
              </a:rPr>
              <a:t>No model showed a statistically significant domain-match effect.</a:t>
            </a:r>
            <a:endParaRPr lang="en-US" sz="1800" dirty="0"/>
          </a:p>
        </p:txBody>
      </p:sp>
      <p:sp>
        <p:nvSpPr>
          <p:cNvPr id="99" name="Text 96"/>
          <p:cNvSpPr/>
          <p:nvPr/>
        </p:nvSpPr>
        <p:spPr>
          <a:xfrm>
            <a:off x="694944" y="5897880"/>
            <a:ext cx="10927080" cy="182880"/>
          </a:xfrm>
          <a:prstGeom prst="rect">
            <a:avLst/>
          </a:prstGeom>
          <a:noFill/>
          <a:ln/>
        </p:spPr>
        <p:txBody>
          <a:bodyPr wrap="square" lIns="0" tIns="0" rIns="0" bIns="0" rtlCol="0" anchor="ctr">
            <a:normAutofit/>
          </a:bodyPr>
          <a:lstStyle/>
          <a:p>
            <a:pPr marL="0" indent="0" algn="l">
              <a:buNone/>
            </a:pPr>
            <a:r>
              <a:rPr lang="en-US" sz="900" dirty="0">
                <a:solidFill>
                  <a:srgbClr val="7F8C93"/>
                </a:solidFill>
                <a:latin typeface="Inter" pitchFamily="34" charset="0"/>
                <a:ea typeface="Inter" pitchFamily="34" charset="-122"/>
                <a:cs typeface="Inter" pitchFamily="34" charset="-120"/>
              </a:rPr>
              <a:t>Editable redraw from COLM draft Table 2 / Fig. 2a. Paired bars show matched/unrelated flip rates; not a causal explanation.</a:t>
            </a:r>
            <a:endParaRPr lang="en-US" sz="900" dirty="0"/>
          </a:p>
        </p:txBody>
      </p:sp>
      <p:sp>
        <p:nvSpPr>
          <p:cNvPr id="100" name="Rectangle 99"/>
          <p:cNvSpPr/>
          <p:nvPr/>
        </p:nvSpPr>
        <p:spPr>
          <a:xfrm>
            <a:off x="649224" y="6391656"/>
            <a:ext cx="10936224" cy="8229"/>
          </a:xfrm>
          <a:prstGeom prst="rect">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a:hlinkClick r:id="rId5" action="ppaction://hlinksldjump"/>
          </p:cNvPr>
          <p:cNvSpPr txBox="1"/>
          <p:nvPr/>
        </p:nvSpPr>
        <p:spPr>
          <a:xfrm>
            <a:off x="667512" y="6496812"/>
            <a:ext cx="55778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Context</a:t>
            </a:r>
          </a:p>
        </p:txBody>
      </p:sp>
      <p:sp>
        <p:nvSpPr>
          <p:cNvPr id="102" name="Rounded Rectangle 101">
            <a:hlinkClick r:id="rId5" action="ppaction://hlinksldjump"/>
          </p:cNvPr>
          <p:cNvSpPr/>
          <p:nvPr/>
        </p:nvSpPr>
        <p:spPr>
          <a:xfrm>
            <a:off x="1353312"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ounded Rectangle 102">
            <a:hlinkClick r:id="rId6" action="ppaction://hlinksldjump"/>
          </p:cNvPr>
          <p:cNvSpPr/>
          <p:nvPr/>
        </p:nvSpPr>
        <p:spPr>
          <a:xfrm>
            <a:off x="142006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ounded Rectangle 103">
            <a:hlinkClick r:id="rId7" action="ppaction://hlinksldjump"/>
          </p:cNvPr>
          <p:cNvSpPr/>
          <p:nvPr/>
        </p:nvSpPr>
        <p:spPr>
          <a:xfrm>
            <a:off x="1486814"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ounded Rectangle 104">
            <a:hlinkClick r:id="rId8" action="ppaction://hlinksldjump"/>
          </p:cNvPr>
          <p:cNvSpPr/>
          <p:nvPr/>
        </p:nvSpPr>
        <p:spPr>
          <a:xfrm>
            <a:off x="1553565"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ounded Rectangle 105">
            <a:hlinkClick r:id="rId9" action="ppaction://hlinksldjump"/>
          </p:cNvPr>
          <p:cNvSpPr/>
          <p:nvPr/>
        </p:nvSpPr>
        <p:spPr>
          <a:xfrm>
            <a:off x="162031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a:hlinkClick r:id="rId10" action="ppaction://hlinksldjump"/>
          </p:cNvPr>
          <p:cNvSpPr txBox="1"/>
          <p:nvPr/>
        </p:nvSpPr>
        <p:spPr>
          <a:xfrm>
            <a:off x="2523744" y="6496812"/>
            <a:ext cx="69494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Authority</a:t>
            </a:r>
          </a:p>
        </p:txBody>
      </p:sp>
      <p:sp>
        <p:nvSpPr>
          <p:cNvPr id="109" name="Rounded Rectangle 108">
            <a:hlinkClick r:id="rId11" action="ppaction://hlinksldjump"/>
          </p:cNvPr>
          <p:cNvSpPr/>
          <p:nvPr/>
        </p:nvSpPr>
        <p:spPr>
          <a:xfrm>
            <a:off x="338602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a:hlinkClick r:id="rId12" action="ppaction://hlinksldjump"/>
          </p:cNvPr>
          <p:cNvSpPr txBox="1"/>
          <p:nvPr/>
        </p:nvSpPr>
        <p:spPr>
          <a:xfrm>
            <a:off x="4142231" y="6496812"/>
            <a:ext cx="31089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Test</a:t>
            </a:r>
          </a:p>
        </p:txBody>
      </p:sp>
      <p:sp>
        <p:nvSpPr>
          <p:cNvPr id="111" name="Rounded Rectangle 110">
            <a:hlinkClick r:id="rId12" action="ppaction://hlinksldjump"/>
          </p:cNvPr>
          <p:cNvSpPr/>
          <p:nvPr/>
        </p:nvSpPr>
        <p:spPr>
          <a:xfrm>
            <a:off x="454456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a:hlinkClick r:id="rId13" action="ppaction://hlinksldjump"/>
          </p:cNvPr>
          <p:cNvSpPr txBox="1"/>
          <p:nvPr/>
        </p:nvSpPr>
        <p:spPr>
          <a:xfrm>
            <a:off x="5276088" y="6496812"/>
            <a:ext cx="493776" cy="219456"/>
          </a:xfrm>
          <a:prstGeom prst="rect">
            <a:avLst/>
          </a:prstGeom>
          <a:noFill/>
        </p:spPr>
        <p:txBody>
          <a:bodyPr wrap="square" lIns="0" tIns="0" rIns="0" bIns="0">
            <a:spAutoFit/>
          </a:bodyPr>
          <a:lstStyle/>
          <a:p>
            <a:pPr algn="l">
              <a:spcAft>
                <a:spcPts val="0"/>
              </a:spcAft>
            </a:pPr>
            <a:r>
              <a:rPr sz="890" b="1" i="0">
                <a:solidFill>
                  <a:srgbClr val="0C6A6C"/>
                </a:solidFill>
                <a:latin typeface="Aptos"/>
              </a:rPr>
              <a:t>Results</a:t>
            </a:r>
          </a:p>
        </p:txBody>
      </p:sp>
      <p:sp>
        <p:nvSpPr>
          <p:cNvPr id="113" name="Rounded Rectangle 112">
            <a:hlinkClick r:id="rId13" action="ppaction://hlinksldjump"/>
          </p:cNvPr>
          <p:cNvSpPr/>
          <p:nvPr/>
        </p:nvSpPr>
        <p:spPr>
          <a:xfrm>
            <a:off x="5888736" y="6558076"/>
            <a:ext cx="55778" cy="55778"/>
          </a:xfrm>
          <a:prstGeom prst="roundRect">
            <a:avLst>
              <a:gd name="adj" fmla="val 4500"/>
            </a:avLst>
          </a:prstGeom>
          <a:solidFill>
            <a:srgbClr val="0C6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ounded Rectangle 113">
            <a:hlinkClick r:id="rId14" action="ppaction://hlinksldjump"/>
          </p:cNvPr>
          <p:cNvSpPr/>
          <p:nvPr/>
        </p:nvSpPr>
        <p:spPr>
          <a:xfrm>
            <a:off x="595548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ounded Rectangle 114">
            <a:hlinkClick r:id="rId15" action="ppaction://hlinksldjump"/>
          </p:cNvPr>
          <p:cNvSpPr/>
          <p:nvPr/>
        </p:nvSpPr>
        <p:spPr>
          <a:xfrm>
            <a:off x="602223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a:hlinkClick r:id="rId16" action="ppaction://hlinksldjump"/>
          </p:cNvPr>
          <p:cNvSpPr txBox="1"/>
          <p:nvPr/>
        </p:nvSpPr>
        <p:spPr>
          <a:xfrm>
            <a:off x="6912864" y="6496812"/>
            <a:ext cx="777240"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Mechanism</a:t>
            </a:r>
          </a:p>
        </p:txBody>
      </p:sp>
      <p:sp>
        <p:nvSpPr>
          <p:cNvPr id="117" name="Rounded Rectangle 116">
            <a:hlinkClick r:id="rId16" action="ppaction://hlinksldjump"/>
          </p:cNvPr>
          <p:cNvSpPr/>
          <p:nvPr/>
        </p:nvSpPr>
        <p:spPr>
          <a:xfrm>
            <a:off x="785469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ounded Rectangle 117">
            <a:hlinkClick r:id="rId17" action="ppaction://hlinksldjump"/>
          </p:cNvPr>
          <p:cNvSpPr/>
          <p:nvPr/>
        </p:nvSpPr>
        <p:spPr>
          <a:xfrm>
            <a:off x="792144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ounded Rectangle 118">
            <a:hlinkClick r:id="rId18" action="ppaction://hlinksldjump"/>
          </p:cNvPr>
          <p:cNvSpPr/>
          <p:nvPr/>
        </p:nvSpPr>
        <p:spPr>
          <a:xfrm>
            <a:off x="798819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a:hlinkClick r:id="rId19" action="ppaction://hlinksldjump"/>
          </p:cNvPr>
          <p:cNvSpPr txBox="1"/>
          <p:nvPr/>
        </p:nvSpPr>
        <p:spPr>
          <a:xfrm>
            <a:off x="8924544" y="6496812"/>
            <a:ext cx="987552"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Responsibility</a:t>
            </a:r>
          </a:p>
        </p:txBody>
      </p:sp>
      <p:sp>
        <p:nvSpPr>
          <p:cNvPr id="122" name="Rounded Rectangle 121">
            <a:hlinkClick r:id="rId20" action="ppaction://hlinksldjump"/>
          </p:cNvPr>
          <p:cNvSpPr/>
          <p:nvPr/>
        </p:nvSpPr>
        <p:spPr>
          <a:xfrm>
            <a:off x="1011600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ounded Rectangle 122">
            <a:hlinkClick r:id="rId21" action="ppaction://hlinksldjump"/>
          </p:cNvPr>
          <p:cNvSpPr/>
          <p:nvPr/>
        </p:nvSpPr>
        <p:spPr>
          <a:xfrm>
            <a:off x="1018275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ounded Rectangle 123">
            <a:hlinkClick r:id="rId22" action="ppaction://hlinksldjump"/>
          </p:cNvPr>
          <p:cNvSpPr/>
          <p:nvPr/>
        </p:nvSpPr>
        <p:spPr>
          <a:xfrm>
            <a:off x="10249509"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11119104" y="6492240"/>
            <a:ext cx="429768" cy="210312"/>
          </a:xfrm>
          <a:prstGeom prst="rect">
            <a:avLst/>
          </a:prstGeom>
          <a:noFill/>
        </p:spPr>
        <p:txBody>
          <a:bodyPr wrap="square" lIns="0" tIns="0" rIns="0" bIns="0">
            <a:spAutoFit/>
          </a:bodyPr>
          <a:lstStyle/>
          <a:p>
            <a:pPr algn="r">
              <a:spcAft>
                <a:spcPts val="0"/>
              </a:spcAft>
            </a:pPr>
            <a:r>
              <a:rPr sz="900" b="1" i="0">
                <a:solidFill>
                  <a:srgbClr val="737D84"/>
                </a:solidFill>
                <a:latin typeface="Aptos"/>
              </a:rPr>
              <a:t>08/16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8001" name="Content highlight 1"/>
          <p:cNvSpPr/>
          <p:nvPr/>
        </p:nvSpPr>
        <p:spPr>
          <a:xfrm>
            <a:off x="838200" y="5543550"/>
            <a:ext cx="10610850" cy="323850"/>
          </a:xfrm>
          <a:prstGeom prst="rect">
            <a:avLst/>
          </a:prstGeom>
          <a:solidFill>
            <a:srgbClr val="F2F5F7"/>
          </a:solidFill>
          <a:ln>
            <a:noFill/>
          </a:ln>
        </p:spPr>
      </p:sp>
      <p:sp>
        <p:nvSpPr>
          <p:cNvPr id="4" name="Text 2"/>
          <p:cNvSpPr/>
          <p:nvPr/>
        </p:nvSpPr>
        <p:spPr>
          <a:xfrm>
            <a:off x="713232" y="667512"/>
            <a:ext cx="10387584" cy="484632"/>
          </a:xfrm>
          <a:prstGeom prst="rect">
            <a:avLst/>
          </a:prstGeom>
          <a:noFill/>
          <a:ln/>
        </p:spPr>
        <p:txBody>
          <a:bodyPr wrap="square" lIns="0" tIns="0" rIns="0" bIns="0" rtlCol="0" anchor="ctr">
            <a:normAutofit/>
          </a:bodyPr>
          <a:lstStyle/>
          <a:p>
            <a:pPr marL="0" indent="0" algn="l">
              <a:buNone/>
            </a:pPr>
            <a:r>
              <a:rPr lang="en-US" sz="2650" b="1" dirty="0">
                <a:solidFill>
                  <a:srgbClr val="1D2C36"/>
                </a:solidFill>
                <a:latin typeface="Inter Display" pitchFamily="34" charset="0"/>
                <a:ea typeface="Inter Display" pitchFamily="34" charset="-122"/>
                <a:cs typeface="Inter Display" pitchFamily="34" charset="-120"/>
              </a:rPr>
              <a:t>Not all models are equally vulnerable</a:t>
            </a:r>
            <a:endParaRPr lang="en-US" sz="2650" dirty="0"/>
          </a:p>
        </p:txBody>
      </p:sp>
      <p:sp>
        <p:nvSpPr>
          <p:cNvPr id="42" name="Text 39"/>
          <p:cNvSpPr/>
          <p:nvPr/>
        </p:nvSpPr>
        <p:spPr>
          <a:xfrm>
            <a:off x="795528" y="1335024"/>
            <a:ext cx="9326880" cy="347472"/>
          </a:xfrm>
          <a:prstGeom prst="rect">
            <a:avLst/>
          </a:prstGeom>
          <a:noFill/>
          <a:ln/>
        </p:spPr>
        <p:txBody>
          <a:bodyPr wrap="square" lIns="0" tIns="0" rIns="0" bIns="0" rtlCol="0" anchor="ctr">
            <a:normAutofit/>
          </a:bodyPr>
          <a:lstStyle/>
          <a:p>
            <a:pPr marL="0" indent="0" algn="l">
              <a:buNone/>
            </a:pPr>
            <a:r>
              <a:rPr lang="en-US" sz="1600" dirty="0">
                <a:solidFill>
                  <a:srgbClr val="5C6C76"/>
                </a:solidFill>
                <a:latin typeface="Inter" pitchFamily="34" charset="0"/>
                <a:ea typeface="Inter" pitchFamily="34" charset="-122"/>
                <a:cs typeface="Inter" pitchFamily="34" charset="-120"/>
              </a:rPr>
              <a:t>Overall answer-flip rate under the tested conditions</a:t>
            </a:r>
            <a:endParaRPr lang="en-US" sz="1600" dirty="0"/>
          </a:p>
        </p:txBody>
      </p:sp>
      <p:sp>
        <p:nvSpPr>
          <p:cNvPr id="43" name="Text 40"/>
          <p:cNvSpPr/>
          <p:nvPr/>
        </p:nvSpPr>
        <p:spPr>
          <a:xfrm>
            <a:off x="804672" y="1801368"/>
            <a:ext cx="2980944" cy="320040"/>
          </a:xfrm>
          <a:prstGeom prst="rect">
            <a:avLst/>
          </a:prstGeom>
          <a:noFill/>
          <a:ln/>
        </p:spPr>
        <p:txBody>
          <a:bodyPr wrap="square" lIns="0" tIns="0" rIns="0" bIns="0" rtlCol="0" anchor="ctr">
            <a:normAutofit/>
          </a:bodyPr>
          <a:lstStyle/>
          <a:p>
            <a:pPr marL="0" indent="0" algn="l">
              <a:buNone/>
            </a:pPr>
            <a:r>
              <a:rPr lang="en-US" sz="1340" b="1" dirty="0">
                <a:solidFill>
                  <a:srgbClr val="1D2C36"/>
                </a:solidFill>
                <a:latin typeface="Inter" pitchFamily="34" charset="0"/>
                <a:ea typeface="Inter" pitchFamily="34" charset="-122"/>
                <a:cs typeface="Inter" pitchFamily="34" charset="-120"/>
              </a:rPr>
              <a:t>Qwen3-30B-A3B</a:t>
            </a:r>
            <a:endParaRPr lang="en-US" sz="1340" dirty="0"/>
          </a:p>
        </p:txBody>
      </p:sp>
      <p:sp>
        <p:nvSpPr>
          <p:cNvPr id="44" name="Shape 41"/>
          <p:cNvSpPr/>
          <p:nvPr/>
        </p:nvSpPr>
        <p:spPr>
          <a:xfrm>
            <a:off x="3886200" y="1860804"/>
            <a:ext cx="6638544" cy="195682"/>
          </a:xfrm>
          <a:prstGeom prst="roundRect">
            <a:avLst>
              <a:gd name="adj" fmla="val 65420"/>
            </a:avLst>
          </a:prstGeom>
          <a:solidFill>
            <a:srgbClr val="EAF0F2"/>
          </a:solidFill>
          <a:ln w="7620">
            <a:solidFill>
              <a:srgbClr val="EAF0F2">
                <a:alpha val="0"/>
              </a:srgbClr>
            </a:solidFill>
            <a:prstDash val="solid"/>
          </a:ln>
        </p:spPr>
        <p:txBody>
          <a:bodyPr/>
          <a:lstStyle/>
          <a:p>
            <a:endParaRPr/>
          </a:p>
        </p:txBody>
      </p:sp>
      <p:sp>
        <p:nvSpPr>
          <p:cNvPr id="45" name="Shape 42"/>
          <p:cNvSpPr/>
          <p:nvPr/>
        </p:nvSpPr>
        <p:spPr>
          <a:xfrm>
            <a:off x="3886200" y="1860804"/>
            <a:ext cx="241402" cy="195682"/>
          </a:xfrm>
          <a:prstGeom prst="rect">
            <a:avLst/>
          </a:prstGeom>
          <a:solidFill>
            <a:srgbClr val="0B8999"/>
          </a:solidFill>
          <a:ln w="8890">
            <a:solidFill>
              <a:srgbClr val="0B8999">
                <a:alpha val="0"/>
              </a:srgbClr>
            </a:solidFill>
            <a:prstDash val="solid"/>
          </a:ln>
        </p:spPr>
        <p:txBody>
          <a:bodyPr/>
          <a:lstStyle/>
          <a:p>
            <a:endParaRPr/>
          </a:p>
        </p:txBody>
      </p:sp>
      <p:sp>
        <p:nvSpPr>
          <p:cNvPr id="46" name="Text 43"/>
          <p:cNvSpPr/>
          <p:nvPr/>
        </p:nvSpPr>
        <p:spPr>
          <a:xfrm>
            <a:off x="10735056" y="1794053"/>
            <a:ext cx="704088" cy="329184"/>
          </a:xfrm>
          <a:prstGeom prst="rect">
            <a:avLst/>
          </a:prstGeom>
          <a:noFill/>
          <a:ln/>
        </p:spPr>
        <p:txBody>
          <a:bodyPr wrap="square" lIns="0" tIns="0" rIns="0" bIns="0" rtlCol="0" anchor="ctr">
            <a:normAutofit/>
          </a:bodyPr>
          <a:lstStyle/>
          <a:p>
            <a:pPr marL="0" indent="0" algn="r">
              <a:buNone/>
            </a:pPr>
            <a:r>
              <a:rPr lang="en-US" sz="1450" b="1" dirty="0">
                <a:solidFill>
                  <a:srgbClr val="1D2C36"/>
                </a:solidFill>
                <a:latin typeface="Inter" pitchFamily="34" charset="0"/>
                <a:ea typeface="Inter" pitchFamily="34" charset="-122"/>
                <a:cs typeface="Inter" pitchFamily="34" charset="-120"/>
              </a:rPr>
              <a:t>2.0%</a:t>
            </a:r>
            <a:endParaRPr lang="en-US" sz="1450" dirty="0"/>
          </a:p>
        </p:txBody>
      </p:sp>
      <p:sp>
        <p:nvSpPr>
          <p:cNvPr id="47" name="Text 44"/>
          <p:cNvSpPr/>
          <p:nvPr/>
        </p:nvSpPr>
        <p:spPr>
          <a:xfrm>
            <a:off x="804672" y="2282342"/>
            <a:ext cx="2980944" cy="320040"/>
          </a:xfrm>
          <a:prstGeom prst="rect">
            <a:avLst/>
          </a:prstGeom>
          <a:noFill/>
          <a:ln/>
        </p:spPr>
        <p:txBody>
          <a:bodyPr wrap="square" lIns="0" tIns="0" rIns="0" bIns="0" rtlCol="0" anchor="ctr">
            <a:normAutofit/>
          </a:bodyPr>
          <a:lstStyle/>
          <a:p>
            <a:pPr marL="0" indent="0" algn="l">
              <a:buNone/>
            </a:pPr>
            <a:r>
              <a:rPr lang="en-US" sz="1340" dirty="0">
                <a:solidFill>
                  <a:srgbClr val="1D2C36"/>
                </a:solidFill>
                <a:latin typeface="Inter" pitchFamily="34" charset="0"/>
                <a:ea typeface="Inter" pitchFamily="34" charset="-122"/>
                <a:cs typeface="Inter" pitchFamily="34" charset="-120"/>
              </a:rPr>
              <a:t>DeepSeek-R1-Distill-8B</a:t>
            </a:r>
            <a:endParaRPr lang="en-US" sz="1340" dirty="0"/>
          </a:p>
        </p:txBody>
      </p:sp>
      <p:sp>
        <p:nvSpPr>
          <p:cNvPr id="48" name="Shape 45"/>
          <p:cNvSpPr/>
          <p:nvPr/>
        </p:nvSpPr>
        <p:spPr>
          <a:xfrm>
            <a:off x="3886200" y="2341778"/>
            <a:ext cx="6638544" cy="195682"/>
          </a:xfrm>
          <a:prstGeom prst="roundRect">
            <a:avLst>
              <a:gd name="adj" fmla="val 65420"/>
            </a:avLst>
          </a:prstGeom>
          <a:solidFill>
            <a:srgbClr val="EAF0F2"/>
          </a:solidFill>
          <a:ln w="7620">
            <a:solidFill>
              <a:srgbClr val="EAF0F2">
                <a:alpha val="0"/>
              </a:srgbClr>
            </a:solidFill>
            <a:prstDash val="solid"/>
          </a:ln>
        </p:spPr>
        <p:txBody>
          <a:bodyPr/>
          <a:lstStyle/>
          <a:p>
            <a:endParaRPr/>
          </a:p>
        </p:txBody>
      </p:sp>
      <p:sp>
        <p:nvSpPr>
          <p:cNvPr id="49" name="Shape 46"/>
          <p:cNvSpPr/>
          <p:nvPr/>
        </p:nvSpPr>
        <p:spPr>
          <a:xfrm>
            <a:off x="3886200" y="2341778"/>
            <a:ext cx="796625" cy="195682"/>
          </a:xfrm>
          <a:prstGeom prst="rect">
            <a:avLst/>
          </a:prstGeom>
          <a:solidFill>
            <a:srgbClr val="0B8999"/>
          </a:solidFill>
          <a:ln w="8890">
            <a:solidFill>
              <a:srgbClr val="0B8999">
                <a:alpha val="0"/>
              </a:srgbClr>
            </a:solidFill>
            <a:prstDash val="solid"/>
          </a:ln>
        </p:spPr>
        <p:txBody>
          <a:bodyPr/>
          <a:lstStyle/>
          <a:p>
            <a:endParaRPr/>
          </a:p>
        </p:txBody>
      </p:sp>
      <p:sp>
        <p:nvSpPr>
          <p:cNvPr id="50" name="Text 47"/>
          <p:cNvSpPr/>
          <p:nvPr/>
        </p:nvSpPr>
        <p:spPr>
          <a:xfrm>
            <a:off x="10735056" y="2275027"/>
            <a:ext cx="704088" cy="329184"/>
          </a:xfrm>
          <a:prstGeom prst="rect">
            <a:avLst/>
          </a:prstGeom>
          <a:noFill/>
          <a:ln/>
        </p:spPr>
        <p:txBody>
          <a:bodyPr wrap="square" lIns="0" tIns="0" rIns="0" bIns="0" rtlCol="0" anchor="ctr">
            <a:normAutofit/>
          </a:bodyPr>
          <a:lstStyle/>
          <a:p>
            <a:pPr marL="0" indent="0" algn="r">
              <a:buNone/>
            </a:pPr>
            <a:r>
              <a:rPr lang="en-US" sz="1450" b="1" dirty="0">
                <a:solidFill>
                  <a:srgbClr val="1D2C36"/>
                </a:solidFill>
                <a:latin typeface="Inter" pitchFamily="34" charset="0"/>
                <a:ea typeface="Inter" pitchFamily="34" charset="-122"/>
                <a:cs typeface="Inter" pitchFamily="34" charset="-120"/>
              </a:rPr>
              <a:t>6.6%</a:t>
            </a:r>
            <a:endParaRPr lang="en-US" sz="1450" dirty="0"/>
          </a:p>
        </p:txBody>
      </p:sp>
      <p:sp>
        <p:nvSpPr>
          <p:cNvPr id="51" name="Text 48"/>
          <p:cNvSpPr/>
          <p:nvPr/>
        </p:nvSpPr>
        <p:spPr>
          <a:xfrm>
            <a:off x="804672" y="2763317"/>
            <a:ext cx="2980944" cy="320040"/>
          </a:xfrm>
          <a:prstGeom prst="rect">
            <a:avLst/>
          </a:prstGeom>
          <a:noFill/>
          <a:ln/>
        </p:spPr>
        <p:txBody>
          <a:bodyPr wrap="square" lIns="0" tIns="0" rIns="0" bIns="0" rtlCol="0" anchor="ctr">
            <a:normAutofit/>
          </a:bodyPr>
          <a:lstStyle/>
          <a:p>
            <a:pPr marL="0" indent="0" algn="l">
              <a:buNone/>
            </a:pPr>
            <a:r>
              <a:rPr lang="en-US" sz="1340" dirty="0">
                <a:solidFill>
                  <a:srgbClr val="1D2C36"/>
                </a:solidFill>
                <a:latin typeface="Inter" pitchFamily="34" charset="0"/>
                <a:ea typeface="Inter" pitchFamily="34" charset="-122"/>
                <a:cs typeface="Inter" pitchFamily="34" charset="-120"/>
              </a:rPr>
              <a:t>Llama-3.3-70B</a:t>
            </a:r>
            <a:endParaRPr lang="en-US" sz="1340" dirty="0"/>
          </a:p>
        </p:txBody>
      </p:sp>
      <p:sp>
        <p:nvSpPr>
          <p:cNvPr id="52" name="Shape 49"/>
          <p:cNvSpPr/>
          <p:nvPr/>
        </p:nvSpPr>
        <p:spPr>
          <a:xfrm>
            <a:off x="3886200" y="2822753"/>
            <a:ext cx="6638544" cy="195682"/>
          </a:xfrm>
          <a:prstGeom prst="roundRect">
            <a:avLst>
              <a:gd name="adj" fmla="val 65420"/>
            </a:avLst>
          </a:prstGeom>
          <a:solidFill>
            <a:srgbClr val="EAF0F2"/>
          </a:solidFill>
          <a:ln w="7620">
            <a:solidFill>
              <a:srgbClr val="EAF0F2">
                <a:alpha val="0"/>
              </a:srgbClr>
            </a:solidFill>
            <a:prstDash val="solid"/>
          </a:ln>
        </p:spPr>
        <p:txBody>
          <a:bodyPr/>
          <a:lstStyle/>
          <a:p>
            <a:endParaRPr/>
          </a:p>
        </p:txBody>
      </p:sp>
      <p:sp>
        <p:nvSpPr>
          <p:cNvPr id="53" name="Shape 50"/>
          <p:cNvSpPr/>
          <p:nvPr/>
        </p:nvSpPr>
        <p:spPr>
          <a:xfrm>
            <a:off x="3886200" y="2822753"/>
            <a:ext cx="856976" cy="195682"/>
          </a:xfrm>
          <a:prstGeom prst="rect">
            <a:avLst/>
          </a:prstGeom>
          <a:solidFill>
            <a:srgbClr val="0B8999"/>
          </a:solidFill>
          <a:ln w="8890">
            <a:solidFill>
              <a:srgbClr val="0B8999">
                <a:alpha val="0"/>
              </a:srgbClr>
            </a:solidFill>
            <a:prstDash val="solid"/>
          </a:ln>
        </p:spPr>
        <p:txBody>
          <a:bodyPr/>
          <a:lstStyle/>
          <a:p>
            <a:endParaRPr/>
          </a:p>
        </p:txBody>
      </p:sp>
      <p:sp>
        <p:nvSpPr>
          <p:cNvPr id="54" name="Text 51"/>
          <p:cNvSpPr/>
          <p:nvPr/>
        </p:nvSpPr>
        <p:spPr>
          <a:xfrm>
            <a:off x="10735056" y="2756002"/>
            <a:ext cx="704088" cy="329184"/>
          </a:xfrm>
          <a:prstGeom prst="rect">
            <a:avLst/>
          </a:prstGeom>
          <a:noFill/>
          <a:ln/>
        </p:spPr>
        <p:txBody>
          <a:bodyPr wrap="square" lIns="0" tIns="0" rIns="0" bIns="0" rtlCol="0" anchor="ctr">
            <a:normAutofit/>
          </a:bodyPr>
          <a:lstStyle/>
          <a:p>
            <a:pPr marL="0" indent="0" algn="r">
              <a:buNone/>
            </a:pPr>
            <a:r>
              <a:rPr lang="en-US" sz="1450" b="1" dirty="0">
                <a:solidFill>
                  <a:srgbClr val="1D2C36"/>
                </a:solidFill>
                <a:latin typeface="Inter" pitchFamily="34" charset="0"/>
                <a:ea typeface="Inter" pitchFamily="34" charset="-122"/>
                <a:cs typeface="Inter" pitchFamily="34" charset="-120"/>
              </a:rPr>
              <a:t>7.1%</a:t>
            </a:r>
            <a:endParaRPr lang="en-US" sz="1450" dirty="0"/>
          </a:p>
        </p:txBody>
      </p:sp>
      <p:sp>
        <p:nvSpPr>
          <p:cNvPr id="55" name="Text 52"/>
          <p:cNvSpPr/>
          <p:nvPr/>
        </p:nvSpPr>
        <p:spPr>
          <a:xfrm>
            <a:off x="804672" y="3244291"/>
            <a:ext cx="2980944" cy="320040"/>
          </a:xfrm>
          <a:prstGeom prst="rect">
            <a:avLst/>
          </a:prstGeom>
          <a:noFill/>
          <a:ln/>
        </p:spPr>
        <p:txBody>
          <a:bodyPr wrap="square" lIns="0" tIns="0" rIns="0" bIns="0" rtlCol="0" anchor="ctr">
            <a:normAutofit/>
          </a:bodyPr>
          <a:lstStyle/>
          <a:p>
            <a:pPr marL="0" indent="0" algn="l">
              <a:buNone/>
            </a:pPr>
            <a:r>
              <a:rPr lang="en-US" sz="1340" dirty="0">
                <a:solidFill>
                  <a:srgbClr val="1D2C36"/>
                </a:solidFill>
                <a:latin typeface="Inter" pitchFamily="34" charset="0"/>
                <a:ea typeface="Inter" pitchFamily="34" charset="-122"/>
                <a:cs typeface="Inter" pitchFamily="34" charset="-120"/>
              </a:rPr>
              <a:t>Qwen3-8B</a:t>
            </a:r>
            <a:endParaRPr lang="en-US" sz="1340" dirty="0"/>
          </a:p>
        </p:txBody>
      </p:sp>
      <p:sp>
        <p:nvSpPr>
          <p:cNvPr id="56" name="Shape 53"/>
          <p:cNvSpPr/>
          <p:nvPr/>
        </p:nvSpPr>
        <p:spPr>
          <a:xfrm>
            <a:off x="3886200" y="3303727"/>
            <a:ext cx="6638544" cy="195682"/>
          </a:xfrm>
          <a:prstGeom prst="roundRect">
            <a:avLst>
              <a:gd name="adj" fmla="val 65420"/>
            </a:avLst>
          </a:prstGeom>
          <a:solidFill>
            <a:srgbClr val="EAF0F2"/>
          </a:solidFill>
          <a:ln w="7620">
            <a:solidFill>
              <a:srgbClr val="EAF0F2">
                <a:alpha val="0"/>
              </a:srgbClr>
            </a:solidFill>
            <a:prstDash val="solid"/>
          </a:ln>
        </p:spPr>
        <p:txBody>
          <a:bodyPr/>
          <a:lstStyle/>
          <a:p>
            <a:endParaRPr/>
          </a:p>
        </p:txBody>
      </p:sp>
      <p:sp>
        <p:nvSpPr>
          <p:cNvPr id="57" name="Shape 54"/>
          <p:cNvSpPr/>
          <p:nvPr/>
        </p:nvSpPr>
        <p:spPr>
          <a:xfrm>
            <a:off x="3886200" y="3303727"/>
            <a:ext cx="1460480" cy="195682"/>
          </a:xfrm>
          <a:prstGeom prst="rect">
            <a:avLst/>
          </a:prstGeom>
          <a:solidFill>
            <a:srgbClr val="829AA7"/>
          </a:solidFill>
          <a:ln w="8890">
            <a:solidFill>
              <a:srgbClr val="829AA7">
                <a:alpha val="0"/>
              </a:srgbClr>
            </a:solidFill>
            <a:prstDash val="solid"/>
          </a:ln>
        </p:spPr>
        <p:txBody>
          <a:bodyPr/>
          <a:lstStyle/>
          <a:p>
            <a:endParaRPr/>
          </a:p>
        </p:txBody>
      </p:sp>
      <p:sp>
        <p:nvSpPr>
          <p:cNvPr id="58" name="Text 55"/>
          <p:cNvSpPr/>
          <p:nvPr/>
        </p:nvSpPr>
        <p:spPr>
          <a:xfrm>
            <a:off x="10735056" y="3236976"/>
            <a:ext cx="704088" cy="329184"/>
          </a:xfrm>
          <a:prstGeom prst="rect">
            <a:avLst/>
          </a:prstGeom>
          <a:noFill/>
          <a:ln/>
        </p:spPr>
        <p:txBody>
          <a:bodyPr wrap="square" lIns="0" tIns="0" rIns="0" bIns="0" rtlCol="0" anchor="ctr">
            <a:normAutofit/>
          </a:bodyPr>
          <a:lstStyle/>
          <a:p>
            <a:pPr marL="0" indent="0" algn="r">
              <a:buNone/>
            </a:pPr>
            <a:r>
              <a:rPr lang="en-US" sz="1450" b="1" dirty="0">
                <a:solidFill>
                  <a:srgbClr val="1D2C36"/>
                </a:solidFill>
                <a:latin typeface="Inter" pitchFamily="34" charset="0"/>
                <a:ea typeface="Inter" pitchFamily="34" charset="-122"/>
                <a:cs typeface="Inter" pitchFamily="34" charset="-120"/>
              </a:rPr>
              <a:t>12.1%</a:t>
            </a:r>
            <a:endParaRPr lang="en-US" sz="1450" dirty="0"/>
          </a:p>
        </p:txBody>
      </p:sp>
      <p:sp>
        <p:nvSpPr>
          <p:cNvPr id="59" name="Text 56"/>
          <p:cNvSpPr/>
          <p:nvPr/>
        </p:nvSpPr>
        <p:spPr>
          <a:xfrm>
            <a:off x="804672" y="3725266"/>
            <a:ext cx="2980944" cy="320040"/>
          </a:xfrm>
          <a:prstGeom prst="rect">
            <a:avLst/>
          </a:prstGeom>
          <a:noFill/>
          <a:ln/>
        </p:spPr>
        <p:txBody>
          <a:bodyPr wrap="square" lIns="0" tIns="0" rIns="0" bIns="0" rtlCol="0" anchor="ctr">
            <a:normAutofit/>
          </a:bodyPr>
          <a:lstStyle/>
          <a:p>
            <a:pPr marL="0" indent="0" algn="l">
              <a:buNone/>
            </a:pPr>
            <a:r>
              <a:rPr lang="en-US" sz="1340" dirty="0">
                <a:solidFill>
                  <a:srgbClr val="1D2C36"/>
                </a:solidFill>
                <a:latin typeface="Inter" pitchFamily="34" charset="0"/>
                <a:ea typeface="Inter" pitchFamily="34" charset="-122"/>
                <a:cs typeface="Inter" pitchFamily="34" charset="-120"/>
              </a:rPr>
              <a:t>Llama-3.1-8B</a:t>
            </a:r>
            <a:endParaRPr lang="en-US" sz="1340" dirty="0"/>
          </a:p>
        </p:txBody>
      </p:sp>
      <p:sp>
        <p:nvSpPr>
          <p:cNvPr id="60" name="Shape 57"/>
          <p:cNvSpPr/>
          <p:nvPr/>
        </p:nvSpPr>
        <p:spPr>
          <a:xfrm>
            <a:off x="3886200" y="3784702"/>
            <a:ext cx="6638544" cy="195682"/>
          </a:xfrm>
          <a:prstGeom prst="roundRect">
            <a:avLst>
              <a:gd name="adj" fmla="val 65420"/>
            </a:avLst>
          </a:prstGeom>
          <a:solidFill>
            <a:srgbClr val="EAF0F2"/>
          </a:solidFill>
          <a:ln w="7620">
            <a:solidFill>
              <a:srgbClr val="EAF0F2">
                <a:alpha val="0"/>
              </a:srgbClr>
            </a:solidFill>
            <a:prstDash val="solid"/>
          </a:ln>
        </p:spPr>
        <p:txBody>
          <a:bodyPr/>
          <a:lstStyle/>
          <a:p>
            <a:endParaRPr/>
          </a:p>
        </p:txBody>
      </p:sp>
      <p:sp>
        <p:nvSpPr>
          <p:cNvPr id="61" name="Shape 58"/>
          <p:cNvSpPr/>
          <p:nvPr/>
        </p:nvSpPr>
        <p:spPr>
          <a:xfrm>
            <a:off x="3886200" y="3784702"/>
            <a:ext cx="2595067" cy="195682"/>
          </a:xfrm>
          <a:prstGeom prst="rect">
            <a:avLst/>
          </a:prstGeom>
          <a:solidFill>
            <a:srgbClr val="829AA7"/>
          </a:solidFill>
          <a:ln w="8890">
            <a:solidFill>
              <a:srgbClr val="829AA7">
                <a:alpha val="0"/>
              </a:srgbClr>
            </a:solidFill>
            <a:prstDash val="solid"/>
          </a:ln>
        </p:spPr>
        <p:txBody>
          <a:bodyPr/>
          <a:lstStyle/>
          <a:p>
            <a:endParaRPr/>
          </a:p>
        </p:txBody>
      </p:sp>
      <p:sp>
        <p:nvSpPr>
          <p:cNvPr id="62" name="Text 59"/>
          <p:cNvSpPr/>
          <p:nvPr/>
        </p:nvSpPr>
        <p:spPr>
          <a:xfrm>
            <a:off x="10735056" y="3717950"/>
            <a:ext cx="704088" cy="329184"/>
          </a:xfrm>
          <a:prstGeom prst="rect">
            <a:avLst/>
          </a:prstGeom>
          <a:noFill/>
          <a:ln/>
        </p:spPr>
        <p:txBody>
          <a:bodyPr wrap="square" lIns="0" tIns="0" rIns="0" bIns="0" rtlCol="0" anchor="ctr">
            <a:normAutofit/>
          </a:bodyPr>
          <a:lstStyle/>
          <a:p>
            <a:pPr marL="0" indent="0" algn="r">
              <a:buNone/>
            </a:pPr>
            <a:r>
              <a:rPr lang="en-US" sz="1450" b="1" dirty="0">
                <a:solidFill>
                  <a:srgbClr val="1D2C36"/>
                </a:solidFill>
                <a:latin typeface="Inter" pitchFamily="34" charset="0"/>
                <a:ea typeface="Inter" pitchFamily="34" charset="-122"/>
                <a:cs typeface="Inter" pitchFamily="34" charset="-120"/>
              </a:rPr>
              <a:t>21.5%</a:t>
            </a:r>
            <a:endParaRPr lang="en-US" sz="1450" dirty="0"/>
          </a:p>
        </p:txBody>
      </p:sp>
      <p:sp>
        <p:nvSpPr>
          <p:cNvPr id="63" name="Text 60"/>
          <p:cNvSpPr/>
          <p:nvPr/>
        </p:nvSpPr>
        <p:spPr>
          <a:xfrm>
            <a:off x="804672" y="4206240"/>
            <a:ext cx="2980944" cy="320040"/>
          </a:xfrm>
          <a:prstGeom prst="rect">
            <a:avLst/>
          </a:prstGeom>
          <a:noFill/>
          <a:ln/>
        </p:spPr>
        <p:txBody>
          <a:bodyPr wrap="square" lIns="0" tIns="0" rIns="0" bIns="0" rtlCol="0" anchor="ctr">
            <a:normAutofit/>
          </a:bodyPr>
          <a:lstStyle/>
          <a:p>
            <a:pPr marL="0" indent="0" algn="l">
              <a:buNone/>
            </a:pPr>
            <a:r>
              <a:rPr lang="en-US" sz="1340" dirty="0">
                <a:solidFill>
                  <a:srgbClr val="1D2C36"/>
                </a:solidFill>
                <a:latin typeface="Inter" pitchFamily="34" charset="0"/>
                <a:ea typeface="Inter" pitchFamily="34" charset="-122"/>
                <a:cs typeface="Inter" pitchFamily="34" charset="-120"/>
              </a:rPr>
              <a:t>Mistral-7B</a:t>
            </a:r>
            <a:endParaRPr lang="en-US" sz="1340" dirty="0"/>
          </a:p>
        </p:txBody>
      </p:sp>
      <p:sp>
        <p:nvSpPr>
          <p:cNvPr id="64" name="Shape 61"/>
          <p:cNvSpPr/>
          <p:nvPr/>
        </p:nvSpPr>
        <p:spPr>
          <a:xfrm>
            <a:off x="3886200" y="4265676"/>
            <a:ext cx="6638544" cy="195682"/>
          </a:xfrm>
          <a:prstGeom prst="roundRect">
            <a:avLst>
              <a:gd name="adj" fmla="val 65420"/>
            </a:avLst>
          </a:prstGeom>
          <a:solidFill>
            <a:srgbClr val="EAF0F2"/>
          </a:solidFill>
          <a:ln w="7620">
            <a:solidFill>
              <a:srgbClr val="EAF0F2">
                <a:alpha val="0"/>
              </a:srgbClr>
            </a:solidFill>
            <a:prstDash val="solid"/>
          </a:ln>
        </p:spPr>
        <p:txBody>
          <a:bodyPr/>
          <a:lstStyle/>
          <a:p>
            <a:endParaRPr/>
          </a:p>
        </p:txBody>
      </p:sp>
      <p:sp>
        <p:nvSpPr>
          <p:cNvPr id="65" name="Shape 62"/>
          <p:cNvSpPr/>
          <p:nvPr/>
        </p:nvSpPr>
        <p:spPr>
          <a:xfrm>
            <a:off x="3886200" y="4265676"/>
            <a:ext cx="2751978" cy="195682"/>
          </a:xfrm>
          <a:prstGeom prst="rect">
            <a:avLst/>
          </a:prstGeom>
          <a:solidFill>
            <a:srgbClr val="829AA7"/>
          </a:solidFill>
          <a:ln w="8890">
            <a:solidFill>
              <a:srgbClr val="829AA7">
                <a:alpha val="0"/>
              </a:srgbClr>
            </a:solidFill>
            <a:prstDash val="solid"/>
          </a:ln>
        </p:spPr>
        <p:txBody>
          <a:bodyPr/>
          <a:lstStyle/>
          <a:p>
            <a:endParaRPr/>
          </a:p>
        </p:txBody>
      </p:sp>
      <p:sp>
        <p:nvSpPr>
          <p:cNvPr id="66" name="Text 63"/>
          <p:cNvSpPr/>
          <p:nvPr/>
        </p:nvSpPr>
        <p:spPr>
          <a:xfrm>
            <a:off x="10735056" y="4198925"/>
            <a:ext cx="704088" cy="329184"/>
          </a:xfrm>
          <a:prstGeom prst="rect">
            <a:avLst/>
          </a:prstGeom>
          <a:noFill/>
          <a:ln/>
        </p:spPr>
        <p:txBody>
          <a:bodyPr wrap="square" lIns="0" tIns="0" rIns="0" bIns="0" rtlCol="0" anchor="ctr">
            <a:normAutofit/>
          </a:bodyPr>
          <a:lstStyle/>
          <a:p>
            <a:pPr marL="0" indent="0" algn="r">
              <a:buNone/>
            </a:pPr>
            <a:r>
              <a:rPr lang="en-US" sz="1450" b="1" dirty="0">
                <a:solidFill>
                  <a:srgbClr val="1D2C36"/>
                </a:solidFill>
                <a:latin typeface="Inter" pitchFamily="34" charset="0"/>
                <a:ea typeface="Inter" pitchFamily="34" charset="-122"/>
                <a:cs typeface="Inter" pitchFamily="34" charset="-120"/>
              </a:rPr>
              <a:t>22.8%</a:t>
            </a:r>
            <a:endParaRPr lang="en-US" sz="1450" dirty="0"/>
          </a:p>
        </p:txBody>
      </p:sp>
      <p:sp>
        <p:nvSpPr>
          <p:cNvPr id="67" name="Text 64"/>
          <p:cNvSpPr/>
          <p:nvPr/>
        </p:nvSpPr>
        <p:spPr>
          <a:xfrm>
            <a:off x="804672" y="4687214"/>
            <a:ext cx="2980944" cy="320040"/>
          </a:xfrm>
          <a:prstGeom prst="rect">
            <a:avLst/>
          </a:prstGeom>
          <a:noFill/>
          <a:ln/>
        </p:spPr>
        <p:txBody>
          <a:bodyPr wrap="square" lIns="0" tIns="0" rIns="0" bIns="0" rtlCol="0" anchor="ctr">
            <a:normAutofit/>
          </a:bodyPr>
          <a:lstStyle/>
          <a:p>
            <a:pPr marL="0" indent="0" algn="l">
              <a:buNone/>
            </a:pPr>
            <a:r>
              <a:rPr lang="en-US" sz="1340" dirty="0">
                <a:solidFill>
                  <a:srgbClr val="1D2C36"/>
                </a:solidFill>
                <a:latin typeface="Inter" pitchFamily="34" charset="0"/>
                <a:ea typeface="Inter" pitchFamily="34" charset="-122"/>
                <a:cs typeface="Inter" pitchFamily="34" charset="-120"/>
              </a:rPr>
              <a:t>Gemma-3-27B</a:t>
            </a:r>
            <a:endParaRPr lang="en-US" sz="1340" dirty="0"/>
          </a:p>
        </p:txBody>
      </p:sp>
      <p:sp>
        <p:nvSpPr>
          <p:cNvPr id="68" name="Shape 65"/>
          <p:cNvSpPr/>
          <p:nvPr/>
        </p:nvSpPr>
        <p:spPr>
          <a:xfrm>
            <a:off x="3886200" y="4746650"/>
            <a:ext cx="6638544" cy="195682"/>
          </a:xfrm>
          <a:prstGeom prst="roundRect">
            <a:avLst>
              <a:gd name="adj" fmla="val 65420"/>
            </a:avLst>
          </a:prstGeom>
          <a:solidFill>
            <a:srgbClr val="EAF0F2"/>
          </a:solidFill>
          <a:ln w="7620">
            <a:solidFill>
              <a:srgbClr val="EAF0F2">
                <a:alpha val="0"/>
              </a:srgbClr>
            </a:solidFill>
            <a:prstDash val="solid"/>
          </a:ln>
        </p:spPr>
        <p:txBody>
          <a:bodyPr/>
          <a:lstStyle/>
          <a:p>
            <a:endParaRPr/>
          </a:p>
        </p:txBody>
      </p:sp>
      <p:sp>
        <p:nvSpPr>
          <p:cNvPr id="69" name="Shape 66"/>
          <p:cNvSpPr/>
          <p:nvPr/>
        </p:nvSpPr>
        <p:spPr>
          <a:xfrm>
            <a:off x="3886200" y="4746650"/>
            <a:ext cx="5636727" cy="195682"/>
          </a:xfrm>
          <a:prstGeom prst="rect">
            <a:avLst/>
          </a:prstGeom>
          <a:solidFill>
            <a:srgbClr val="B84F59"/>
          </a:solidFill>
          <a:ln w="8890">
            <a:solidFill>
              <a:srgbClr val="B84F59">
                <a:alpha val="0"/>
              </a:srgbClr>
            </a:solidFill>
            <a:prstDash val="solid"/>
          </a:ln>
        </p:spPr>
        <p:txBody>
          <a:bodyPr/>
          <a:lstStyle/>
          <a:p>
            <a:endParaRPr/>
          </a:p>
        </p:txBody>
      </p:sp>
      <p:sp>
        <p:nvSpPr>
          <p:cNvPr id="70" name="Text 67"/>
          <p:cNvSpPr/>
          <p:nvPr/>
        </p:nvSpPr>
        <p:spPr>
          <a:xfrm>
            <a:off x="10735056" y="4679899"/>
            <a:ext cx="704088" cy="329184"/>
          </a:xfrm>
          <a:prstGeom prst="rect">
            <a:avLst/>
          </a:prstGeom>
          <a:noFill/>
          <a:ln/>
        </p:spPr>
        <p:txBody>
          <a:bodyPr wrap="square" lIns="0" tIns="0" rIns="0" bIns="0" rtlCol="0" anchor="ctr">
            <a:normAutofit/>
          </a:bodyPr>
          <a:lstStyle/>
          <a:p>
            <a:pPr marL="0" indent="0" algn="r">
              <a:buNone/>
            </a:pPr>
            <a:r>
              <a:rPr lang="en-US" sz="1450" b="1" dirty="0">
                <a:solidFill>
                  <a:srgbClr val="1D2C36"/>
                </a:solidFill>
                <a:latin typeface="Inter" pitchFamily="34" charset="0"/>
                <a:ea typeface="Inter" pitchFamily="34" charset="-122"/>
                <a:cs typeface="Inter" pitchFamily="34" charset="-120"/>
              </a:rPr>
              <a:t>46.7%</a:t>
            </a:r>
            <a:endParaRPr lang="en-US" sz="1450" dirty="0"/>
          </a:p>
        </p:txBody>
      </p:sp>
      <p:sp>
        <p:nvSpPr>
          <p:cNvPr id="71" name="Text 68"/>
          <p:cNvSpPr/>
          <p:nvPr/>
        </p:nvSpPr>
        <p:spPr>
          <a:xfrm>
            <a:off x="804672" y="5168189"/>
            <a:ext cx="2980944" cy="320040"/>
          </a:xfrm>
          <a:prstGeom prst="rect">
            <a:avLst/>
          </a:prstGeom>
          <a:noFill/>
          <a:ln/>
        </p:spPr>
        <p:txBody>
          <a:bodyPr wrap="square" lIns="0" tIns="0" rIns="0" bIns="0" rtlCol="0" anchor="ctr">
            <a:normAutofit/>
          </a:bodyPr>
          <a:lstStyle/>
          <a:p>
            <a:pPr marL="0" indent="0" algn="l">
              <a:buNone/>
            </a:pPr>
            <a:r>
              <a:rPr lang="en-US" sz="1340" b="1" dirty="0">
                <a:solidFill>
                  <a:srgbClr val="1D2C36"/>
                </a:solidFill>
                <a:latin typeface="Inter" pitchFamily="34" charset="0"/>
                <a:ea typeface="Inter" pitchFamily="34" charset="-122"/>
                <a:cs typeface="Inter" pitchFamily="34" charset="-120"/>
              </a:rPr>
              <a:t>Gemma-3-12B</a:t>
            </a:r>
            <a:endParaRPr lang="en-US" sz="1340" dirty="0"/>
          </a:p>
        </p:txBody>
      </p:sp>
      <p:sp>
        <p:nvSpPr>
          <p:cNvPr id="72" name="Shape 69"/>
          <p:cNvSpPr/>
          <p:nvPr/>
        </p:nvSpPr>
        <p:spPr>
          <a:xfrm>
            <a:off x="3886200" y="5227625"/>
            <a:ext cx="6638544" cy="195682"/>
          </a:xfrm>
          <a:prstGeom prst="roundRect">
            <a:avLst>
              <a:gd name="adj" fmla="val 65420"/>
            </a:avLst>
          </a:prstGeom>
          <a:solidFill>
            <a:srgbClr val="EAF0F2"/>
          </a:solidFill>
          <a:ln w="7620">
            <a:solidFill>
              <a:srgbClr val="EAF0F2">
                <a:alpha val="0"/>
              </a:srgbClr>
            </a:solidFill>
            <a:prstDash val="solid"/>
          </a:ln>
        </p:spPr>
        <p:txBody>
          <a:bodyPr/>
          <a:lstStyle/>
          <a:p>
            <a:endParaRPr/>
          </a:p>
        </p:txBody>
      </p:sp>
      <p:sp>
        <p:nvSpPr>
          <p:cNvPr id="73" name="Shape 70"/>
          <p:cNvSpPr/>
          <p:nvPr/>
        </p:nvSpPr>
        <p:spPr>
          <a:xfrm>
            <a:off x="3886200" y="5227625"/>
            <a:ext cx="6360932" cy="195682"/>
          </a:xfrm>
          <a:prstGeom prst="rect">
            <a:avLst/>
          </a:prstGeom>
          <a:solidFill>
            <a:srgbClr val="B84F59"/>
          </a:solidFill>
          <a:ln w="8890">
            <a:solidFill>
              <a:srgbClr val="B84F59">
                <a:alpha val="0"/>
              </a:srgbClr>
            </a:solidFill>
            <a:prstDash val="solid"/>
          </a:ln>
        </p:spPr>
        <p:txBody>
          <a:bodyPr/>
          <a:lstStyle/>
          <a:p>
            <a:endParaRPr/>
          </a:p>
        </p:txBody>
      </p:sp>
      <p:sp>
        <p:nvSpPr>
          <p:cNvPr id="74" name="Text 71"/>
          <p:cNvSpPr/>
          <p:nvPr/>
        </p:nvSpPr>
        <p:spPr>
          <a:xfrm>
            <a:off x="10735056" y="5160874"/>
            <a:ext cx="704088" cy="329184"/>
          </a:xfrm>
          <a:prstGeom prst="rect">
            <a:avLst/>
          </a:prstGeom>
          <a:noFill/>
          <a:ln/>
        </p:spPr>
        <p:txBody>
          <a:bodyPr wrap="square" lIns="0" tIns="0" rIns="0" bIns="0" rtlCol="0" anchor="ctr">
            <a:normAutofit/>
          </a:bodyPr>
          <a:lstStyle/>
          <a:p>
            <a:pPr marL="0" indent="0" algn="r">
              <a:buNone/>
            </a:pPr>
            <a:r>
              <a:rPr lang="en-US" sz="1450" b="1" dirty="0">
                <a:solidFill>
                  <a:srgbClr val="1D2C36"/>
                </a:solidFill>
                <a:latin typeface="Inter" pitchFamily="34" charset="0"/>
                <a:ea typeface="Inter" pitchFamily="34" charset="-122"/>
                <a:cs typeface="Inter" pitchFamily="34" charset="-120"/>
              </a:rPr>
              <a:t>52.7%</a:t>
            </a:r>
            <a:endParaRPr lang="en-US" sz="1450" dirty="0"/>
          </a:p>
        </p:txBody>
      </p:sp>
      <p:sp>
        <p:nvSpPr>
          <p:cNvPr id="76" name="Text 73"/>
          <p:cNvSpPr/>
          <p:nvPr/>
        </p:nvSpPr>
        <p:spPr>
          <a:xfrm>
            <a:off x="978408" y="5619750"/>
            <a:ext cx="10314432" cy="209550"/>
          </a:xfrm>
          <a:prstGeom prst="rect">
            <a:avLst/>
          </a:prstGeom>
          <a:noFill/>
          <a:ln/>
        </p:spPr>
        <p:txBody>
          <a:bodyPr wrap="square" lIns="0" tIns="0" rIns="0" bIns="0" rtlCol="0" anchor="ctr">
            <a:normAutofit/>
          </a:bodyPr>
          <a:lstStyle/>
          <a:p>
            <a:pPr marL="0" indent="0" algn="l">
              <a:buNone/>
            </a:pPr>
            <a:r>
              <a:rPr lang="en-US" sz="1080" b="1" dirty="0">
                <a:solidFill>
                  <a:srgbClr val="087789"/>
                </a:solidFill>
                <a:latin typeface="Inter" pitchFamily="34" charset="0"/>
                <a:ea typeface="Inter" pitchFamily="34" charset="-122"/>
                <a:cs typeface="Inter" pitchFamily="34" charset="-120"/>
              </a:rPr>
              <a:t>Training-related patterns were observational; parameter count alone was not predictive.</a:t>
            </a:r>
            <a:endParaRPr lang="en-US" sz="1080" dirty="0"/>
          </a:p>
        </p:txBody>
      </p:sp>
      <p:sp>
        <p:nvSpPr>
          <p:cNvPr id="77" name="Text 74"/>
          <p:cNvSpPr/>
          <p:nvPr/>
        </p:nvSpPr>
        <p:spPr>
          <a:xfrm>
            <a:off x="694944" y="5897880"/>
            <a:ext cx="10927080" cy="182880"/>
          </a:xfrm>
          <a:prstGeom prst="rect">
            <a:avLst/>
          </a:prstGeom>
          <a:noFill/>
          <a:ln/>
        </p:spPr>
        <p:txBody>
          <a:bodyPr wrap="square" lIns="0" tIns="0" rIns="0" bIns="0" rtlCol="0" anchor="ctr">
            <a:normAutofit/>
          </a:bodyPr>
          <a:lstStyle/>
          <a:p>
            <a:pPr marL="0" indent="0" algn="l">
              <a:buNone/>
            </a:pPr>
            <a:r>
              <a:rPr lang="en-US" sz="900" dirty="0">
                <a:solidFill>
                  <a:srgbClr val="7F8C93"/>
                </a:solidFill>
                <a:latin typeface="Inter" pitchFamily="34" charset="0"/>
                <a:ea typeface="Inter" pitchFamily="34" charset="-122"/>
                <a:cs typeface="Inter" pitchFamily="34" charset="-120"/>
              </a:rPr>
              <a:t>COLM draft Table 1. Lower flip rate is better; this is a controlled factual-QA benchmark.</a:t>
            </a:r>
            <a:endParaRPr lang="en-US" sz="900" dirty="0"/>
          </a:p>
        </p:txBody>
      </p:sp>
      <p:sp>
        <p:nvSpPr>
          <p:cNvPr id="78" name="Rectangle 77"/>
          <p:cNvSpPr/>
          <p:nvPr/>
        </p:nvSpPr>
        <p:spPr>
          <a:xfrm>
            <a:off x="649224" y="6391656"/>
            <a:ext cx="10936224" cy="8229"/>
          </a:xfrm>
          <a:prstGeom prst="rect">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hlinkClick r:id="rId5" action="ppaction://hlinksldjump"/>
          </p:cNvPr>
          <p:cNvSpPr txBox="1"/>
          <p:nvPr/>
        </p:nvSpPr>
        <p:spPr>
          <a:xfrm>
            <a:off x="667512" y="6496812"/>
            <a:ext cx="55778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Context</a:t>
            </a:r>
          </a:p>
        </p:txBody>
      </p:sp>
      <p:sp>
        <p:nvSpPr>
          <p:cNvPr id="80" name="Rounded Rectangle 79">
            <a:hlinkClick r:id="rId5" action="ppaction://hlinksldjump"/>
          </p:cNvPr>
          <p:cNvSpPr/>
          <p:nvPr/>
        </p:nvSpPr>
        <p:spPr>
          <a:xfrm>
            <a:off x="1353312"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a:hlinkClick r:id="rId6" action="ppaction://hlinksldjump"/>
          </p:cNvPr>
          <p:cNvSpPr/>
          <p:nvPr/>
        </p:nvSpPr>
        <p:spPr>
          <a:xfrm>
            <a:off x="142006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ounded Rectangle 81">
            <a:hlinkClick r:id="rId7" action="ppaction://hlinksldjump"/>
          </p:cNvPr>
          <p:cNvSpPr/>
          <p:nvPr/>
        </p:nvSpPr>
        <p:spPr>
          <a:xfrm>
            <a:off x="1486814"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ounded Rectangle 82">
            <a:hlinkClick r:id="rId8" action="ppaction://hlinksldjump"/>
          </p:cNvPr>
          <p:cNvSpPr/>
          <p:nvPr/>
        </p:nvSpPr>
        <p:spPr>
          <a:xfrm>
            <a:off x="1553565"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ounded Rectangle 83">
            <a:hlinkClick r:id="rId9" action="ppaction://hlinksldjump"/>
          </p:cNvPr>
          <p:cNvSpPr/>
          <p:nvPr/>
        </p:nvSpPr>
        <p:spPr>
          <a:xfrm>
            <a:off x="162031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a:hlinkClick r:id="rId10" action="ppaction://hlinksldjump"/>
          </p:cNvPr>
          <p:cNvSpPr txBox="1"/>
          <p:nvPr/>
        </p:nvSpPr>
        <p:spPr>
          <a:xfrm>
            <a:off x="2523744" y="6496812"/>
            <a:ext cx="69494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Authority</a:t>
            </a:r>
          </a:p>
        </p:txBody>
      </p:sp>
      <p:sp>
        <p:nvSpPr>
          <p:cNvPr id="87" name="Rounded Rectangle 86">
            <a:hlinkClick r:id="rId11" action="ppaction://hlinksldjump"/>
          </p:cNvPr>
          <p:cNvSpPr/>
          <p:nvPr/>
        </p:nvSpPr>
        <p:spPr>
          <a:xfrm>
            <a:off x="338602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a:hlinkClick r:id="rId12" action="ppaction://hlinksldjump"/>
          </p:cNvPr>
          <p:cNvSpPr txBox="1"/>
          <p:nvPr/>
        </p:nvSpPr>
        <p:spPr>
          <a:xfrm>
            <a:off x="4142231" y="6496812"/>
            <a:ext cx="31089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Test</a:t>
            </a:r>
          </a:p>
        </p:txBody>
      </p:sp>
      <p:sp>
        <p:nvSpPr>
          <p:cNvPr id="89" name="Rounded Rectangle 88">
            <a:hlinkClick r:id="rId12" action="ppaction://hlinksldjump"/>
          </p:cNvPr>
          <p:cNvSpPr/>
          <p:nvPr/>
        </p:nvSpPr>
        <p:spPr>
          <a:xfrm>
            <a:off x="454456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a:hlinkClick r:id="rId13" action="ppaction://hlinksldjump"/>
          </p:cNvPr>
          <p:cNvSpPr txBox="1"/>
          <p:nvPr/>
        </p:nvSpPr>
        <p:spPr>
          <a:xfrm>
            <a:off x="5276088" y="6496812"/>
            <a:ext cx="493776" cy="219456"/>
          </a:xfrm>
          <a:prstGeom prst="rect">
            <a:avLst/>
          </a:prstGeom>
          <a:noFill/>
        </p:spPr>
        <p:txBody>
          <a:bodyPr wrap="square" lIns="0" tIns="0" rIns="0" bIns="0">
            <a:spAutoFit/>
          </a:bodyPr>
          <a:lstStyle/>
          <a:p>
            <a:pPr algn="l">
              <a:spcAft>
                <a:spcPts val="0"/>
              </a:spcAft>
            </a:pPr>
            <a:r>
              <a:rPr sz="890" b="1" i="0">
                <a:solidFill>
                  <a:srgbClr val="0C6A6C"/>
                </a:solidFill>
                <a:latin typeface="Aptos"/>
              </a:rPr>
              <a:t>Results</a:t>
            </a:r>
          </a:p>
        </p:txBody>
      </p:sp>
      <p:sp>
        <p:nvSpPr>
          <p:cNvPr id="91" name="Rounded Rectangle 90">
            <a:hlinkClick r:id="rId13" action="ppaction://hlinksldjump"/>
          </p:cNvPr>
          <p:cNvSpPr/>
          <p:nvPr/>
        </p:nvSpPr>
        <p:spPr>
          <a:xfrm>
            <a:off x="588873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ounded Rectangle 91">
            <a:hlinkClick r:id="rId14" action="ppaction://hlinksldjump"/>
          </p:cNvPr>
          <p:cNvSpPr/>
          <p:nvPr/>
        </p:nvSpPr>
        <p:spPr>
          <a:xfrm>
            <a:off x="5955487" y="6558076"/>
            <a:ext cx="55778" cy="55778"/>
          </a:xfrm>
          <a:prstGeom prst="roundRect">
            <a:avLst>
              <a:gd name="adj" fmla="val 4500"/>
            </a:avLst>
          </a:prstGeom>
          <a:solidFill>
            <a:srgbClr val="0C6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ounded Rectangle 92">
            <a:hlinkClick r:id="rId15" action="ppaction://hlinksldjump"/>
          </p:cNvPr>
          <p:cNvSpPr/>
          <p:nvPr/>
        </p:nvSpPr>
        <p:spPr>
          <a:xfrm>
            <a:off x="602223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a:hlinkClick r:id="rId16" action="ppaction://hlinksldjump"/>
          </p:cNvPr>
          <p:cNvSpPr txBox="1"/>
          <p:nvPr/>
        </p:nvSpPr>
        <p:spPr>
          <a:xfrm>
            <a:off x="6912864" y="6496812"/>
            <a:ext cx="777240"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Mechanism</a:t>
            </a:r>
          </a:p>
        </p:txBody>
      </p:sp>
      <p:sp>
        <p:nvSpPr>
          <p:cNvPr id="95" name="Rounded Rectangle 94">
            <a:hlinkClick r:id="rId16" action="ppaction://hlinksldjump"/>
          </p:cNvPr>
          <p:cNvSpPr/>
          <p:nvPr/>
        </p:nvSpPr>
        <p:spPr>
          <a:xfrm>
            <a:off x="785469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ounded Rectangle 95">
            <a:hlinkClick r:id="rId17" action="ppaction://hlinksldjump"/>
          </p:cNvPr>
          <p:cNvSpPr/>
          <p:nvPr/>
        </p:nvSpPr>
        <p:spPr>
          <a:xfrm>
            <a:off x="792144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ounded Rectangle 96">
            <a:hlinkClick r:id="rId18" action="ppaction://hlinksldjump"/>
          </p:cNvPr>
          <p:cNvSpPr/>
          <p:nvPr/>
        </p:nvSpPr>
        <p:spPr>
          <a:xfrm>
            <a:off x="798819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a:hlinkClick r:id="rId19" action="ppaction://hlinksldjump"/>
          </p:cNvPr>
          <p:cNvSpPr txBox="1"/>
          <p:nvPr/>
        </p:nvSpPr>
        <p:spPr>
          <a:xfrm>
            <a:off x="8924544" y="6496812"/>
            <a:ext cx="987552"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Responsibility</a:t>
            </a:r>
          </a:p>
        </p:txBody>
      </p:sp>
      <p:sp>
        <p:nvSpPr>
          <p:cNvPr id="100" name="Rounded Rectangle 99">
            <a:hlinkClick r:id="rId20" action="ppaction://hlinksldjump"/>
          </p:cNvPr>
          <p:cNvSpPr/>
          <p:nvPr/>
        </p:nvSpPr>
        <p:spPr>
          <a:xfrm>
            <a:off x="1011600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ounded Rectangle 100">
            <a:hlinkClick r:id="rId21" action="ppaction://hlinksldjump"/>
          </p:cNvPr>
          <p:cNvSpPr/>
          <p:nvPr/>
        </p:nvSpPr>
        <p:spPr>
          <a:xfrm>
            <a:off x="1018275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ounded Rectangle 101">
            <a:hlinkClick r:id="rId22" action="ppaction://hlinksldjump"/>
          </p:cNvPr>
          <p:cNvSpPr/>
          <p:nvPr/>
        </p:nvSpPr>
        <p:spPr>
          <a:xfrm>
            <a:off x="10249509"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11119104" y="6492240"/>
            <a:ext cx="429768" cy="210312"/>
          </a:xfrm>
          <a:prstGeom prst="rect">
            <a:avLst/>
          </a:prstGeom>
          <a:noFill/>
        </p:spPr>
        <p:txBody>
          <a:bodyPr wrap="square" lIns="0" tIns="0" rIns="0" bIns="0">
            <a:spAutoFit/>
          </a:bodyPr>
          <a:lstStyle/>
          <a:p>
            <a:pPr algn="r">
              <a:spcAft>
                <a:spcPts val="0"/>
              </a:spcAft>
            </a:pPr>
            <a:r>
              <a:rPr sz="900" b="1" i="0">
                <a:solidFill>
                  <a:srgbClr val="737D84"/>
                </a:solidFill>
                <a:latin typeface="Aptos"/>
              </a:rPr>
              <a:t>09/16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8003" name="Content highlight 3"/>
          <p:cNvSpPr/>
          <p:nvPr/>
        </p:nvSpPr>
        <p:spPr>
          <a:xfrm>
            <a:off x="8296275" y="2057400"/>
            <a:ext cx="3152775" cy="2181225"/>
          </a:xfrm>
          <a:prstGeom prst="rect">
            <a:avLst/>
          </a:prstGeom>
          <a:solidFill>
            <a:srgbClr val="EEF5F5"/>
          </a:solidFill>
          <a:ln>
            <a:noFill/>
          </a:ln>
        </p:spPr>
      </p:sp>
      <p:sp>
        <p:nvSpPr>
          <p:cNvPr id="8002" name="Content highlight 2"/>
          <p:cNvSpPr/>
          <p:nvPr/>
        </p:nvSpPr>
        <p:spPr>
          <a:xfrm>
            <a:off x="4581525" y="2057400"/>
            <a:ext cx="3152775" cy="2181225"/>
          </a:xfrm>
          <a:prstGeom prst="rect">
            <a:avLst/>
          </a:prstGeom>
          <a:solidFill>
            <a:srgbClr val="EEF5F5"/>
          </a:solidFill>
          <a:ln>
            <a:noFill/>
          </a:ln>
        </p:spPr>
      </p:sp>
      <p:sp>
        <p:nvSpPr>
          <p:cNvPr id="8001" name="Content highlight 1"/>
          <p:cNvSpPr/>
          <p:nvPr/>
        </p:nvSpPr>
        <p:spPr>
          <a:xfrm>
            <a:off x="866775" y="2057400"/>
            <a:ext cx="3152775" cy="2181225"/>
          </a:xfrm>
          <a:prstGeom prst="rect">
            <a:avLst/>
          </a:prstGeom>
          <a:solidFill>
            <a:srgbClr val="EEF5F5"/>
          </a:solidFill>
          <a:ln>
            <a:noFill/>
          </a:ln>
        </p:spPr>
      </p:sp>
      <p:sp>
        <p:nvSpPr>
          <p:cNvPr id="4" name="Text 2"/>
          <p:cNvSpPr/>
          <p:nvPr/>
        </p:nvSpPr>
        <p:spPr>
          <a:xfrm>
            <a:off x="713232" y="667512"/>
            <a:ext cx="10387584" cy="484632"/>
          </a:xfrm>
          <a:prstGeom prst="rect">
            <a:avLst/>
          </a:prstGeom>
          <a:noFill/>
          <a:ln/>
        </p:spPr>
        <p:txBody>
          <a:bodyPr wrap="square" lIns="0" tIns="0" rIns="0" bIns="0" rtlCol="0" anchor="ctr">
            <a:normAutofit/>
          </a:bodyPr>
          <a:lstStyle/>
          <a:p>
            <a:pPr marL="0" indent="0" algn="l">
              <a:buNone/>
            </a:pPr>
            <a:r>
              <a:rPr lang="en-US" sz="2650" b="1" dirty="0">
                <a:solidFill>
                  <a:srgbClr val="1D2C36"/>
                </a:solidFill>
                <a:latin typeface="Inter Display" pitchFamily="34" charset="0"/>
                <a:ea typeface="Inter Display" pitchFamily="34" charset="-122"/>
                <a:cs typeface="Inter Display" pitchFamily="34" charset="-120"/>
              </a:rPr>
              <a:t>Authority arrives through context</a:t>
            </a:r>
            <a:endParaRPr lang="en-US" sz="2650" dirty="0"/>
          </a:p>
        </p:txBody>
      </p:sp>
      <p:sp>
        <p:nvSpPr>
          <p:cNvPr id="42" name="Text 39"/>
          <p:cNvSpPr/>
          <p:nvPr/>
        </p:nvSpPr>
        <p:spPr>
          <a:xfrm>
            <a:off x="795528" y="1362456"/>
            <a:ext cx="10332720" cy="356616"/>
          </a:xfrm>
          <a:prstGeom prst="rect">
            <a:avLst/>
          </a:prstGeom>
          <a:noFill/>
          <a:ln/>
        </p:spPr>
        <p:txBody>
          <a:bodyPr wrap="square" lIns="0" tIns="0" rIns="0" bIns="0" rtlCol="0" anchor="ctr">
            <a:normAutofit/>
          </a:bodyPr>
          <a:lstStyle/>
          <a:p>
            <a:pPr marL="0" indent="0" algn="l">
              <a:buNone/>
            </a:pPr>
            <a:r>
              <a:rPr lang="en-US" sz="1870" b="1" dirty="0">
                <a:solidFill>
                  <a:srgbClr val="1D2C36"/>
                </a:solidFill>
                <a:latin typeface="Inter" pitchFamily="34" charset="0"/>
                <a:ea typeface="Inter" pitchFamily="34" charset="-122"/>
                <a:cs typeface="Inter" pitchFamily="34" charset="-120"/>
              </a:rPr>
              <a:t>Not just a user saying “I’m an expert.”</a:t>
            </a:r>
            <a:endParaRPr lang="en-US" sz="1870" dirty="0"/>
          </a:p>
        </p:txBody>
      </p:sp>
      <p:sp>
        <p:nvSpPr>
          <p:cNvPr id="44" name="Text 41"/>
          <p:cNvSpPr/>
          <p:nvPr/>
        </p:nvSpPr>
        <p:spPr>
          <a:xfrm>
            <a:off x="1014984" y="2221992"/>
            <a:ext cx="548640" cy="402336"/>
          </a:xfrm>
          <a:prstGeom prst="rect">
            <a:avLst/>
          </a:prstGeom>
          <a:noFill/>
          <a:ln/>
        </p:spPr>
        <p:txBody>
          <a:bodyPr wrap="square" lIns="0" tIns="0" rIns="0" bIns="0" rtlCol="0" anchor="ctr">
            <a:normAutofit/>
          </a:bodyPr>
          <a:lstStyle/>
          <a:p>
            <a:pPr marL="0" indent="0" algn="l">
              <a:buNone/>
            </a:pPr>
            <a:r>
              <a:rPr lang="en-US" sz="1800" b="1" dirty="0">
                <a:solidFill>
                  <a:srgbClr val="0B8999"/>
                </a:solidFill>
                <a:latin typeface="Inter" pitchFamily="34" charset="0"/>
                <a:ea typeface="Inter" pitchFamily="34" charset="-122"/>
                <a:cs typeface="Inter" pitchFamily="34" charset="-120"/>
              </a:rPr>
              <a:t>01</a:t>
            </a:r>
            <a:endParaRPr lang="en-US" sz="1800" dirty="0"/>
          </a:p>
        </p:txBody>
      </p:sp>
      <p:sp>
        <p:nvSpPr>
          <p:cNvPr id="45" name="Text 42"/>
          <p:cNvSpPr/>
          <p:nvPr/>
        </p:nvSpPr>
        <p:spPr>
          <a:xfrm>
            <a:off x="1014984" y="2825496"/>
            <a:ext cx="2862072" cy="402336"/>
          </a:xfrm>
          <a:prstGeom prst="rect">
            <a:avLst/>
          </a:prstGeom>
          <a:noFill/>
          <a:ln/>
        </p:spPr>
        <p:txBody>
          <a:bodyPr wrap="square" lIns="0" tIns="0" rIns="0" bIns="0" rtlCol="0" anchor="ctr">
            <a:normAutofit/>
          </a:bodyPr>
          <a:lstStyle/>
          <a:p>
            <a:pPr marL="0" indent="0" algn="l">
              <a:buNone/>
            </a:pPr>
            <a:r>
              <a:rPr lang="en-US" sz="1600" b="1" dirty="0">
                <a:solidFill>
                  <a:srgbClr val="1D2C36"/>
                </a:solidFill>
                <a:latin typeface="Inter" pitchFamily="34" charset="0"/>
                <a:ea typeface="Inter" pitchFamily="34" charset="-122"/>
                <a:cs typeface="Inter" pitchFamily="34" charset="-120"/>
              </a:rPr>
              <a:t>USER MESSAGES</a:t>
            </a:r>
            <a:endParaRPr lang="en-US" sz="1600" dirty="0"/>
          </a:p>
        </p:txBody>
      </p:sp>
      <p:sp>
        <p:nvSpPr>
          <p:cNvPr id="46" name="Text 43"/>
          <p:cNvSpPr/>
          <p:nvPr/>
        </p:nvSpPr>
        <p:spPr>
          <a:xfrm>
            <a:off x="1014984" y="3438144"/>
            <a:ext cx="2852928" cy="649224"/>
          </a:xfrm>
          <a:prstGeom prst="rect">
            <a:avLst/>
          </a:prstGeom>
          <a:noFill/>
          <a:ln/>
        </p:spPr>
        <p:txBody>
          <a:bodyPr wrap="square" lIns="0" tIns="0" rIns="0" bIns="0" rtlCol="0" anchor="ctr">
            <a:normAutofit/>
          </a:bodyPr>
          <a:lstStyle/>
          <a:p>
            <a:pPr marL="0" indent="0" algn="l">
              <a:buNone/>
            </a:pPr>
            <a:r>
              <a:rPr lang="en-US" sz="1610" dirty="0">
                <a:solidFill>
                  <a:srgbClr val="5C6C76"/>
                </a:solidFill>
                <a:latin typeface="Inter" pitchFamily="34" charset="0"/>
                <a:ea typeface="Inter" pitchFamily="34" charset="-122"/>
                <a:cs typeface="Inter" pitchFamily="34" charset="-120"/>
              </a:rPr>
              <a:t>A confident persona claims expertise.</a:t>
            </a:r>
            <a:endParaRPr lang="en-US" sz="1610" dirty="0"/>
          </a:p>
        </p:txBody>
      </p:sp>
      <p:sp>
        <p:nvSpPr>
          <p:cNvPr id="48" name="Text 45"/>
          <p:cNvSpPr/>
          <p:nvPr/>
        </p:nvSpPr>
        <p:spPr>
          <a:xfrm>
            <a:off x="4727448" y="2221992"/>
            <a:ext cx="548640" cy="402336"/>
          </a:xfrm>
          <a:prstGeom prst="rect">
            <a:avLst/>
          </a:prstGeom>
          <a:noFill/>
          <a:ln/>
        </p:spPr>
        <p:txBody>
          <a:bodyPr wrap="square" lIns="0" tIns="0" rIns="0" bIns="0" rtlCol="0" anchor="ctr">
            <a:normAutofit/>
          </a:bodyPr>
          <a:lstStyle/>
          <a:p>
            <a:pPr marL="0" indent="0" algn="l">
              <a:buNone/>
            </a:pPr>
            <a:r>
              <a:rPr lang="en-US" sz="1800" b="1" dirty="0">
                <a:solidFill>
                  <a:srgbClr val="0B8999"/>
                </a:solidFill>
                <a:latin typeface="Inter" pitchFamily="34" charset="0"/>
                <a:ea typeface="Inter" pitchFamily="34" charset="-122"/>
                <a:cs typeface="Inter" pitchFamily="34" charset="-120"/>
              </a:rPr>
              <a:t>02</a:t>
            </a:r>
            <a:endParaRPr lang="en-US" sz="1800" dirty="0"/>
          </a:p>
        </p:txBody>
      </p:sp>
      <p:sp>
        <p:nvSpPr>
          <p:cNvPr id="49" name="Text 46"/>
          <p:cNvSpPr/>
          <p:nvPr/>
        </p:nvSpPr>
        <p:spPr>
          <a:xfrm>
            <a:off x="4727448" y="2825496"/>
            <a:ext cx="2862072" cy="402336"/>
          </a:xfrm>
          <a:prstGeom prst="rect">
            <a:avLst/>
          </a:prstGeom>
          <a:noFill/>
          <a:ln/>
        </p:spPr>
        <p:txBody>
          <a:bodyPr wrap="square" lIns="0" tIns="0" rIns="0" bIns="0" rtlCol="0" anchor="ctr">
            <a:normAutofit/>
          </a:bodyPr>
          <a:lstStyle/>
          <a:p>
            <a:pPr marL="0" indent="0" algn="l">
              <a:buNone/>
            </a:pPr>
            <a:r>
              <a:rPr lang="en-US" sz="1600" b="1" dirty="0">
                <a:solidFill>
                  <a:srgbClr val="1D2C36"/>
                </a:solidFill>
                <a:latin typeface="Inter" pitchFamily="34" charset="0"/>
                <a:ea typeface="Inter" pitchFamily="34" charset="-122"/>
                <a:cs typeface="Inter" pitchFamily="34" charset="-120"/>
              </a:rPr>
              <a:t>RETRIEVED EVIDENCE</a:t>
            </a:r>
            <a:endParaRPr lang="en-US" sz="1600" dirty="0"/>
          </a:p>
        </p:txBody>
      </p:sp>
      <p:sp>
        <p:nvSpPr>
          <p:cNvPr id="50" name="Text 47"/>
          <p:cNvSpPr/>
          <p:nvPr/>
        </p:nvSpPr>
        <p:spPr>
          <a:xfrm>
            <a:off x="4727448" y="3438144"/>
            <a:ext cx="2852928" cy="649224"/>
          </a:xfrm>
          <a:prstGeom prst="rect">
            <a:avLst/>
          </a:prstGeom>
          <a:noFill/>
          <a:ln/>
        </p:spPr>
        <p:txBody>
          <a:bodyPr wrap="square" lIns="0" tIns="0" rIns="0" bIns="0" rtlCol="0" anchor="ctr">
            <a:normAutofit/>
          </a:bodyPr>
          <a:lstStyle/>
          <a:p>
            <a:pPr marL="0" indent="0" algn="l">
              <a:buNone/>
            </a:pPr>
            <a:r>
              <a:rPr lang="en-US" sz="1610" dirty="0">
                <a:solidFill>
                  <a:srgbClr val="5C6C76"/>
                </a:solidFill>
                <a:latin typeface="Inter" pitchFamily="34" charset="0"/>
                <a:ea typeface="Inter" pitchFamily="34" charset="-122"/>
                <a:cs typeface="Inter" pitchFamily="34" charset="-120"/>
              </a:rPr>
              <a:t>A document looks official or prestigious.</a:t>
            </a:r>
            <a:endParaRPr lang="en-US" sz="1610" dirty="0"/>
          </a:p>
        </p:txBody>
      </p:sp>
      <p:sp>
        <p:nvSpPr>
          <p:cNvPr id="52" name="Text 49"/>
          <p:cNvSpPr/>
          <p:nvPr/>
        </p:nvSpPr>
        <p:spPr>
          <a:xfrm>
            <a:off x="8439912" y="2221992"/>
            <a:ext cx="548640" cy="402336"/>
          </a:xfrm>
          <a:prstGeom prst="rect">
            <a:avLst/>
          </a:prstGeom>
          <a:noFill/>
          <a:ln/>
        </p:spPr>
        <p:txBody>
          <a:bodyPr wrap="square" lIns="0" tIns="0" rIns="0" bIns="0" rtlCol="0" anchor="ctr">
            <a:normAutofit/>
          </a:bodyPr>
          <a:lstStyle/>
          <a:p>
            <a:pPr marL="0" indent="0" algn="l">
              <a:buNone/>
            </a:pPr>
            <a:r>
              <a:rPr lang="en-US" sz="1800" b="1" dirty="0">
                <a:solidFill>
                  <a:srgbClr val="0B8999"/>
                </a:solidFill>
                <a:latin typeface="Inter" pitchFamily="34" charset="0"/>
                <a:ea typeface="Inter" pitchFamily="34" charset="-122"/>
                <a:cs typeface="Inter" pitchFamily="34" charset="-120"/>
              </a:rPr>
              <a:t>03</a:t>
            </a:r>
            <a:endParaRPr lang="en-US" sz="1800" dirty="0"/>
          </a:p>
        </p:txBody>
      </p:sp>
      <p:sp>
        <p:nvSpPr>
          <p:cNvPr id="53" name="Text 50"/>
          <p:cNvSpPr/>
          <p:nvPr/>
        </p:nvSpPr>
        <p:spPr>
          <a:xfrm>
            <a:off x="8439912" y="2825496"/>
            <a:ext cx="2862072" cy="402336"/>
          </a:xfrm>
          <a:prstGeom prst="rect">
            <a:avLst/>
          </a:prstGeom>
          <a:noFill/>
          <a:ln/>
        </p:spPr>
        <p:txBody>
          <a:bodyPr wrap="square" lIns="0" tIns="0" rIns="0" bIns="0" rtlCol="0" anchor="ctr">
            <a:normAutofit/>
          </a:bodyPr>
          <a:lstStyle/>
          <a:p>
            <a:pPr marL="0" indent="0" algn="l">
              <a:buNone/>
            </a:pPr>
            <a:r>
              <a:rPr lang="en-US" sz="1600" b="1" dirty="0">
                <a:solidFill>
                  <a:srgbClr val="1D2C36"/>
                </a:solidFill>
                <a:latin typeface="Inter" pitchFamily="34" charset="0"/>
                <a:ea typeface="Inter" pitchFamily="34" charset="-122"/>
                <a:cs typeface="Inter" pitchFamily="34" charset="-120"/>
              </a:rPr>
              <a:t>MEMORY &amp; PROFILES</a:t>
            </a:r>
            <a:endParaRPr lang="en-US" sz="1600" dirty="0"/>
          </a:p>
        </p:txBody>
      </p:sp>
      <p:sp>
        <p:nvSpPr>
          <p:cNvPr id="54" name="Text 51"/>
          <p:cNvSpPr/>
          <p:nvPr/>
        </p:nvSpPr>
        <p:spPr>
          <a:xfrm>
            <a:off x="8439912" y="3438144"/>
            <a:ext cx="2852928" cy="649224"/>
          </a:xfrm>
          <a:prstGeom prst="rect">
            <a:avLst/>
          </a:prstGeom>
          <a:noFill/>
          <a:ln/>
        </p:spPr>
        <p:txBody>
          <a:bodyPr wrap="square" lIns="0" tIns="0" rIns="0" bIns="0" rtlCol="0" anchor="ctr">
            <a:normAutofit/>
          </a:bodyPr>
          <a:lstStyle/>
          <a:p>
            <a:pPr marL="0" indent="0" algn="l">
              <a:buNone/>
            </a:pPr>
            <a:r>
              <a:rPr lang="en-US" sz="1610" dirty="0">
                <a:solidFill>
                  <a:srgbClr val="5C6C76"/>
                </a:solidFill>
                <a:latin typeface="Inter" pitchFamily="34" charset="0"/>
                <a:ea typeface="Inter" pitchFamily="34" charset="-122"/>
                <a:cs typeface="Inter" pitchFamily="34" charset="-120"/>
              </a:rPr>
              <a:t>A previous claim becomes persistent context.</a:t>
            </a:r>
            <a:endParaRPr lang="en-US" sz="1610" dirty="0"/>
          </a:p>
        </p:txBody>
      </p:sp>
      <p:sp>
        <p:nvSpPr>
          <p:cNvPr id="56" name="Text 53"/>
          <p:cNvSpPr/>
          <p:nvPr/>
        </p:nvSpPr>
        <p:spPr>
          <a:xfrm>
            <a:off x="1289304" y="5047488"/>
            <a:ext cx="9637776" cy="329184"/>
          </a:xfrm>
          <a:prstGeom prst="rect">
            <a:avLst/>
          </a:prstGeom>
          <a:noFill/>
          <a:ln/>
        </p:spPr>
        <p:txBody>
          <a:bodyPr wrap="square" lIns="0" tIns="0" rIns="0" bIns="0" rtlCol="0" anchor="ctr">
            <a:normAutofit/>
          </a:bodyPr>
          <a:lstStyle/>
          <a:p>
            <a:pPr marL="0" indent="0" algn="ctr">
              <a:buNone/>
            </a:pPr>
            <a:r>
              <a:rPr lang="en-US" sz="1720" b="1" dirty="0">
                <a:solidFill>
                  <a:srgbClr val="1D2C36"/>
                </a:solidFill>
                <a:latin typeface="Inter" pitchFamily="34" charset="0"/>
                <a:ea typeface="Inter" pitchFamily="34" charset="-122"/>
                <a:cs typeface="Inter" pitchFamily="34" charset="-120"/>
              </a:rPr>
              <a:t>In sensitive domains, plausible authority is not a substitute for verified evidence.</a:t>
            </a:r>
            <a:endParaRPr lang="en-US" sz="1720" dirty="0"/>
          </a:p>
        </p:txBody>
      </p:sp>
      <p:sp>
        <p:nvSpPr>
          <p:cNvPr id="57" name="Text 54"/>
          <p:cNvSpPr/>
          <p:nvPr/>
        </p:nvSpPr>
        <p:spPr>
          <a:xfrm>
            <a:off x="694944" y="5897880"/>
            <a:ext cx="10927080" cy="182880"/>
          </a:xfrm>
          <a:prstGeom prst="rect">
            <a:avLst/>
          </a:prstGeom>
          <a:noFill/>
          <a:ln/>
        </p:spPr>
        <p:txBody>
          <a:bodyPr wrap="square" lIns="0" tIns="0" rIns="0" bIns="0" rtlCol="0" anchor="ctr">
            <a:normAutofit/>
          </a:bodyPr>
          <a:lstStyle/>
          <a:p>
            <a:pPr marL="0" indent="0" algn="l">
              <a:buNone/>
            </a:pPr>
            <a:r>
              <a:rPr lang="en-US" sz="900" dirty="0">
                <a:solidFill>
                  <a:srgbClr val="7F8C93"/>
                </a:solidFill>
                <a:latin typeface="Inter" pitchFamily="34" charset="0"/>
                <a:ea typeface="Inter" pitchFamily="34" charset="-122"/>
                <a:cs typeface="Inter" pitchFamily="34" charset="-120"/>
              </a:rPr>
              <a:t>Risk illustration motivated by the draft introduction/discussion; these deployment workflows were not experimentally evaluated.</a:t>
            </a:r>
            <a:endParaRPr lang="en-US" sz="900" dirty="0"/>
          </a:p>
        </p:txBody>
      </p:sp>
      <p:sp>
        <p:nvSpPr>
          <p:cNvPr id="58" name="Rectangle 57"/>
          <p:cNvSpPr/>
          <p:nvPr/>
        </p:nvSpPr>
        <p:spPr>
          <a:xfrm>
            <a:off x="649224" y="6391656"/>
            <a:ext cx="10936224" cy="8229"/>
          </a:xfrm>
          <a:prstGeom prst="rect">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hlinkClick r:id="rId5" action="ppaction://hlinksldjump"/>
          </p:cNvPr>
          <p:cNvSpPr txBox="1"/>
          <p:nvPr/>
        </p:nvSpPr>
        <p:spPr>
          <a:xfrm>
            <a:off x="667512" y="6496812"/>
            <a:ext cx="55778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Context</a:t>
            </a:r>
          </a:p>
        </p:txBody>
      </p:sp>
      <p:sp>
        <p:nvSpPr>
          <p:cNvPr id="60" name="Rounded Rectangle 59">
            <a:hlinkClick r:id="rId5" action="ppaction://hlinksldjump"/>
          </p:cNvPr>
          <p:cNvSpPr/>
          <p:nvPr/>
        </p:nvSpPr>
        <p:spPr>
          <a:xfrm>
            <a:off x="1353312"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60">
            <a:hlinkClick r:id="rId6" action="ppaction://hlinksldjump"/>
          </p:cNvPr>
          <p:cNvSpPr/>
          <p:nvPr/>
        </p:nvSpPr>
        <p:spPr>
          <a:xfrm>
            <a:off x="142006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a:hlinkClick r:id="rId7" action="ppaction://hlinksldjump"/>
          </p:cNvPr>
          <p:cNvSpPr/>
          <p:nvPr/>
        </p:nvSpPr>
        <p:spPr>
          <a:xfrm>
            <a:off x="1486814"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a:hlinkClick r:id="rId8" action="ppaction://hlinksldjump"/>
          </p:cNvPr>
          <p:cNvSpPr/>
          <p:nvPr/>
        </p:nvSpPr>
        <p:spPr>
          <a:xfrm>
            <a:off x="1553565"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a:hlinkClick r:id="rId9" action="ppaction://hlinksldjump"/>
          </p:cNvPr>
          <p:cNvSpPr/>
          <p:nvPr/>
        </p:nvSpPr>
        <p:spPr>
          <a:xfrm>
            <a:off x="162031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hlinkClick r:id="rId10" action="ppaction://hlinksldjump"/>
          </p:cNvPr>
          <p:cNvSpPr txBox="1"/>
          <p:nvPr/>
        </p:nvSpPr>
        <p:spPr>
          <a:xfrm>
            <a:off x="2523744" y="6496812"/>
            <a:ext cx="69494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Authority</a:t>
            </a:r>
          </a:p>
        </p:txBody>
      </p:sp>
      <p:sp>
        <p:nvSpPr>
          <p:cNvPr id="67" name="Rounded Rectangle 66">
            <a:hlinkClick r:id="rId11" action="ppaction://hlinksldjump"/>
          </p:cNvPr>
          <p:cNvSpPr/>
          <p:nvPr/>
        </p:nvSpPr>
        <p:spPr>
          <a:xfrm>
            <a:off x="338602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a:hlinkClick r:id="rId12" action="ppaction://hlinksldjump"/>
          </p:cNvPr>
          <p:cNvSpPr txBox="1"/>
          <p:nvPr/>
        </p:nvSpPr>
        <p:spPr>
          <a:xfrm>
            <a:off x="4142231" y="6496812"/>
            <a:ext cx="31089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Test</a:t>
            </a:r>
          </a:p>
        </p:txBody>
      </p:sp>
      <p:sp>
        <p:nvSpPr>
          <p:cNvPr id="69" name="Rounded Rectangle 68">
            <a:hlinkClick r:id="rId12" action="ppaction://hlinksldjump"/>
          </p:cNvPr>
          <p:cNvSpPr/>
          <p:nvPr/>
        </p:nvSpPr>
        <p:spPr>
          <a:xfrm>
            <a:off x="454456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a:hlinkClick r:id="rId13" action="ppaction://hlinksldjump"/>
          </p:cNvPr>
          <p:cNvSpPr txBox="1"/>
          <p:nvPr/>
        </p:nvSpPr>
        <p:spPr>
          <a:xfrm>
            <a:off x="5276088" y="6496812"/>
            <a:ext cx="493776" cy="219456"/>
          </a:xfrm>
          <a:prstGeom prst="rect">
            <a:avLst/>
          </a:prstGeom>
          <a:noFill/>
        </p:spPr>
        <p:txBody>
          <a:bodyPr wrap="square" lIns="0" tIns="0" rIns="0" bIns="0">
            <a:spAutoFit/>
          </a:bodyPr>
          <a:lstStyle/>
          <a:p>
            <a:pPr algn="l">
              <a:spcAft>
                <a:spcPts val="0"/>
              </a:spcAft>
            </a:pPr>
            <a:r>
              <a:rPr sz="890" b="1" i="0">
                <a:solidFill>
                  <a:srgbClr val="0C6A6C"/>
                </a:solidFill>
                <a:latin typeface="Aptos"/>
              </a:rPr>
              <a:t>Results</a:t>
            </a:r>
          </a:p>
        </p:txBody>
      </p:sp>
      <p:sp>
        <p:nvSpPr>
          <p:cNvPr id="71" name="Rounded Rectangle 70">
            <a:hlinkClick r:id="rId13" action="ppaction://hlinksldjump"/>
          </p:cNvPr>
          <p:cNvSpPr/>
          <p:nvPr/>
        </p:nvSpPr>
        <p:spPr>
          <a:xfrm>
            <a:off x="588873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a:hlinkClick r:id="rId14" action="ppaction://hlinksldjump"/>
          </p:cNvPr>
          <p:cNvSpPr/>
          <p:nvPr/>
        </p:nvSpPr>
        <p:spPr>
          <a:xfrm>
            <a:off x="595548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a:hlinkClick r:id="rId15" action="ppaction://hlinksldjump"/>
          </p:cNvPr>
          <p:cNvSpPr/>
          <p:nvPr/>
        </p:nvSpPr>
        <p:spPr>
          <a:xfrm>
            <a:off x="6022238" y="6558076"/>
            <a:ext cx="55778" cy="55778"/>
          </a:xfrm>
          <a:prstGeom prst="roundRect">
            <a:avLst>
              <a:gd name="adj" fmla="val 4500"/>
            </a:avLst>
          </a:prstGeom>
          <a:solidFill>
            <a:srgbClr val="0C6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a:hlinkClick r:id="rId16" action="ppaction://hlinksldjump"/>
          </p:cNvPr>
          <p:cNvSpPr txBox="1"/>
          <p:nvPr/>
        </p:nvSpPr>
        <p:spPr>
          <a:xfrm>
            <a:off x="6912864" y="6496812"/>
            <a:ext cx="777240"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Mechanism</a:t>
            </a:r>
          </a:p>
        </p:txBody>
      </p:sp>
      <p:sp>
        <p:nvSpPr>
          <p:cNvPr id="75" name="Rounded Rectangle 74">
            <a:hlinkClick r:id="rId16" action="ppaction://hlinksldjump"/>
          </p:cNvPr>
          <p:cNvSpPr/>
          <p:nvPr/>
        </p:nvSpPr>
        <p:spPr>
          <a:xfrm>
            <a:off x="785469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75">
            <a:hlinkClick r:id="rId17" action="ppaction://hlinksldjump"/>
          </p:cNvPr>
          <p:cNvSpPr/>
          <p:nvPr/>
        </p:nvSpPr>
        <p:spPr>
          <a:xfrm>
            <a:off x="792144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76">
            <a:hlinkClick r:id="rId18" action="ppaction://hlinksldjump"/>
          </p:cNvPr>
          <p:cNvSpPr/>
          <p:nvPr/>
        </p:nvSpPr>
        <p:spPr>
          <a:xfrm>
            <a:off x="798819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a:hlinkClick r:id="rId19" action="ppaction://hlinksldjump"/>
          </p:cNvPr>
          <p:cNvSpPr txBox="1"/>
          <p:nvPr/>
        </p:nvSpPr>
        <p:spPr>
          <a:xfrm>
            <a:off x="8924544" y="6496812"/>
            <a:ext cx="987552"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Responsibility</a:t>
            </a:r>
          </a:p>
        </p:txBody>
      </p:sp>
      <p:sp>
        <p:nvSpPr>
          <p:cNvPr id="80" name="Rounded Rectangle 79">
            <a:hlinkClick r:id="rId20" action="ppaction://hlinksldjump"/>
          </p:cNvPr>
          <p:cNvSpPr/>
          <p:nvPr/>
        </p:nvSpPr>
        <p:spPr>
          <a:xfrm>
            <a:off x="1011600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a:hlinkClick r:id="rId21" action="ppaction://hlinksldjump"/>
          </p:cNvPr>
          <p:cNvSpPr/>
          <p:nvPr/>
        </p:nvSpPr>
        <p:spPr>
          <a:xfrm>
            <a:off x="1018275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ounded Rectangle 81">
            <a:hlinkClick r:id="rId22" action="ppaction://hlinksldjump"/>
          </p:cNvPr>
          <p:cNvSpPr/>
          <p:nvPr/>
        </p:nvSpPr>
        <p:spPr>
          <a:xfrm>
            <a:off x="10249509"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11119104" y="6492240"/>
            <a:ext cx="429768" cy="210312"/>
          </a:xfrm>
          <a:prstGeom prst="rect">
            <a:avLst/>
          </a:prstGeom>
          <a:noFill/>
        </p:spPr>
        <p:txBody>
          <a:bodyPr wrap="square" lIns="0" tIns="0" rIns="0" bIns="0">
            <a:spAutoFit/>
          </a:bodyPr>
          <a:lstStyle/>
          <a:p>
            <a:pPr algn="r">
              <a:spcAft>
                <a:spcPts val="0"/>
              </a:spcAft>
            </a:pPr>
            <a:r>
              <a:rPr sz="900" b="1" i="0">
                <a:solidFill>
                  <a:srgbClr val="737D84"/>
                </a:solidFill>
                <a:latin typeface="Aptos"/>
              </a:rPr>
              <a:t>10/16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8002" name="Content highlight 2"/>
          <p:cNvSpPr/>
          <p:nvPr/>
        </p:nvSpPr>
        <p:spPr>
          <a:xfrm>
            <a:off x="8001000" y="3705225"/>
            <a:ext cx="3267075" cy="1181100"/>
          </a:xfrm>
          <a:prstGeom prst="rect">
            <a:avLst/>
          </a:prstGeom>
          <a:solidFill>
            <a:srgbClr val="F2F5F7"/>
          </a:solidFill>
          <a:ln>
            <a:noFill/>
          </a:ln>
        </p:spPr>
      </p:sp>
      <p:sp>
        <p:nvSpPr>
          <p:cNvPr id="8001" name="Content highlight 1"/>
          <p:cNvSpPr/>
          <p:nvPr/>
        </p:nvSpPr>
        <p:spPr>
          <a:xfrm>
            <a:off x="8001000" y="2047875"/>
            <a:ext cx="3267075" cy="1190625"/>
          </a:xfrm>
          <a:prstGeom prst="rect">
            <a:avLst/>
          </a:prstGeom>
          <a:solidFill>
            <a:srgbClr val="EEF5F5"/>
          </a:solidFill>
          <a:ln>
            <a:noFill/>
          </a:ln>
        </p:spPr>
      </p:sp>
      <p:sp>
        <p:nvSpPr>
          <p:cNvPr id="4" name="Text 2"/>
          <p:cNvSpPr/>
          <p:nvPr/>
        </p:nvSpPr>
        <p:spPr>
          <a:xfrm>
            <a:off x="713232" y="667512"/>
            <a:ext cx="10387584" cy="484632"/>
          </a:xfrm>
          <a:prstGeom prst="rect">
            <a:avLst/>
          </a:prstGeom>
          <a:noFill/>
          <a:ln/>
        </p:spPr>
        <p:txBody>
          <a:bodyPr wrap="square" lIns="0" tIns="0" rIns="0" bIns="0" rtlCol="0" anchor="ctr">
            <a:normAutofit/>
          </a:bodyPr>
          <a:lstStyle/>
          <a:p>
            <a:pPr marL="0" indent="0" algn="l">
              <a:buNone/>
            </a:pPr>
            <a:r>
              <a:rPr lang="en-US" sz="2650" b="1" dirty="0">
                <a:solidFill>
                  <a:srgbClr val="1D2C36"/>
                </a:solidFill>
                <a:latin typeface="Inter Display" pitchFamily="34" charset="0"/>
                <a:ea typeface="Inter Display" pitchFamily="34" charset="-122"/>
                <a:cs typeface="Inter Display" pitchFamily="34" charset="-120"/>
              </a:rPr>
              <a:t>Can we see authority inside the model?</a:t>
            </a:r>
            <a:endParaRPr lang="en-US" sz="2650" dirty="0"/>
          </a:p>
        </p:txBody>
      </p:sp>
      <p:sp>
        <p:nvSpPr>
          <p:cNvPr id="42" name="Text 39"/>
          <p:cNvSpPr/>
          <p:nvPr/>
        </p:nvSpPr>
        <p:spPr>
          <a:xfrm>
            <a:off x="813816" y="1335024"/>
            <a:ext cx="10058400" cy="393192"/>
          </a:xfrm>
          <a:prstGeom prst="rect">
            <a:avLst/>
          </a:prstGeom>
          <a:noFill/>
          <a:ln/>
        </p:spPr>
        <p:txBody>
          <a:bodyPr wrap="square" lIns="0" tIns="0" rIns="0" bIns="0" rtlCol="0" anchor="ctr">
            <a:normAutofit/>
          </a:bodyPr>
          <a:lstStyle/>
          <a:p>
            <a:pPr marL="0" indent="0" algn="l">
              <a:buNone/>
            </a:pPr>
            <a:r>
              <a:rPr lang="en-US" sz="1700" dirty="0">
                <a:solidFill>
                  <a:srgbClr val="5C6C76"/>
                </a:solidFill>
                <a:latin typeface="Inter" pitchFamily="34" charset="0"/>
                <a:ea typeface="Inter" pitchFamily="34" charset="-122"/>
                <a:cs typeface="Inter" pitchFamily="34" charset="-120"/>
              </a:rPr>
              <a:t>A linear probe asks whether a signal can be read from hidden activations.</a:t>
            </a:r>
            <a:endParaRPr lang="en-US" sz="1700" dirty="0"/>
          </a:p>
        </p:txBody>
      </p:sp>
      <p:pic>
        <p:nvPicPr>
          <p:cNvPr id="44" name="Image 1" descr="/mnt/data/sycophancy_visual_work/assets/colm_fig3.png"/>
          <p:cNvPicPr>
            <a:picLocks noChangeAspect="1"/>
          </p:cNvPicPr>
          <p:nvPr/>
        </p:nvPicPr>
        <p:blipFill>
          <a:blip r:embed="rId5"/>
          <a:stretch>
            <a:fillRect/>
          </a:stretch>
        </p:blipFill>
        <p:spPr>
          <a:xfrm>
            <a:off x="1660215" y="2112264"/>
            <a:ext cx="5201778" cy="2633472"/>
          </a:xfrm>
          <a:prstGeom prst="rect">
            <a:avLst/>
          </a:prstGeom>
          <a:ln/>
        </p:spPr>
      </p:pic>
      <p:sp>
        <p:nvSpPr>
          <p:cNvPr id="45" name="Text 41"/>
          <p:cNvSpPr/>
          <p:nvPr/>
        </p:nvSpPr>
        <p:spPr>
          <a:xfrm>
            <a:off x="2130552" y="4946904"/>
            <a:ext cx="4050792" cy="246888"/>
          </a:xfrm>
          <a:prstGeom prst="rect">
            <a:avLst/>
          </a:prstGeom>
          <a:noFill/>
          <a:ln/>
        </p:spPr>
        <p:txBody>
          <a:bodyPr wrap="square" lIns="0" tIns="0" rIns="0" bIns="0" rtlCol="0" anchor="ctr">
            <a:normAutofit/>
          </a:bodyPr>
          <a:lstStyle/>
          <a:p>
            <a:pPr marL="0" indent="0" algn="ctr">
              <a:buNone/>
            </a:pPr>
            <a:r>
              <a:rPr lang="en-US" sz="1050" dirty="0">
                <a:solidFill>
                  <a:srgbClr val="7F8C93"/>
                </a:solidFill>
                <a:latin typeface="Inter" pitchFamily="34" charset="0"/>
                <a:ea typeface="Inter" pitchFamily="34" charset="-122"/>
                <a:cs typeface="Inter" pitchFamily="34" charset="-120"/>
              </a:rPr>
              <a:t>Original paper Figure 3</a:t>
            </a:r>
            <a:endParaRPr lang="en-US" sz="1050" dirty="0"/>
          </a:p>
        </p:txBody>
      </p:sp>
      <p:sp>
        <p:nvSpPr>
          <p:cNvPr id="47" name="Text 43"/>
          <p:cNvSpPr/>
          <p:nvPr/>
        </p:nvSpPr>
        <p:spPr>
          <a:xfrm>
            <a:off x="8156448" y="2185416"/>
            <a:ext cx="2971800" cy="246888"/>
          </a:xfrm>
          <a:prstGeom prst="rect">
            <a:avLst/>
          </a:prstGeom>
          <a:noFill/>
          <a:ln/>
        </p:spPr>
        <p:txBody>
          <a:bodyPr wrap="square" lIns="0" tIns="0" rIns="0" bIns="0" rtlCol="0" anchor="ctr">
            <a:normAutofit/>
          </a:bodyPr>
          <a:lstStyle/>
          <a:p>
            <a:pPr marL="0" indent="0" algn="l">
              <a:buNone/>
            </a:pPr>
            <a:r>
              <a:rPr lang="en-US" sz="1200" b="1" dirty="0">
                <a:solidFill>
                  <a:srgbClr val="0B8999"/>
                </a:solidFill>
                <a:latin typeface="Inter" pitchFamily="34" charset="0"/>
                <a:ea typeface="Inter" pitchFamily="34" charset="-122"/>
                <a:cs typeface="Inter" pitchFamily="34" charset="-120"/>
              </a:rPr>
              <a:t>AUTHORITY</a:t>
            </a:r>
            <a:endParaRPr lang="en-US" sz="1200" dirty="0"/>
          </a:p>
        </p:txBody>
      </p:sp>
      <p:sp>
        <p:nvSpPr>
          <p:cNvPr id="48" name="Text 44"/>
          <p:cNvSpPr/>
          <p:nvPr/>
        </p:nvSpPr>
        <p:spPr>
          <a:xfrm>
            <a:off x="8147304" y="2642616"/>
            <a:ext cx="2962656" cy="438912"/>
          </a:xfrm>
          <a:prstGeom prst="rect">
            <a:avLst/>
          </a:prstGeom>
          <a:noFill/>
          <a:ln/>
        </p:spPr>
        <p:txBody>
          <a:bodyPr wrap="square" lIns="0" tIns="0" rIns="0" bIns="0" rtlCol="0" anchor="ctr">
            <a:normAutofit/>
          </a:bodyPr>
          <a:lstStyle/>
          <a:p>
            <a:pPr marL="0" indent="0" algn="l">
              <a:buNone/>
            </a:pPr>
            <a:r>
              <a:rPr lang="en-US" sz="2400" b="1" dirty="0">
                <a:solidFill>
                  <a:srgbClr val="1D2C36"/>
                </a:solidFill>
                <a:latin typeface="Inter" pitchFamily="34" charset="0"/>
                <a:ea typeface="Inter" pitchFamily="34" charset="-122"/>
                <a:cs typeface="Inter" pitchFamily="34" charset="-120"/>
              </a:rPr>
              <a:t>~100% decodable</a:t>
            </a:r>
            <a:endParaRPr lang="en-US" sz="2400" dirty="0"/>
          </a:p>
        </p:txBody>
      </p:sp>
      <p:sp>
        <p:nvSpPr>
          <p:cNvPr id="50" name="Text 46"/>
          <p:cNvSpPr/>
          <p:nvPr/>
        </p:nvSpPr>
        <p:spPr>
          <a:xfrm>
            <a:off x="8156448" y="3840480"/>
            <a:ext cx="3008376" cy="256032"/>
          </a:xfrm>
          <a:prstGeom prst="rect">
            <a:avLst/>
          </a:prstGeom>
          <a:noFill/>
          <a:ln/>
        </p:spPr>
        <p:txBody>
          <a:bodyPr wrap="square" lIns="0" tIns="0" rIns="0" bIns="0" rtlCol="0" anchor="ctr">
            <a:normAutofit/>
          </a:bodyPr>
          <a:lstStyle/>
          <a:p>
            <a:pPr marL="0" indent="0" algn="l">
              <a:buNone/>
            </a:pPr>
            <a:r>
              <a:rPr lang="en-US" sz="1200" b="1" dirty="0">
                <a:solidFill>
                  <a:srgbClr val="B84F59"/>
                </a:solidFill>
                <a:latin typeface="Inter" pitchFamily="34" charset="0"/>
                <a:ea typeface="Inter" pitchFamily="34" charset="-122"/>
                <a:cs typeface="Inter" pitchFamily="34" charset="-120"/>
              </a:rPr>
              <a:t>ANSWER FLIP</a:t>
            </a:r>
            <a:endParaRPr lang="en-US" sz="1200" dirty="0"/>
          </a:p>
        </p:txBody>
      </p:sp>
      <p:sp>
        <p:nvSpPr>
          <p:cNvPr id="51" name="Text 47"/>
          <p:cNvSpPr/>
          <p:nvPr/>
        </p:nvSpPr>
        <p:spPr>
          <a:xfrm>
            <a:off x="8138160" y="4297680"/>
            <a:ext cx="3026664" cy="393192"/>
          </a:xfrm>
          <a:prstGeom prst="rect">
            <a:avLst/>
          </a:prstGeom>
          <a:noFill/>
          <a:ln/>
        </p:spPr>
        <p:txBody>
          <a:bodyPr wrap="square" lIns="0" tIns="0" rIns="0" bIns="0" rtlCol="0" anchor="ctr">
            <a:normAutofit/>
          </a:bodyPr>
          <a:lstStyle/>
          <a:p>
            <a:pPr marL="0" indent="0" algn="l">
              <a:buNone/>
            </a:pPr>
            <a:r>
              <a:rPr lang="en-US" sz="2200" b="1" dirty="0">
                <a:solidFill>
                  <a:srgbClr val="1D2C36"/>
                </a:solidFill>
                <a:latin typeface="Inter" pitchFamily="34" charset="0"/>
                <a:ea typeface="Inter" pitchFamily="34" charset="-122"/>
                <a:cs typeface="Inter" pitchFamily="34" charset="-120"/>
              </a:rPr>
              <a:t>79–94% decodable</a:t>
            </a:r>
            <a:endParaRPr lang="en-US" sz="2200" dirty="0"/>
          </a:p>
        </p:txBody>
      </p:sp>
      <p:sp>
        <p:nvSpPr>
          <p:cNvPr id="52" name="Text 48"/>
          <p:cNvSpPr/>
          <p:nvPr/>
        </p:nvSpPr>
        <p:spPr>
          <a:xfrm>
            <a:off x="1106424" y="5385816"/>
            <a:ext cx="10076688" cy="292608"/>
          </a:xfrm>
          <a:prstGeom prst="rect">
            <a:avLst/>
          </a:prstGeom>
          <a:noFill/>
          <a:ln/>
        </p:spPr>
        <p:txBody>
          <a:bodyPr wrap="square" lIns="0" tIns="0" rIns="0" bIns="0" rtlCol="0" anchor="ctr">
            <a:normAutofit/>
          </a:bodyPr>
          <a:lstStyle/>
          <a:p>
            <a:pPr marL="0" indent="0" algn="ctr">
              <a:buNone/>
            </a:pPr>
            <a:r>
              <a:rPr lang="en-US" sz="1810" b="1" dirty="0">
                <a:solidFill>
                  <a:srgbClr val="1D2C36"/>
                </a:solidFill>
                <a:latin typeface="Inter" pitchFamily="34" charset="0"/>
                <a:ea typeface="Inter" pitchFamily="34" charset="-122"/>
                <a:cs typeface="Inter" pitchFamily="34" charset="-120"/>
              </a:rPr>
              <a:t>Authority: earlier layers  →  Flips: later layers</a:t>
            </a:r>
            <a:endParaRPr lang="en-US" sz="1810" dirty="0"/>
          </a:p>
        </p:txBody>
      </p:sp>
      <p:sp>
        <p:nvSpPr>
          <p:cNvPr id="53" name="Text 49"/>
          <p:cNvSpPr/>
          <p:nvPr/>
        </p:nvSpPr>
        <p:spPr>
          <a:xfrm>
            <a:off x="694944" y="5897880"/>
            <a:ext cx="10927080" cy="182880"/>
          </a:xfrm>
          <a:prstGeom prst="rect">
            <a:avLst/>
          </a:prstGeom>
          <a:noFill/>
          <a:ln/>
        </p:spPr>
        <p:txBody>
          <a:bodyPr wrap="square" lIns="0" tIns="0" rIns="0" bIns="0" rtlCol="0" anchor="ctr">
            <a:normAutofit/>
          </a:bodyPr>
          <a:lstStyle/>
          <a:p>
            <a:pPr marL="0" indent="0" algn="l">
              <a:buNone/>
            </a:pPr>
            <a:r>
              <a:rPr lang="en-US" sz="900" dirty="0">
                <a:solidFill>
                  <a:srgbClr val="7F8C93"/>
                </a:solidFill>
                <a:latin typeface="Inter" pitchFamily="34" charset="0"/>
                <a:ea typeface="Inter" pitchFamily="34" charset="-122"/>
                <a:cs typeface="Inter" pitchFamily="34" charset="-120"/>
              </a:rPr>
              <a:t>COLM draft Figure 3, §6. Linear probes on five smaller models; linear decodability does not establish a causal circuit.</a:t>
            </a:r>
            <a:endParaRPr lang="en-US" sz="900" dirty="0"/>
          </a:p>
        </p:txBody>
      </p:sp>
      <p:sp>
        <p:nvSpPr>
          <p:cNvPr id="54" name="Rectangle 53"/>
          <p:cNvSpPr/>
          <p:nvPr/>
        </p:nvSpPr>
        <p:spPr>
          <a:xfrm>
            <a:off x="649224" y="6391656"/>
            <a:ext cx="10936224" cy="8229"/>
          </a:xfrm>
          <a:prstGeom prst="rect">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hlinkClick r:id="rId6" action="ppaction://hlinksldjump"/>
          </p:cNvPr>
          <p:cNvSpPr txBox="1"/>
          <p:nvPr/>
        </p:nvSpPr>
        <p:spPr>
          <a:xfrm>
            <a:off x="667512" y="6496812"/>
            <a:ext cx="55778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Context</a:t>
            </a:r>
          </a:p>
        </p:txBody>
      </p:sp>
      <p:sp>
        <p:nvSpPr>
          <p:cNvPr id="56" name="Rounded Rectangle 55">
            <a:hlinkClick r:id="rId6" action="ppaction://hlinksldjump"/>
          </p:cNvPr>
          <p:cNvSpPr/>
          <p:nvPr/>
        </p:nvSpPr>
        <p:spPr>
          <a:xfrm>
            <a:off x="1353312"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a:hlinkClick r:id="rId7" action="ppaction://hlinksldjump"/>
          </p:cNvPr>
          <p:cNvSpPr/>
          <p:nvPr/>
        </p:nvSpPr>
        <p:spPr>
          <a:xfrm>
            <a:off x="142006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a:hlinkClick r:id="rId8" action="ppaction://hlinksldjump"/>
          </p:cNvPr>
          <p:cNvSpPr/>
          <p:nvPr/>
        </p:nvSpPr>
        <p:spPr>
          <a:xfrm>
            <a:off x="1486814"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a:hlinkClick r:id="rId9" action="ppaction://hlinksldjump"/>
          </p:cNvPr>
          <p:cNvSpPr/>
          <p:nvPr/>
        </p:nvSpPr>
        <p:spPr>
          <a:xfrm>
            <a:off x="1553565"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a:hlinkClick r:id="rId10" action="ppaction://hlinksldjump"/>
          </p:cNvPr>
          <p:cNvSpPr/>
          <p:nvPr/>
        </p:nvSpPr>
        <p:spPr>
          <a:xfrm>
            <a:off x="162031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hlinkClick r:id="rId11" action="ppaction://hlinksldjump"/>
          </p:cNvPr>
          <p:cNvSpPr txBox="1"/>
          <p:nvPr/>
        </p:nvSpPr>
        <p:spPr>
          <a:xfrm>
            <a:off x="2523744" y="6496812"/>
            <a:ext cx="69494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Authority</a:t>
            </a:r>
          </a:p>
        </p:txBody>
      </p:sp>
      <p:sp>
        <p:nvSpPr>
          <p:cNvPr id="63" name="Rounded Rectangle 62">
            <a:hlinkClick r:id="rId12" action="ppaction://hlinksldjump"/>
          </p:cNvPr>
          <p:cNvSpPr/>
          <p:nvPr/>
        </p:nvSpPr>
        <p:spPr>
          <a:xfrm>
            <a:off x="338602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a:hlinkClick r:id="rId13" action="ppaction://hlinksldjump"/>
          </p:cNvPr>
          <p:cNvSpPr txBox="1"/>
          <p:nvPr/>
        </p:nvSpPr>
        <p:spPr>
          <a:xfrm>
            <a:off x="4142231" y="6496812"/>
            <a:ext cx="31089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Test</a:t>
            </a:r>
          </a:p>
        </p:txBody>
      </p:sp>
      <p:sp>
        <p:nvSpPr>
          <p:cNvPr id="65" name="Rounded Rectangle 64">
            <a:hlinkClick r:id="rId13" action="ppaction://hlinksldjump"/>
          </p:cNvPr>
          <p:cNvSpPr/>
          <p:nvPr/>
        </p:nvSpPr>
        <p:spPr>
          <a:xfrm>
            <a:off x="454456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a:hlinkClick r:id="rId14" action="ppaction://hlinksldjump"/>
          </p:cNvPr>
          <p:cNvSpPr txBox="1"/>
          <p:nvPr/>
        </p:nvSpPr>
        <p:spPr>
          <a:xfrm>
            <a:off x="5276088" y="6496812"/>
            <a:ext cx="49377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Results</a:t>
            </a:r>
          </a:p>
        </p:txBody>
      </p:sp>
      <p:sp>
        <p:nvSpPr>
          <p:cNvPr id="67" name="Rounded Rectangle 66">
            <a:hlinkClick r:id="rId14" action="ppaction://hlinksldjump"/>
          </p:cNvPr>
          <p:cNvSpPr/>
          <p:nvPr/>
        </p:nvSpPr>
        <p:spPr>
          <a:xfrm>
            <a:off x="588873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a:hlinkClick r:id="rId15" action="ppaction://hlinksldjump"/>
          </p:cNvPr>
          <p:cNvSpPr/>
          <p:nvPr/>
        </p:nvSpPr>
        <p:spPr>
          <a:xfrm>
            <a:off x="595548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8">
            <a:hlinkClick r:id="rId16" action="ppaction://hlinksldjump"/>
          </p:cNvPr>
          <p:cNvSpPr/>
          <p:nvPr/>
        </p:nvSpPr>
        <p:spPr>
          <a:xfrm>
            <a:off x="602223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a:hlinkClick r:id="rId17" action="ppaction://hlinksldjump"/>
          </p:cNvPr>
          <p:cNvSpPr txBox="1"/>
          <p:nvPr/>
        </p:nvSpPr>
        <p:spPr>
          <a:xfrm>
            <a:off x="6912864" y="6496812"/>
            <a:ext cx="777240" cy="219456"/>
          </a:xfrm>
          <a:prstGeom prst="rect">
            <a:avLst/>
          </a:prstGeom>
          <a:noFill/>
        </p:spPr>
        <p:txBody>
          <a:bodyPr wrap="square" lIns="0" tIns="0" rIns="0" bIns="0">
            <a:spAutoFit/>
          </a:bodyPr>
          <a:lstStyle/>
          <a:p>
            <a:pPr algn="l">
              <a:spcAft>
                <a:spcPts val="0"/>
              </a:spcAft>
            </a:pPr>
            <a:r>
              <a:rPr sz="890" b="1" i="0">
                <a:solidFill>
                  <a:srgbClr val="0C6A6C"/>
                </a:solidFill>
                <a:latin typeface="Aptos"/>
              </a:rPr>
              <a:t>Mechanism</a:t>
            </a:r>
          </a:p>
        </p:txBody>
      </p:sp>
      <p:sp>
        <p:nvSpPr>
          <p:cNvPr id="71" name="Rounded Rectangle 70">
            <a:hlinkClick r:id="rId17" action="ppaction://hlinksldjump"/>
          </p:cNvPr>
          <p:cNvSpPr/>
          <p:nvPr/>
        </p:nvSpPr>
        <p:spPr>
          <a:xfrm>
            <a:off x="7854696" y="6558076"/>
            <a:ext cx="55778" cy="55778"/>
          </a:xfrm>
          <a:prstGeom prst="roundRect">
            <a:avLst>
              <a:gd name="adj" fmla="val 4500"/>
            </a:avLst>
          </a:prstGeom>
          <a:solidFill>
            <a:srgbClr val="0C6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a:hlinkClick r:id="rId18" action="ppaction://hlinksldjump"/>
          </p:cNvPr>
          <p:cNvSpPr/>
          <p:nvPr/>
        </p:nvSpPr>
        <p:spPr>
          <a:xfrm>
            <a:off x="792144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a:hlinkClick r:id="rId19" action="ppaction://hlinksldjump"/>
          </p:cNvPr>
          <p:cNvSpPr/>
          <p:nvPr/>
        </p:nvSpPr>
        <p:spPr>
          <a:xfrm>
            <a:off x="798819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a:hlinkClick r:id="rId20" action="ppaction://hlinksldjump"/>
          </p:cNvPr>
          <p:cNvSpPr txBox="1"/>
          <p:nvPr/>
        </p:nvSpPr>
        <p:spPr>
          <a:xfrm>
            <a:off x="8924544" y="6496812"/>
            <a:ext cx="987552"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Responsibility</a:t>
            </a:r>
          </a:p>
        </p:txBody>
      </p:sp>
      <p:sp>
        <p:nvSpPr>
          <p:cNvPr id="76" name="Rounded Rectangle 75">
            <a:hlinkClick r:id="rId21" action="ppaction://hlinksldjump"/>
          </p:cNvPr>
          <p:cNvSpPr/>
          <p:nvPr/>
        </p:nvSpPr>
        <p:spPr>
          <a:xfrm>
            <a:off x="1011600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76">
            <a:hlinkClick r:id="rId22" action="ppaction://hlinksldjump"/>
          </p:cNvPr>
          <p:cNvSpPr/>
          <p:nvPr/>
        </p:nvSpPr>
        <p:spPr>
          <a:xfrm>
            <a:off x="1018275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ed Rectangle 77">
            <a:hlinkClick r:id="rId23" action="ppaction://hlinksldjump"/>
          </p:cNvPr>
          <p:cNvSpPr/>
          <p:nvPr/>
        </p:nvSpPr>
        <p:spPr>
          <a:xfrm>
            <a:off x="10249509"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1119104" y="6492240"/>
            <a:ext cx="429768" cy="210312"/>
          </a:xfrm>
          <a:prstGeom prst="rect">
            <a:avLst/>
          </a:prstGeom>
          <a:noFill/>
        </p:spPr>
        <p:txBody>
          <a:bodyPr wrap="square" lIns="0" tIns="0" rIns="0" bIns="0">
            <a:spAutoFit/>
          </a:bodyPr>
          <a:lstStyle/>
          <a:p>
            <a:pPr algn="r">
              <a:spcAft>
                <a:spcPts val="0"/>
              </a:spcAft>
            </a:pPr>
            <a:r>
              <a:rPr sz="900" b="1" i="0">
                <a:solidFill>
                  <a:srgbClr val="737D84"/>
                </a:solidFill>
                <a:latin typeface="Aptos"/>
              </a:rPr>
              <a:t>11/16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8001" name="Content highlight 1"/>
          <p:cNvSpPr/>
          <p:nvPr/>
        </p:nvSpPr>
        <p:spPr>
          <a:xfrm>
            <a:off x="5791200" y="2076450"/>
            <a:ext cx="5000625" cy="895350"/>
          </a:xfrm>
          <a:prstGeom prst="rect">
            <a:avLst/>
          </a:prstGeom>
          <a:solidFill>
            <a:srgbClr val="EEF5F5"/>
          </a:solidFill>
          <a:ln>
            <a:noFill/>
          </a:ln>
        </p:spPr>
      </p:sp>
      <p:sp>
        <p:nvSpPr>
          <p:cNvPr id="4" name="Text 2"/>
          <p:cNvSpPr/>
          <p:nvPr/>
        </p:nvSpPr>
        <p:spPr>
          <a:xfrm>
            <a:off x="713232" y="667512"/>
            <a:ext cx="10387584" cy="484632"/>
          </a:xfrm>
          <a:prstGeom prst="rect">
            <a:avLst/>
          </a:prstGeom>
          <a:noFill/>
          <a:ln/>
        </p:spPr>
        <p:txBody>
          <a:bodyPr wrap="square" lIns="0" tIns="0" rIns="0" bIns="0" rtlCol="0" anchor="ctr">
            <a:normAutofit/>
          </a:bodyPr>
          <a:lstStyle/>
          <a:p>
            <a:pPr marL="0" indent="0" algn="l">
              <a:buNone/>
            </a:pPr>
            <a:r>
              <a:rPr lang="en-US" sz="2650" b="1" dirty="0">
                <a:solidFill>
                  <a:srgbClr val="1D2C36"/>
                </a:solidFill>
                <a:latin typeface="Inter Display" pitchFamily="34" charset="0"/>
                <a:ea typeface="Inter Display" pitchFamily="34" charset="-122"/>
                <a:cs typeface="Inter Display" pitchFamily="34" charset="-120"/>
              </a:rPr>
              <a:t>Authority ≠ the decision to flip</a:t>
            </a:r>
            <a:endParaRPr lang="en-US" sz="2650" dirty="0"/>
          </a:p>
        </p:txBody>
      </p:sp>
      <p:sp>
        <p:nvSpPr>
          <p:cNvPr id="42" name="Text 39"/>
          <p:cNvSpPr/>
          <p:nvPr/>
        </p:nvSpPr>
        <p:spPr>
          <a:xfrm>
            <a:off x="786384" y="1362456"/>
            <a:ext cx="10543032" cy="384048"/>
          </a:xfrm>
          <a:prstGeom prst="rect">
            <a:avLst/>
          </a:prstGeom>
          <a:noFill/>
          <a:ln/>
        </p:spPr>
        <p:txBody>
          <a:bodyPr wrap="square" lIns="0" tIns="0" rIns="0" bIns="0" rtlCol="0" anchor="ctr">
            <a:normAutofit/>
          </a:bodyPr>
          <a:lstStyle/>
          <a:p>
            <a:pPr marL="0" indent="0" algn="l">
              <a:buNone/>
            </a:pPr>
            <a:r>
              <a:rPr lang="en-US" sz="1800" dirty="0">
                <a:solidFill>
                  <a:srgbClr val="5C6C76"/>
                </a:solidFill>
                <a:latin typeface="Inter" pitchFamily="34" charset="0"/>
                <a:ea typeface="Inter" pitchFamily="34" charset="-122"/>
                <a:cs typeface="Inter" pitchFamily="34" charset="-120"/>
              </a:rPr>
              <a:t>The learned linear-probe directions were almost perpendicular.</a:t>
            </a:r>
            <a:endParaRPr lang="en-US" sz="1800" dirty="0"/>
          </a:p>
        </p:txBody>
      </p:sp>
      <p:sp>
        <p:nvSpPr>
          <p:cNvPr id="43" name="Shape 40"/>
          <p:cNvSpPr/>
          <p:nvPr/>
        </p:nvSpPr>
        <p:spPr>
          <a:xfrm>
            <a:off x="1929384" y="3200400"/>
            <a:ext cx="1975104" cy="0"/>
          </a:xfrm>
          <a:prstGeom prst="line">
            <a:avLst/>
          </a:prstGeom>
          <a:noFill/>
          <a:ln w="50800">
            <a:solidFill>
              <a:srgbClr val="087789"/>
            </a:solidFill>
            <a:prstDash val="solid"/>
            <a:tailEnd type="triangle"/>
          </a:ln>
        </p:spPr>
        <p:txBody>
          <a:bodyPr/>
          <a:lstStyle/>
          <a:p>
            <a:endParaRPr/>
          </a:p>
        </p:txBody>
      </p:sp>
      <p:sp>
        <p:nvSpPr>
          <p:cNvPr id="44" name="Shape 41"/>
          <p:cNvSpPr/>
          <p:nvPr/>
        </p:nvSpPr>
        <p:spPr>
          <a:xfrm flipV="1">
            <a:off x="1929384" y="1933575"/>
            <a:ext cx="0" cy="1266825"/>
          </a:xfrm>
          <a:prstGeom prst="line">
            <a:avLst/>
          </a:prstGeom>
          <a:noFill/>
          <a:ln w="50800">
            <a:solidFill>
              <a:srgbClr val="B84F59"/>
            </a:solidFill>
            <a:prstDash val="solid"/>
            <a:tailEnd type="triangle"/>
          </a:ln>
        </p:spPr>
        <p:txBody>
          <a:bodyPr/>
          <a:lstStyle/>
          <a:p>
            <a:endParaRPr/>
          </a:p>
        </p:txBody>
      </p:sp>
      <p:sp>
        <p:nvSpPr>
          <p:cNvPr id="45" name="Text 42"/>
          <p:cNvSpPr/>
          <p:nvPr/>
        </p:nvSpPr>
        <p:spPr>
          <a:xfrm>
            <a:off x="3995928" y="3035808"/>
            <a:ext cx="1728216" cy="329184"/>
          </a:xfrm>
          <a:prstGeom prst="rect">
            <a:avLst/>
          </a:prstGeom>
          <a:noFill/>
          <a:ln/>
        </p:spPr>
        <p:txBody>
          <a:bodyPr wrap="square" lIns="0" tIns="0" rIns="0" bIns="0" rtlCol="0" anchor="ctr">
            <a:normAutofit/>
          </a:bodyPr>
          <a:lstStyle/>
          <a:p>
            <a:pPr marL="0" indent="0" algn="l">
              <a:buNone/>
            </a:pPr>
            <a:r>
              <a:rPr lang="en-US" sz="1600" b="1" dirty="0">
                <a:solidFill>
                  <a:srgbClr val="087789"/>
                </a:solidFill>
                <a:latin typeface="Inter" pitchFamily="34" charset="0"/>
                <a:ea typeface="Inter" pitchFamily="34" charset="-122"/>
                <a:cs typeface="Inter" pitchFamily="34" charset="-120"/>
              </a:rPr>
              <a:t>authority</a:t>
            </a:r>
            <a:endParaRPr lang="en-US" sz="1600" dirty="0"/>
          </a:p>
        </p:txBody>
      </p:sp>
      <p:sp>
        <p:nvSpPr>
          <p:cNvPr id="46" name="Text 43"/>
          <p:cNvSpPr/>
          <p:nvPr/>
        </p:nvSpPr>
        <p:spPr>
          <a:xfrm>
            <a:off x="1426464" y="1866900"/>
            <a:ext cx="1069848" cy="256032"/>
          </a:xfrm>
          <a:prstGeom prst="rect">
            <a:avLst/>
          </a:prstGeom>
          <a:noFill/>
          <a:ln/>
        </p:spPr>
        <p:txBody>
          <a:bodyPr wrap="square" lIns="0" tIns="0" rIns="0" bIns="0" rtlCol="0" anchor="ctr">
            <a:normAutofit/>
          </a:bodyPr>
          <a:lstStyle/>
          <a:p>
            <a:pPr marL="0" indent="0" algn="l">
              <a:buNone/>
            </a:pPr>
            <a:r>
              <a:rPr lang="en-US" sz="1600" b="1" dirty="0">
                <a:solidFill>
                  <a:srgbClr val="B84F59"/>
                </a:solidFill>
                <a:latin typeface="Inter" pitchFamily="34" charset="0"/>
                <a:ea typeface="Inter" pitchFamily="34" charset="-122"/>
                <a:cs typeface="Inter" pitchFamily="34" charset="-120"/>
              </a:rPr>
              <a:t>flip</a:t>
            </a:r>
            <a:endParaRPr lang="en-US" sz="1600" dirty="0"/>
          </a:p>
        </p:txBody>
      </p:sp>
      <p:sp>
        <p:nvSpPr>
          <p:cNvPr id="47" name="Text 44"/>
          <p:cNvSpPr/>
          <p:nvPr/>
        </p:nvSpPr>
        <p:spPr>
          <a:xfrm>
            <a:off x="2203704" y="2267712"/>
            <a:ext cx="1325880" cy="438912"/>
          </a:xfrm>
          <a:prstGeom prst="rect">
            <a:avLst/>
          </a:prstGeom>
          <a:noFill/>
          <a:ln/>
        </p:spPr>
        <p:txBody>
          <a:bodyPr wrap="square" lIns="0" tIns="0" rIns="0" bIns="0" rtlCol="0" anchor="ctr">
            <a:normAutofit/>
          </a:bodyPr>
          <a:lstStyle/>
          <a:p>
            <a:pPr marL="0" indent="0" algn="l">
              <a:buNone/>
            </a:pPr>
            <a:r>
              <a:rPr lang="en-US" sz="2400" b="1" dirty="0">
                <a:solidFill>
                  <a:srgbClr val="1D2C36"/>
                </a:solidFill>
                <a:latin typeface="Inter" pitchFamily="34" charset="0"/>
                <a:ea typeface="Inter" pitchFamily="34" charset="-122"/>
                <a:cs typeface="Inter" pitchFamily="34" charset="-120"/>
              </a:rPr>
              <a:t>~90°</a:t>
            </a:r>
            <a:endParaRPr lang="en-US" sz="2400" dirty="0"/>
          </a:p>
        </p:txBody>
      </p:sp>
      <p:sp>
        <p:nvSpPr>
          <p:cNvPr id="49" name="Text 46"/>
          <p:cNvSpPr/>
          <p:nvPr/>
        </p:nvSpPr>
        <p:spPr>
          <a:xfrm>
            <a:off x="5934456" y="2276856"/>
            <a:ext cx="4718304" cy="539496"/>
          </a:xfrm>
          <a:prstGeom prst="rect">
            <a:avLst/>
          </a:prstGeom>
          <a:noFill/>
          <a:ln/>
        </p:spPr>
        <p:txBody>
          <a:bodyPr wrap="square" lIns="0" tIns="0" rIns="0" bIns="0" rtlCol="0" anchor="ctr">
            <a:normAutofit/>
          </a:bodyPr>
          <a:lstStyle/>
          <a:p>
            <a:pPr marL="0" indent="0" algn="ctr">
              <a:buNone/>
            </a:pPr>
            <a:r>
              <a:rPr lang="en-US" sz="3000" b="1" dirty="0">
                <a:solidFill>
                  <a:srgbClr val="087789"/>
                </a:solidFill>
                <a:latin typeface="Inter" pitchFamily="34" charset="0"/>
                <a:ea typeface="Inter" pitchFamily="34" charset="-122"/>
                <a:cs typeface="Inter" pitchFamily="34" charset="-120"/>
              </a:rPr>
              <a:t>|cos θ| &lt; 0.07</a:t>
            </a:r>
            <a:endParaRPr lang="en-US" sz="3000" dirty="0"/>
          </a:p>
        </p:txBody>
      </p:sp>
      <p:sp>
        <p:nvSpPr>
          <p:cNvPr id="50" name="Text 47"/>
          <p:cNvSpPr/>
          <p:nvPr/>
        </p:nvSpPr>
        <p:spPr>
          <a:xfrm>
            <a:off x="795528" y="3657600"/>
            <a:ext cx="10561320" cy="320040"/>
          </a:xfrm>
          <a:prstGeom prst="rect">
            <a:avLst/>
          </a:prstGeom>
          <a:noFill/>
          <a:ln/>
        </p:spPr>
        <p:txBody>
          <a:bodyPr wrap="square" lIns="0" tIns="0" rIns="0" bIns="0" rtlCol="0" anchor="ctr">
            <a:normAutofit/>
          </a:bodyPr>
          <a:lstStyle/>
          <a:p>
            <a:pPr marL="0" indent="0" algn="l">
              <a:buNone/>
            </a:pPr>
            <a:r>
              <a:rPr lang="en-US" sz="1480" b="1" dirty="0">
                <a:solidFill>
                  <a:srgbClr val="1D2C36"/>
                </a:solidFill>
                <a:latin typeface="Inter" pitchFamily="34" charset="0"/>
                <a:ea typeface="Inter" pitchFamily="34" charset="-122"/>
                <a:cs typeface="Inter" pitchFamily="34" charset="-120"/>
              </a:rPr>
              <a:t>Original paper Figure 4 — probe direction similarities</a:t>
            </a:r>
            <a:endParaRPr lang="en-US" sz="1480" dirty="0"/>
          </a:p>
        </p:txBody>
      </p:sp>
      <p:pic>
        <p:nvPicPr>
          <p:cNvPr id="51" name="Image 1" descr="/mnt/data/sycophancy_visual_work/assets/colm_fig4.png"/>
          <p:cNvPicPr>
            <a:picLocks noChangeAspect="1"/>
          </p:cNvPicPr>
          <p:nvPr/>
        </p:nvPicPr>
        <p:blipFill>
          <a:blip r:embed="rId5"/>
          <a:srcRect b="9091"/>
          <a:stretch>
            <a:fillRect/>
          </a:stretch>
        </p:blipFill>
        <p:spPr>
          <a:xfrm>
            <a:off x="3678964" y="4023360"/>
            <a:ext cx="4776161" cy="1221971"/>
          </a:xfrm>
          <a:prstGeom prst="rect">
            <a:avLst/>
          </a:prstGeom>
          <a:ln/>
        </p:spPr>
      </p:pic>
      <p:sp>
        <p:nvSpPr>
          <p:cNvPr id="52" name="Text 48"/>
          <p:cNvSpPr/>
          <p:nvPr/>
        </p:nvSpPr>
        <p:spPr>
          <a:xfrm>
            <a:off x="694944" y="5897880"/>
            <a:ext cx="10927080" cy="182880"/>
          </a:xfrm>
          <a:prstGeom prst="rect">
            <a:avLst/>
          </a:prstGeom>
          <a:noFill/>
          <a:ln/>
        </p:spPr>
        <p:txBody>
          <a:bodyPr wrap="square" lIns="0" tIns="0" rIns="0" bIns="0" rtlCol="0" anchor="ctr">
            <a:normAutofit/>
          </a:bodyPr>
          <a:lstStyle/>
          <a:p>
            <a:pPr marL="0" indent="0" algn="l">
              <a:buNone/>
            </a:pPr>
            <a:r>
              <a:rPr lang="en-US" sz="900" dirty="0">
                <a:solidFill>
                  <a:srgbClr val="7F8C93"/>
                </a:solidFill>
                <a:latin typeface="Inter" pitchFamily="34" charset="0"/>
                <a:ea typeface="Inter" pitchFamily="34" charset="-122"/>
                <a:cs typeface="Inter" pitchFamily="34" charset="-120"/>
              </a:rPr>
              <a:t>COLM draft Figure 4. Interpretation applies only to linear probe directions in five tested models; nonlinear interaction remains possible.</a:t>
            </a:r>
            <a:endParaRPr lang="en-US" sz="900" dirty="0"/>
          </a:p>
        </p:txBody>
      </p:sp>
      <p:sp>
        <p:nvSpPr>
          <p:cNvPr id="53" name="Rectangle 52"/>
          <p:cNvSpPr/>
          <p:nvPr/>
        </p:nvSpPr>
        <p:spPr>
          <a:xfrm>
            <a:off x="649224" y="6391656"/>
            <a:ext cx="10936224" cy="8229"/>
          </a:xfrm>
          <a:prstGeom prst="rect">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a:hlinkClick r:id="rId6" action="ppaction://hlinksldjump"/>
          </p:cNvPr>
          <p:cNvSpPr txBox="1"/>
          <p:nvPr/>
        </p:nvSpPr>
        <p:spPr>
          <a:xfrm>
            <a:off x="667512" y="6496812"/>
            <a:ext cx="55778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Context</a:t>
            </a:r>
          </a:p>
        </p:txBody>
      </p:sp>
      <p:sp>
        <p:nvSpPr>
          <p:cNvPr id="55" name="Rounded Rectangle 54">
            <a:hlinkClick r:id="rId6" action="ppaction://hlinksldjump"/>
          </p:cNvPr>
          <p:cNvSpPr/>
          <p:nvPr/>
        </p:nvSpPr>
        <p:spPr>
          <a:xfrm>
            <a:off x="1353312"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a:hlinkClick r:id="rId7" action="ppaction://hlinksldjump"/>
          </p:cNvPr>
          <p:cNvSpPr/>
          <p:nvPr/>
        </p:nvSpPr>
        <p:spPr>
          <a:xfrm>
            <a:off x="142006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a:hlinkClick r:id="rId8" action="ppaction://hlinksldjump"/>
          </p:cNvPr>
          <p:cNvSpPr/>
          <p:nvPr/>
        </p:nvSpPr>
        <p:spPr>
          <a:xfrm>
            <a:off x="1486814"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a:hlinkClick r:id="rId9" action="ppaction://hlinksldjump"/>
          </p:cNvPr>
          <p:cNvSpPr/>
          <p:nvPr/>
        </p:nvSpPr>
        <p:spPr>
          <a:xfrm>
            <a:off x="1553565"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a:hlinkClick r:id="rId10" action="ppaction://hlinksldjump"/>
          </p:cNvPr>
          <p:cNvSpPr/>
          <p:nvPr/>
        </p:nvSpPr>
        <p:spPr>
          <a:xfrm>
            <a:off x="162031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a:hlinkClick r:id="rId11" action="ppaction://hlinksldjump"/>
          </p:cNvPr>
          <p:cNvSpPr txBox="1"/>
          <p:nvPr/>
        </p:nvSpPr>
        <p:spPr>
          <a:xfrm>
            <a:off x="2523744" y="6496812"/>
            <a:ext cx="69494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Authority</a:t>
            </a:r>
          </a:p>
        </p:txBody>
      </p:sp>
      <p:sp>
        <p:nvSpPr>
          <p:cNvPr id="62" name="Rounded Rectangle 61">
            <a:hlinkClick r:id="rId12" action="ppaction://hlinksldjump"/>
          </p:cNvPr>
          <p:cNvSpPr/>
          <p:nvPr/>
        </p:nvSpPr>
        <p:spPr>
          <a:xfrm>
            <a:off x="338602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hlinkClick r:id="rId13" action="ppaction://hlinksldjump"/>
          </p:cNvPr>
          <p:cNvSpPr txBox="1"/>
          <p:nvPr/>
        </p:nvSpPr>
        <p:spPr>
          <a:xfrm>
            <a:off x="4142231" y="6496812"/>
            <a:ext cx="31089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Test</a:t>
            </a:r>
          </a:p>
        </p:txBody>
      </p:sp>
      <p:sp>
        <p:nvSpPr>
          <p:cNvPr id="64" name="Rounded Rectangle 63">
            <a:hlinkClick r:id="rId13" action="ppaction://hlinksldjump"/>
          </p:cNvPr>
          <p:cNvSpPr/>
          <p:nvPr/>
        </p:nvSpPr>
        <p:spPr>
          <a:xfrm>
            <a:off x="454456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hlinkClick r:id="rId14" action="ppaction://hlinksldjump"/>
          </p:cNvPr>
          <p:cNvSpPr txBox="1"/>
          <p:nvPr/>
        </p:nvSpPr>
        <p:spPr>
          <a:xfrm>
            <a:off x="5276088" y="6496812"/>
            <a:ext cx="49377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Results</a:t>
            </a:r>
          </a:p>
        </p:txBody>
      </p:sp>
      <p:sp>
        <p:nvSpPr>
          <p:cNvPr id="66" name="Rounded Rectangle 65">
            <a:hlinkClick r:id="rId14" action="ppaction://hlinksldjump"/>
          </p:cNvPr>
          <p:cNvSpPr/>
          <p:nvPr/>
        </p:nvSpPr>
        <p:spPr>
          <a:xfrm>
            <a:off x="588873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a:hlinkClick r:id="rId15" action="ppaction://hlinksldjump"/>
          </p:cNvPr>
          <p:cNvSpPr/>
          <p:nvPr/>
        </p:nvSpPr>
        <p:spPr>
          <a:xfrm>
            <a:off x="595548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a:hlinkClick r:id="rId16" action="ppaction://hlinksldjump"/>
          </p:cNvPr>
          <p:cNvSpPr/>
          <p:nvPr/>
        </p:nvSpPr>
        <p:spPr>
          <a:xfrm>
            <a:off x="602223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a:hlinkClick r:id="rId17" action="ppaction://hlinksldjump"/>
          </p:cNvPr>
          <p:cNvSpPr txBox="1"/>
          <p:nvPr/>
        </p:nvSpPr>
        <p:spPr>
          <a:xfrm>
            <a:off x="6912864" y="6496812"/>
            <a:ext cx="777240" cy="219456"/>
          </a:xfrm>
          <a:prstGeom prst="rect">
            <a:avLst/>
          </a:prstGeom>
          <a:noFill/>
        </p:spPr>
        <p:txBody>
          <a:bodyPr wrap="square" lIns="0" tIns="0" rIns="0" bIns="0">
            <a:spAutoFit/>
          </a:bodyPr>
          <a:lstStyle/>
          <a:p>
            <a:pPr algn="l">
              <a:spcAft>
                <a:spcPts val="0"/>
              </a:spcAft>
            </a:pPr>
            <a:r>
              <a:rPr sz="890" b="1" i="0">
                <a:solidFill>
                  <a:srgbClr val="0C6A6C"/>
                </a:solidFill>
                <a:latin typeface="Aptos"/>
              </a:rPr>
              <a:t>Mechanism</a:t>
            </a:r>
          </a:p>
        </p:txBody>
      </p:sp>
      <p:sp>
        <p:nvSpPr>
          <p:cNvPr id="70" name="Rounded Rectangle 69">
            <a:hlinkClick r:id="rId17" action="ppaction://hlinksldjump"/>
          </p:cNvPr>
          <p:cNvSpPr/>
          <p:nvPr/>
        </p:nvSpPr>
        <p:spPr>
          <a:xfrm>
            <a:off x="785469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0">
            <a:hlinkClick r:id="rId18" action="ppaction://hlinksldjump"/>
          </p:cNvPr>
          <p:cNvSpPr/>
          <p:nvPr/>
        </p:nvSpPr>
        <p:spPr>
          <a:xfrm>
            <a:off x="7921447" y="6558076"/>
            <a:ext cx="55778" cy="55778"/>
          </a:xfrm>
          <a:prstGeom prst="roundRect">
            <a:avLst>
              <a:gd name="adj" fmla="val 4500"/>
            </a:avLst>
          </a:prstGeom>
          <a:solidFill>
            <a:srgbClr val="0C6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a:hlinkClick r:id="rId19" action="ppaction://hlinksldjump"/>
          </p:cNvPr>
          <p:cNvSpPr/>
          <p:nvPr/>
        </p:nvSpPr>
        <p:spPr>
          <a:xfrm>
            <a:off x="798819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hlinkClick r:id="rId20" action="ppaction://hlinksldjump"/>
          </p:cNvPr>
          <p:cNvSpPr txBox="1"/>
          <p:nvPr/>
        </p:nvSpPr>
        <p:spPr>
          <a:xfrm>
            <a:off x="8924544" y="6496812"/>
            <a:ext cx="987552"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Responsibility</a:t>
            </a:r>
          </a:p>
        </p:txBody>
      </p:sp>
      <p:sp>
        <p:nvSpPr>
          <p:cNvPr id="75" name="Rounded Rectangle 74">
            <a:hlinkClick r:id="rId21" action="ppaction://hlinksldjump"/>
          </p:cNvPr>
          <p:cNvSpPr/>
          <p:nvPr/>
        </p:nvSpPr>
        <p:spPr>
          <a:xfrm>
            <a:off x="1011600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75">
            <a:hlinkClick r:id="rId22" action="ppaction://hlinksldjump"/>
          </p:cNvPr>
          <p:cNvSpPr/>
          <p:nvPr/>
        </p:nvSpPr>
        <p:spPr>
          <a:xfrm>
            <a:off x="1018275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76">
            <a:hlinkClick r:id="rId23" action="ppaction://hlinksldjump"/>
          </p:cNvPr>
          <p:cNvSpPr/>
          <p:nvPr/>
        </p:nvSpPr>
        <p:spPr>
          <a:xfrm>
            <a:off x="10249509"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11119104" y="6492240"/>
            <a:ext cx="429768" cy="210312"/>
          </a:xfrm>
          <a:prstGeom prst="rect">
            <a:avLst/>
          </a:prstGeom>
          <a:noFill/>
        </p:spPr>
        <p:txBody>
          <a:bodyPr wrap="square" lIns="0" tIns="0" rIns="0" bIns="0">
            <a:spAutoFit/>
          </a:bodyPr>
          <a:lstStyle/>
          <a:p>
            <a:pPr algn="r">
              <a:spcAft>
                <a:spcPts val="0"/>
              </a:spcAft>
            </a:pPr>
            <a:r>
              <a:rPr sz="900" b="1" i="0">
                <a:solidFill>
                  <a:srgbClr val="737D84"/>
                </a:solidFill>
                <a:latin typeface="Aptos"/>
              </a:rPr>
              <a:t>12/16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8003" name="Content highlight 3"/>
          <p:cNvSpPr/>
          <p:nvPr/>
        </p:nvSpPr>
        <p:spPr>
          <a:xfrm>
            <a:off x="8324850" y="2000250"/>
            <a:ext cx="3152775" cy="2447925"/>
          </a:xfrm>
          <a:prstGeom prst="rect">
            <a:avLst/>
          </a:prstGeom>
          <a:solidFill>
            <a:srgbClr val="EEF5F5"/>
          </a:solidFill>
          <a:ln>
            <a:noFill/>
          </a:ln>
        </p:spPr>
      </p:sp>
      <p:sp>
        <p:nvSpPr>
          <p:cNvPr id="8002" name="Content highlight 2"/>
          <p:cNvSpPr/>
          <p:nvPr/>
        </p:nvSpPr>
        <p:spPr>
          <a:xfrm>
            <a:off x="4591050" y="2000250"/>
            <a:ext cx="3152775" cy="2447925"/>
          </a:xfrm>
          <a:prstGeom prst="rect">
            <a:avLst/>
          </a:prstGeom>
          <a:solidFill>
            <a:srgbClr val="EEF5F5"/>
          </a:solidFill>
          <a:ln>
            <a:noFill/>
          </a:ln>
        </p:spPr>
      </p:sp>
      <p:sp>
        <p:nvSpPr>
          <p:cNvPr id="8001" name="Content highlight 1"/>
          <p:cNvSpPr/>
          <p:nvPr/>
        </p:nvSpPr>
        <p:spPr>
          <a:xfrm>
            <a:off x="857250" y="2000250"/>
            <a:ext cx="3152775" cy="2447925"/>
          </a:xfrm>
          <a:prstGeom prst="rect">
            <a:avLst/>
          </a:prstGeom>
          <a:solidFill>
            <a:srgbClr val="EEF5F5"/>
          </a:solidFill>
          <a:ln>
            <a:noFill/>
          </a:ln>
        </p:spPr>
      </p:sp>
      <p:sp>
        <p:nvSpPr>
          <p:cNvPr id="4" name="Text 2"/>
          <p:cNvSpPr/>
          <p:nvPr/>
        </p:nvSpPr>
        <p:spPr>
          <a:xfrm>
            <a:off x="713232" y="667512"/>
            <a:ext cx="10387584" cy="484632"/>
          </a:xfrm>
          <a:prstGeom prst="rect">
            <a:avLst/>
          </a:prstGeom>
          <a:noFill/>
          <a:ln/>
        </p:spPr>
        <p:txBody>
          <a:bodyPr wrap="square" lIns="0" tIns="0" rIns="0" bIns="0" rtlCol="0" anchor="ctr">
            <a:normAutofit/>
          </a:bodyPr>
          <a:lstStyle/>
          <a:p>
            <a:pPr marL="0" indent="0" algn="l">
              <a:buNone/>
            </a:pPr>
            <a:r>
              <a:rPr lang="en-US" sz="2650" b="1" dirty="0">
                <a:solidFill>
                  <a:srgbClr val="1D2C36"/>
                </a:solidFill>
                <a:latin typeface="Inter Display" pitchFamily="34" charset="0"/>
                <a:ea typeface="Inter Display" pitchFamily="34" charset="-122"/>
                <a:cs typeface="Inter Display" pitchFamily="34" charset="-120"/>
              </a:rPr>
              <a:t>Future improvements</a:t>
            </a:r>
          </a:p>
        </p:txBody>
      </p:sp>
      <p:sp>
        <p:nvSpPr>
          <p:cNvPr id="43" name="Text 40"/>
          <p:cNvSpPr/>
          <p:nvPr/>
        </p:nvSpPr>
        <p:spPr>
          <a:xfrm>
            <a:off x="996696" y="2139696"/>
            <a:ext cx="539496" cy="402336"/>
          </a:xfrm>
          <a:prstGeom prst="rect">
            <a:avLst/>
          </a:prstGeom>
          <a:noFill/>
          <a:ln/>
        </p:spPr>
        <p:txBody>
          <a:bodyPr wrap="square" lIns="0" tIns="0" rIns="0" bIns="0" rtlCol="0" anchor="ctr">
            <a:normAutofit/>
          </a:bodyPr>
          <a:lstStyle/>
          <a:p>
            <a:pPr marL="0" indent="0" algn="l">
              <a:buNone/>
            </a:pPr>
            <a:r>
              <a:rPr lang="en-US" sz="1900" b="1" dirty="0">
                <a:solidFill>
                  <a:srgbClr val="0B8999"/>
                </a:solidFill>
                <a:latin typeface="Inter" pitchFamily="34" charset="0"/>
                <a:ea typeface="Inter" pitchFamily="34" charset="-122"/>
                <a:cs typeface="Inter" pitchFamily="34" charset="-120"/>
              </a:rPr>
              <a:t>1</a:t>
            </a:r>
            <a:endParaRPr lang="en-US" sz="1900" dirty="0"/>
          </a:p>
        </p:txBody>
      </p:sp>
      <p:sp>
        <p:nvSpPr>
          <p:cNvPr id="44" name="Text 41"/>
          <p:cNvSpPr/>
          <p:nvPr/>
        </p:nvSpPr>
        <p:spPr>
          <a:xfrm>
            <a:off x="996696" y="2688336"/>
            <a:ext cx="2980944" cy="365760"/>
          </a:xfrm>
          <a:prstGeom prst="rect">
            <a:avLst/>
          </a:prstGeom>
          <a:noFill/>
          <a:ln/>
        </p:spPr>
        <p:txBody>
          <a:bodyPr wrap="square" lIns="0" tIns="0" rIns="0" bIns="0" rtlCol="0" anchor="ctr">
            <a:normAutofit/>
          </a:bodyPr>
          <a:lstStyle/>
          <a:p>
            <a:pPr marL="0" indent="0" algn="l">
              <a:buNone/>
            </a:pPr>
            <a:r>
              <a:rPr lang="en-US" sz="1860" b="1" dirty="0">
                <a:solidFill>
                  <a:srgbClr val="1D2C36"/>
                </a:solidFill>
                <a:latin typeface="Inter" pitchFamily="34" charset="0"/>
                <a:ea typeface="Inter" pitchFamily="34" charset="-122"/>
                <a:cs typeface="Inter" pitchFamily="34" charset="-120"/>
              </a:rPr>
              <a:t>CORRECTIONS</a:t>
            </a:r>
          </a:p>
        </p:txBody>
      </p:sp>
      <p:sp>
        <p:nvSpPr>
          <p:cNvPr id="45" name="Text 42"/>
          <p:cNvSpPr/>
          <p:nvPr/>
        </p:nvSpPr>
        <p:spPr>
          <a:xfrm>
            <a:off x="996696" y="3337560"/>
            <a:ext cx="2926080" cy="950976"/>
          </a:xfrm>
          <a:prstGeom prst="rect">
            <a:avLst/>
          </a:prstGeom>
          <a:noFill/>
          <a:ln/>
        </p:spPr>
        <p:txBody>
          <a:bodyPr wrap="square" lIns="0" tIns="0" rIns="0" bIns="0" rtlCol="0" anchor="ctr">
            <a:normAutofit/>
          </a:bodyPr>
          <a:lstStyle/>
          <a:p>
            <a:pPr marL="0" indent="0" algn="l">
              <a:buNone/>
            </a:pPr>
            <a:r>
              <a:rPr lang="en-US" sz="1640" dirty="0">
                <a:solidFill>
                  <a:srgbClr val="5C6C76"/>
                </a:solidFill>
                <a:latin typeface="Inter" pitchFamily="34" charset="0"/>
                <a:ea typeface="Inter" pitchFamily="34" charset="-122"/>
                <a:cs typeface="Inter" pitchFamily="34" charset="-120"/>
              </a:rPr>
              <a:t>Accept new evidence while resisting false claims.</a:t>
            </a:r>
          </a:p>
        </p:txBody>
      </p:sp>
      <p:sp>
        <p:nvSpPr>
          <p:cNvPr id="47" name="Text 44"/>
          <p:cNvSpPr/>
          <p:nvPr/>
        </p:nvSpPr>
        <p:spPr>
          <a:xfrm>
            <a:off x="4736592" y="2139696"/>
            <a:ext cx="539496" cy="402336"/>
          </a:xfrm>
          <a:prstGeom prst="rect">
            <a:avLst/>
          </a:prstGeom>
          <a:noFill/>
          <a:ln/>
        </p:spPr>
        <p:txBody>
          <a:bodyPr wrap="square" lIns="0" tIns="0" rIns="0" bIns="0" rtlCol="0" anchor="ctr">
            <a:normAutofit/>
          </a:bodyPr>
          <a:lstStyle/>
          <a:p>
            <a:pPr marL="0" indent="0" algn="l">
              <a:buNone/>
            </a:pPr>
            <a:r>
              <a:rPr lang="en-US" sz="1900" b="1" dirty="0">
                <a:solidFill>
                  <a:srgbClr val="0B8999"/>
                </a:solidFill>
                <a:latin typeface="Inter" pitchFamily="34" charset="0"/>
                <a:ea typeface="Inter" pitchFamily="34" charset="-122"/>
                <a:cs typeface="Inter" pitchFamily="34" charset="-120"/>
              </a:rPr>
              <a:t>2</a:t>
            </a:r>
            <a:endParaRPr lang="en-US" sz="1900" dirty="0"/>
          </a:p>
        </p:txBody>
      </p:sp>
      <p:sp>
        <p:nvSpPr>
          <p:cNvPr id="48" name="Text 45"/>
          <p:cNvSpPr/>
          <p:nvPr/>
        </p:nvSpPr>
        <p:spPr>
          <a:xfrm>
            <a:off x="4736592" y="2688336"/>
            <a:ext cx="2980944" cy="365760"/>
          </a:xfrm>
          <a:prstGeom prst="rect">
            <a:avLst/>
          </a:prstGeom>
          <a:noFill/>
          <a:ln/>
        </p:spPr>
        <p:txBody>
          <a:bodyPr wrap="square" lIns="0" tIns="0" rIns="0" bIns="0" rtlCol="0" anchor="ctr">
            <a:normAutofit/>
          </a:bodyPr>
          <a:lstStyle/>
          <a:p>
            <a:pPr marL="0" indent="0" algn="l">
              <a:buNone/>
            </a:pPr>
            <a:r>
              <a:rPr lang="en-US" sz="1860" b="1" dirty="0">
                <a:solidFill>
                  <a:srgbClr val="1D2C36"/>
                </a:solidFill>
                <a:latin typeface="Inter" pitchFamily="34" charset="0"/>
                <a:ea typeface="Inter" pitchFamily="34" charset="-122"/>
                <a:cs typeface="Inter" pitchFamily="34" charset="-120"/>
              </a:rPr>
              <a:t>INTERVENTIONS</a:t>
            </a:r>
          </a:p>
        </p:txBody>
      </p:sp>
      <p:sp>
        <p:nvSpPr>
          <p:cNvPr id="49" name="Text 46"/>
          <p:cNvSpPr/>
          <p:nvPr/>
        </p:nvSpPr>
        <p:spPr>
          <a:xfrm>
            <a:off x="4736592" y="3337560"/>
            <a:ext cx="2926080" cy="950976"/>
          </a:xfrm>
          <a:prstGeom prst="rect">
            <a:avLst/>
          </a:prstGeom>
          <a:noFill/>
          <a:ln/>
        </p:spPr>
        <p:txBody>
          <a:bodyPr wrap="square" lIns="0" tIns="0" rIns="0" bIns="0" rtlCol="0" anchor="ctr">
            <a:normAutofit/>
          </a:bodyPr>
          <a:lstStyle/>
          <a:p>
            <a:pPr marL="0" indent="0" algn="l">
              <a:buNone/>
            </a:pPr>
            <a:r>
              <a:rPr lang="en-US" sz="1640" dirty="0">
                <a:solidFill>
                  <a:srgbClr val="5C6C76"/>
                </a:solidFill>
                <a:latin typeface="Inter" pitchFamily="34" charset="0"/>
                <a:ea typeface="Inter" pitchFamily="34" charset="-122"/>
                <a:cs typeface="Inter" pitchFamily="34" charset="-120"/>
              </a:rPr>
              <a:t>Test training changes and authority-direction steering.</a:t>
            </a:r>
          </a:p>
        </p:txBody>
      </p:sp>
      <p:sp>
        <p:nvSpPr>
          <p:cNvPr id="51" name="Text 48"/>
          <p:cNvSpPr/>
          <p:nvPr/>
        </p:nvSpPr>
        <p:spPr>
          <a:xfrm>
            <a:off x="8476488" y="2139696"/>
            <a:ext cx="539496" cy="402336"/>
          </a:xfrm>
          <a:prstGeom prst="rect">
            <a:avLst/>
          </a:prstGeom>
          <a:noFill/>
          <a:ln/>
        </p:spPr>
        <p:txBody>
          <a:bodyPr wrap="square" lIns="0" tIns="0" rIns="0" bIns="0" rtlCol="0" anchor="ctr">
            <a:normAutofit/>
          </a:bodyPr>
          <a:lstStyle/>
          <a:p>
            <a:pPr marL="0" indent="0" algn="l">
              <a:buNone/>
            </a:pPr>
            <a:r>
              <a:rPr lang="en-US" sz="1900" b="1" dirty="0">
                <a:solidFill>
                  <a:srgbClr val="0B8999"/>
                </a:solidFill>
                <a:latin typeface="Inter" pitchFamily="34" charset="0"/>
                <a:ea typeface="Inter" pitchFamily="34" charset="-122"/>
                <a:cs typeface="Inter" pitchFamily="34" charset="-120"/>
              </a:rPr>
              <a:t>3</a:t>
            </a:r>
            <a:endParaRPr lang="en-US" sz="1900" dirty="0"/>
          </a:p>
        </p:txBody>
      </p:sp>
      <p:sp>
        <p:nvSpPr>
          <p:cNvPr id="52" name="Text 49"/>
          <p:cNvSpPr/>
          <p:nvPr/>
        </p:nvSpPr>
        <p:spPr>
          <a:xfrm>
            <a:off x="8476488" y="2688336"/>
            <a:ext cx="2980944" cy="365760"/>
          </a:xfrm>
          <a:prstGeom prst="rect">
            <a:avLst/>
          </a:prstGeom>
          <a:noFill/>
          <a:ln/>
        </p:spPr>
        <p:txBody>
          <a:bodyPr wrap="square" lIns="0" tIns="0" rIns="0" bIns="0" rtlCol="0" anchor="ctr">
            <a:normAutofit/>
          </a:bodyPr>
          <a:lstStyle/>
          <a:p>
            <a:pPr marL="0" indent="0" algn="l">
              <a:buNone/>
            </a:pPr>
            <a:r>
              <a:rPr lang="en-US" sz="1860" b="1" dirty="0">
                <a:solidFill>
                  <a:srgbClr val="1D2C36"/>
                </a:solidFill>
                <a:latin typeface="Inter" pitchFamily="34" charset="0"/>
                <a:ea typeface="Inter" pitchFamily="34" charset="-122"/>
                <a:cs typeface="Inter" pitchFamily="34" charset="-120"/>
              </a:rPr>
              <a:t>BROADER TESTS</a:t>
            </a:r>
          </a:p>
        </p:txBody>
      </p:sp>
      <p:sp>
        <p:nvSpPr>
          <p:cNvPr id="53" name="Text 50"/>
          <p:cNvSpPr/>
          <p:nvPr/>
        </p:nvSpPr>
        <p:spPr>
          <a:xfrm>
            <a:off x="8476488" y="3337560"/>
            <a:ext cx="2926080" cy="950976"/>
          </a:xfrm>
          <a:prstGeom prst="rect">
            <a:avLst/>
          </a:prstGeom>
          <a:noFill/>
          <a:ln/>
        </p:spPr>
        <p:txBody>
          <a:bodyPr wrap="square" lIns="0" tIns="0" rIns="0" bIns="0" rtlCol="0" anchor="ctr">
            <a:normAutofit/>
          </a:bodyPr>
          <a:lstStyle/>
          <a:p>
            <a:pPr marL="0" indent="0" algn="l">
              <a:buNone/>
            </a:pPr>
            <a:r>
              <a:rPr lang="en-US" sz="1640" dirty="0">
                <a:solidFill>
                  <a:srgbClr val="5C6C76"/>
                </a:solidFill>
                <a:latin typeface="Inter" pitchFamily="34" charset="0"/>
                <a:ea typeface="Inter" pitchFamily="34" charset="-122"/>
                <a:cs typeface="Inter" pitchFamily="34" charset="-120"/>
              </a:rPr>
              <a:t>Vary authority cues and check other abilities.</a:t>
            </a:r>
          </a:p>
        </p:txBody>
      </p:sp>
      <p:sp>
        <p:nvSpPr>
          <p:cNvPr id="55" name="Text 52"/>
          <p:cNvSpPr/>
          <p:nvPr/>
        </p:nvSpPr>
        <p:spPr>
          <a:xfrm>
            <a:off x="1051560" y="5184648"/>
            <a:ext cx="10168128" cy="329184"/>
          </a:xfrm>
          <a:prstGeom prst="rect">
            <a:avLst/>
          </a:prstGeom>
          <a:noFill/>
          <a:ln/>
        </p:spPr>
        <p:txBody>
          <a:bodyPr wrap="square" lIns="0" tIns="0" rIns="0" bIns="0" rtlCol="0" anchor="ctr">
            <a:normAutofit/>
          </a:bodyPr>
          <a:lstStyle/>
          <a:p>
            <a:pPr marL="0" indent="0" algn="ctr">
              <a:buNone/>
            </a:pPr>
            <a:r>
              <a:rPr lang="en-US" sz="1800" b="1" dirty="0">
                <a:solidFill>
                  <a:srgbClr val="243649"/>
                </a:solidFill>
                <a:latin typeface="Inter" pitchFamily="34" charset="0"/>
                <a:ea typeface="Inter" pitchFamily="34" charset="-122"/>
                <a:cs typeface="Inter" pitchFamily="34" charset="-120"/>
              </a:rPr>
              <a:t>The goal: accurate answers that change for a valid reason</a:t>
            </a:r>
          </a:p>
        </p:txBody>
      </p:sp>
      <p:sp>
        <p:nvSpPr>
          <p:cNvPr id="56" name="Text 53"/>
          <p:cNvSpPr/>
          <p:nvPr/>
        </p:nvSpPr>
        <p:spPr>
          <a:xfrm>
            <a:off x="694944" y="5897880"/>
            <a:ext cx="10927080" cy="182880"/>
          </a:xfrm>
          <a:prstGeom prst="rect">
            <a:avLst/>
          </a:prstGeom>
          <a:noFill/>
          <a:ln/>
        </p:spPr>
        <p:txBody>
          <a:bodyPr wrap="square" lIns="0" tIns="0" rIns="0" bIns="0" rtlCol="0" anchor="ctr">
            <a:normAutofit/>
          </a:bodyPr>
          <a:lstStyle/>
          <a:p>
            <a:pPr marL="0" indent="0" algn="l">
              <a:buNone/>
            </a:pPr>
            <a:r>
              <a:rPr lang="en-US" sz="900" dirty="0">
                <a:solidFill>
                  <a:srgbClr val="7F8C93"/>
                </a:solidFill>
                <a:latin typeface="Inter" pitchFamily="34" charset="0"/>
                <a:ea typeface="Inter" pitchFamily="34" charset="-122"/>
                <a:cs typeface="Inter" pitchFamily="34" charset="-120"/>
              </a:rPr>
              <a:t>Research agenda based on COLM draft §6, Appendix L and Limitations. Steering remains preliminary.</a:t>
            </a:r>
          </a:p>
        </p:txBody>
      </p:sp>
      <p:sp>
        <p:nvSpPr>
          <p:cNvPr id="57" name="Rectangle 56"/>
          <p:cNvSpPr/>
          <p:nvPr/>
        </p:nvSpPr>
        <p:spPr>
          <a:xfrm>
            <a:off x="649224" y="6391656"/>
            <a:ext cx="10936224" cy="8229"/>
          </a:xfrm>
          <a:prstGeom prst="rect">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a:hlinkClick r:id="rId5" action="ppaction://hlinksldjump"/>
          </p:cNvPr>
          <p:cNvSpPr txBox="1"/>
          <p:nvPr/>
        </p:nvSpPr>
        <p:spPr>
          <a:xfrm>
            <a:off x="667512" y="6496812"/>
            <a:ext cx="55778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Context</a:t>
            </a:r>
          </a:p>
        </p:txBody>
      </p:sp>
      <p:sp>
        <p:nvSpPr>
          <p:cNvPr id="59" name="Rounded Rectangle 58">
            <a:hlinkClick r:id="rId5" action="ppaction://hlinksldjump"/>
          </p:cNvPr>
          <p:cNvSpPr/>
          <p:nvPr/>
        </p:nvSpPr>
        <p:spPr>
          <a:xfrm>
            <a:off x="1353312"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a:hlinkClick r:id="rId6" action="ppaction://hlinksldjump"/>
          </p:cNvPr>
          <p:cNvSpPr/>
          <p:nvPr/>
        </p:nvSpPr>
        <p:spPr>
          <a:xfrm>
            <a:off x="142006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60">
            <a:hlinkClick r:id="rId7" action="ppaction://hlinksldjump"/>
          </p:cNvPr>
          <p:cNvSpPr/>
          <p:nvPr/>
        </p:nvSpPr>
        <p:spPr>
          <a:xfrm>
            <a:off x="1486814"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a:hlinkClick r:id="rId8" action="ppaction://hlinksldjump"/>
          </p:cNvPr>
          <p:cNvSpPr/>
          <p:nvPr/>
        </p:nvSpPr>
        <p:spPr>
          <a:xfrm>
            <a:off x="1553565"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a:hlinkClick r:id="rId9" action="ppaction://hlinksldjump"/>
          </p:cNvPr>
          <p:cNvSpPr/>
          <p:nvPr/>
        </p:nvSpPr>
        <p:spPr>
          <a:xfrm>
            <a:off x="162031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a:hlinkClick r:id="rId10" action="ppaction://hlinksldjump"/>
          </p:cNvPr>
          <p:cNvSpPr txBox="1"/>
          <p:nvPr/>
        </p:nvSpPr>
        <p:spPr>
          <a:xfrm>
            <a:off x="2523744" y="6496812"/>
            <a:ext cx="69494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Authority</a:t>
            </a:r>
          </a:p>
        </p:txBody>
      </p:sp>
      <p:sp>
        <p:nvSpPr>
          <p:cNvPr id="66" name="Rounded Rectangle 65">
            <a:hlinkClick r:id="rId11" action="ppaction://hlinksldjump"/>
          </p:cNvPr>
          <p:cNvSpPr/>
          <p:nvPr/>
        </p:nvSpPr>
        <p:spPr>
          <a:xfrm>
            <a:off x="338602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a:hlinkClick r:id="rId12" action="ppaction://hlinksldjump"/>
          </p:cNvPr>
          <p:cNvSpPr txBox="1"/>
          <p:nvPr/>
        </p:nvSpPr>
        <p:spPr>
          <a:xfrm>
            <a:off x="4142231" y="6496812"/>
            <a:ext cx="31089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Test</a:t>
            </a:r>
          </a:p>
        </p:txBody>
      </p:sp>
      <p:sp>
        <p:nvSpPr>
          <p:cNvPr id="68" name="Rounded Rectangle 67">
            <a:hlinkClick r:id="rId12" action="ppaction://hlinksldjump"/>
          </p:cNvPr>
          <p:cNvSpPr/>
          <p:nvPr/>
        </p:nvSpPr>
        <p:spPr>
          <a:xfrm>
            <a:off x="454456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a:hlinkClick r:id="rId13" action="ppaction://hlinksldjump"/>
          </p:cNvPr>
          <p:cNvSpPr txBox="1"/>
          <p:nvPr/>
        </p:nvSpPr>
        <p:spPr>
          <a:xfrm>
            <a:off x="5276088" y="6496812"/>
            <a:ext cx="49377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Results</a:t>
            </a:r>
          </a:p>
        </p:txBody>
      </p:sp>
      <p:sp>
        <p:nvSpPr>
          <p:cNvPr id="70" name="Rounded Rectangle 69">
            <a:hlinkClick r:id="rId13" action="ppaction://hlinksldjump"/>
          </p:cNvPr>
          <p:cNvSpPr/>
          <p:nvPr/>
        </p:nvSpPr>
        <p:spPr>
          <a:xfrm>
            <a:off x="588873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0">
            <a:hlinkClick r:id="rId14" action="ppaction://hlinksldjump"/>
          </p:cNvPr>
          <p:cNvSpPr/>
          <p:nvPr/>
        </p:nvSpPr>
        <p:spPr>
          <a:xfrm>
            <a:off x="595548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a:hlinkClick r:id="rId15" action="ppaction://hlinksldjump"/>
          </p:cNvPr>
          <p:cNvSpPr/>
          <p:nvPr/>
        </p:nvSpPr>
        <p:spPr>
          <a:xfrm>
            <a:off x="602223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hlinkClick r:id="rId16" action="ppaction://hlinksldjump"/>
          </p:cNvPr>
          <p:cNvSpPr txBox="1"/>
          <p:nvPr/>
        </p:nvSpPr>
        <p:spPr>
          <a:xfrm>
            <a:off x="6912864" y="6496812"/>
            <a:ext cx="777240" cy="219456"/>
          </a:xfrm>
          <a:prstGeom prst="rect">
            <a:avLst/>
          </a:prstGeom>
          <a:noFill/>
        </p:spPr>
        <p:txBody>
          <a:bodyPr wrap="square" lIns="0" tIns="0" rIns="0" bIns="0">
            <a:spAutoFit/>
          </a:bodyPr>
          <a:lstStyle/>
          <a:p>
            <a:pPr algn="l">
              <a:spcAft>
                <a:spcPts val="0"/>
              </a:spcAft>
            </a:pPr>
            <a:r>
              <a:rPr sz="890" b="1" i="0">
                <a:solidFill>
                  <a:srgbClr val="0C6A6C"/>
                </a:solidFill>
                <a:latin typeface="Aptos"/>
              </a:rPr>
              <a:t>Mechanism</a:t>
            </a:r>
          </a:p>
        </p:txBody>
      </p:sp>
      <p:sp>
        <p:nvSpPr>
          <p:cNvPr id="74" name="Rounded Rectangle 73">
            <a:hlinkClick r:id="rId16" action="ppaction://hlinksldjump"/>
          </p:cNvPr>
          <p:cNvSpPr/>
          <p:nvPr/>
        </p:nvSpPr>
        <p:spPr>
          <a:xfrm>
            <a:off x="785469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a:hlinkClick r:id="rId17" action="ppaction://hlinksldjump"/>
          </p:cNvPr>
          <p:cNvSpPr/>
          <p:nvPr/>
        </p:nvSpPr>
        <p:spPr>
          <a:xfrm>
            <a:off x="792144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75">
            <a:hlinkClick r:id="rId18" action="ppaction://hlinksldjump"/>
          </p:cNvPr>
          <p:cNvSpPr/>
          <p:nvPr/>
        </p:nvSpPr>
        <p:spPr>
          <a:xfrm>
            <a:off x="7988198" y="6558076"/>
            <a:ext cx="55778" cy="55778"/>
          </a:xfrm>
          <a:prstGeom prst="roundRect">
            <a:avLst>
              <a:gd name="adj" fmla="val 4500"/>
            </a:avLst>
          </a:prstGeom>
          <a:solidFill>
            <a:srgbClr val="0C6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hlinkClick r:id="rId19" action="ppaction://hlinksldjump"/>
          </p:cNvPr>
          <p:cNvSpPr txBox="1"/>
          <p:nvPr/>
        </p:nvSpPr>
        <p:spPr>
          <a:xfrm>
            <a:off x="8924544" y="6496812"/>
            <a:ext cx="987552"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Responsibility</a:t>
            </a:r>
          </a:p>
        </p:txBody>
      </p:sp>
      <p:sp>
        <p:nvSpPr>
          <p:cNvPr id="79" name="Rounded Rectangle 78">
            <a:hlinkClick r:id="rId20" action="ppaction://hlinksldjump"/>
          </p:cNvPr>
          <p:cNvSpPr/>
          <p:nvPr/>
        </p:nvSpPr>
        <p:spPr>
          <a:xfrm>
            <a:off x="1011600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ounded Rectangle 79">
            <a:hlinkClick r:id="rId21" action="ppaction://hlinksldjump"/>
          </p:cNvPr>
          <p:cNvSpPr/>
          <p:nvPr/>
        </p:nvSpPr>
        <p:spPr>
          <a:xfrm>
            <a:off x="1018275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a:hlinkClick r:id="rId22" action="ppaction://hlinksldjump"/>
          </p:cNvPr>
          <p:cNvSpPr/>
          <p:nvPr/>
        </p:nvSpPr>
        <p:spPr>
          <a:xfrm>
            <a:off x="10249509"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11119104" y="6492240"/>
            <a:ext cx="429768" cy="210312"/>
          </a:xfrm>
          <a:prstGeom prst="rect">
            <a:avLst/>
          </a:prstGeom>
          <a:noFill/>
        </p:spPr>
        <p:txBody>
          <a:bodyPr wrap="square" lIns="0" tIns="0" rIns="0" bIns="0">
            <a:spAutoFit/>
          </a:bodyPr>
          <a:lstStyle/>
          <a:p>
            <a:pPr algn="r">
              <a:spcAft>
                <a:spcPts val="0"/>
              </a:spcAft>
            </a:pPr>
            <a:r>
              <a:rPr sz="900" b="1" i="0">
                <a:solidFill>
                  <a:srgbClr val="737D84"/>
                </a:solidFill>
                <a:latin typeface="Aptos"/>
              </a:rPr>
              <a:t>13/16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3" name="Content highlight 3"/>
          <p:cNvSpPr/>
          <p:nvPr/>
        </p:nvSpPr>
        <p:spPr>
          <a:xfrm>
            <a:off x="800100" y="3962400"/>
            <a:ext cx="10668000" cy="790575"/>
          </a:xfrm>
          <a:prstGeom prst="rect">
            <a:avLst/>
          </a:prstGeom>
          <a:solidFill>
            <a:srgbClr val="EEF5F5"/>
          </a:solidFill>
          <a:ln>
            <a:noFill/>
          </a:ln>
        </p:spPr>
      </p:sp>
      <p:sp>
        <p:nvSpPr>
          <p:cNvPr id="8002" name="Content highlight 2"/>
          <p:cNvSpPr/>
          <p:nvPr/>
        </p:nvSpPr>
        <p:spPr>
          <a:xfrm>
            <a:off x="800100" y="2686050"/>
            <a:ext cx="10668000" cy="790575"/>
          </a:xfrm>
          <a:prstGeom prst="rect">
            <a:avLst/>
          </a:prstGeom>
          <a:solidFill>
            <a:srgbClr val="EEF5F5"/>
          </a:solidFill>
          <a:ln>
            <a:noFill/>
          </a:ln>
        </p:spPr>
      </p:sp>
      <p:sp>
        <p:nvSpPr>
          <p:cNvPr id="8001" name="Content highlight 1"/>
          <p:cNvSpPr/>
          <p:nvPr/>
        </p:nvSpPr>
        <p:spPr>
          <a:xfrm>
            <a:off x="800100" y="1409700"/>
            <a:ext cx="10668000" cy="790575"/>
          </a:xfrm>
          <a:prstGeom prst="rect">
            <a:avLst/>
          </a:prstGeom>
          <a:solidFill>
            <a:srgbClr val="EEF5F5"/>
          </a:solidFill>
          <a:ln>
            <a:noFill/>
          </a:ln>
        </p:spPr>
      </p:sp>
      <p:sp>
        <p:nvSpPr>
          <p:cNvPr id="3" name="TextBox 2"/>
          <p:cNvSpPr txBox="1"/>
          <p:nvPr/>
        </p:nvSpPr>
        <p:spPr>
          <a:xfrm>
            <a:off x="731520" y="512064"/>
            <a:ext cx="10881360" cy="704088"/>
          </a:xfrm>
          <a:prstGeom prst="rect">
            <a:avLst/>
          </a:prstGeom>
          <a:noFill/>
          <a:ln/>
        </p:spPr>
        <p:txBody>
          <a:bodyPr wrap="square" lIns="0" tIns="0" rIns="0" bIns="0">
            <a:spAutoFit/>
          </a:bodyPr>
          <a:lstStyle/>
          <a:p>
            <a:pPr algn="l"/>
            <a:r>
              <a:rPr sz="3150" b="1">
                <a:solidFill>
                  <a:srgbClr val="222A31"/>
                </a:solidFill>
                <a:latin typeface="Aptos Display"/>
              </a:rPr>
              <a:t>What responsibility looks like</a:t>
            </a:r>
          </a:p>
        </p:txBody>
      </p:sp>
      <p:sp>
        <p:nvSpPr>
          <p:cNvPr id="54" name="TextBox 53"/>
          <p:cNvSpPr txBox="1"/>
          <p:nvPr/>
        </p:nvSpPr>
        <p:spPr>
          <a:xfrm>
            <a:off x="905256" y="1554480"/>
            <a:ext cx="493776" cy="292608"/>
          </a:xfrm>
          <a:prstGeom prst="rect">
            <a:avLst/>
          </a:prstGeom>
          <a:noFill/>
          <a:ln/>
        </p:spPr>
        <p:txBody>
          <a:bodyPr wrap="square" lIns="0" tIns="0" rIns="0" bIns="0">
            <a:spAutoFit/>
          </a:bodyPr>
          <a:lstStyle/>
          <a:p>
            <a:pPr algn="l">
              <a:spcAft>
                <a:spcPts val="0"/>
              </a:spcAft>
            </a:pPr>
            <a:r>
              <a:rPr sz="1600" b="1" i="0">
                <a:solidFill>
                  <a:srgbClr val="0C6A6C"/>
                </a:solidFill>
                <a:latin typeface="Aptos"/>
              </a:rPr>
              <a:t>01</a:t>
            </a:r>
          </a:p>
        </p:txBody>
      </p:sp>
      <p:sp>
        <p:nvSpPr>
          <p:cNvPr id="55" name="TextBox 54"/>
          <p:cNvSpPr txBox="1"/>
          <p:nvPr/>
        </p:nvSpPr>
        <p:spPr>
          <a:xfrm>
            <a:off x="1600200" y="1554480"/>
            <a:ext cx="4169663" cy="374904"/>
          </a:xfrm>
          <a:prstGeom prst="rect">
            <a:avLst/>
          </a:prstGeom>
          <a:noFill/>
          <a:ln/>
        </p:spPr>
        <p:txBody>
          <a:bodyPr wrap="square" lIns="0" tIns="0" rIns="0" bIns="0">
            <a:spAutoFit/>
          </a:bodyPr>
          <a:lstStyle/>
          <a:p>
            <a:pPr algn="l">
              <a:spcAft>
                <a:spcPts val="0"/>
              </a:spcAft>
            </a:pPr>
            <a:r>
              <a:rPr sz="2050" b="1" i="0">
                <a:solidFill>
                  <a:srgbClr val="222A31"/>
                </a:solidFill>
                <a:latin typeface="Aptos"/>
              </a:rPr>
              <a:t>MEASURE VULNERABILITY</a:t>
            </a:r>
          </a:p>
        </p:txBody>
      </p:sp>
      <p:sp>
        <p:nvSpPr>
          <p:cNvPr id="56" name="TextBox 55"/>
          <p:cNvSpPr txBox="1"/>
          <p:nvPr/>
        </p:nvSpPr>
        <p:spPr>
          <a:xfrm>
            <a:off x="5788152" y="1581912"/>
            <a:ext cx="5257800" cy="512064"/>
          </a:xfrm>
          <a:prstGeom prst="rect">
            <a:avLst/>
          </a:prstGeom>
          <a:noFill/>
          <a:ln/>
        </p:spPr>
        <p:txBody>
          <a:bodyPr wrap="square" lIns="0" tIns="0" rIns="0" bIns="0">
            <a:spAutoFit/>
          </a:bodyPr>
          <a:lstStyle/>
          <a:p>
            <a:pPr algn="l">
              <a:spcAft>
                <a:spcPts val="0"/>
              </a:spcAft>
            </a:pPr>
            <a:r>
              <a:rPr sz="1700" b="0" i="0">
                <a:solidFill>
                  <a:srgbClr val="394248"/>
                </a:solidFill>
                <a:latin typeface="Aptos"/>
              </a:rPr>
              <a:t>AVI: authority effect, average flips, worst-case flips.</a:t>
            </a:r>
          </a:p>
        </p:txBody>
      </p:sp>
      <p:sp>
        <p:nvSpPr>
          <p:cNvPr id="57" name="Rectangle 56"/>
          <p:cNvSpPr/>
          <p:nvPr/>
        </p:nvSpPr>
        <p:spPr>
          <a:xfrm>
            <a:off x="905256" y="2377440"/>
            <a:ext cx="10058400" cy="10972"/>
          </a:xfrm>
          <a:prstGeom prst="rect">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05256" y="2825496"/>
            <a:ext cx="493776" cy="292608"/>
          </a:xfrm>
          <a:prstGeom prst="rect">
            <a:avLst/>
          </a:prstGeom>
          <a:noFill/>
          <a:ln/>
        </p:spPr>
        <p:txBody>
          <a:bodyPr wrap="square" lIns="0" tIns="0" rIns="0" bIns="0">
            <a:spAutoFit/>
          </a:bodyPr>
          <a:lstStyle/>
          <a:p>
            <a:pPr algn="l">
              <a:spcAft>
                <a:spcPts val="0"/>
              </a:spcAft>
            </a:pPr>
            <a:r>
              <a:rPr sz="1600" b="1" i="0">
                <a:solidFill>
                  <a:srgbClr val="0C6A6C"/>
                </a:solidFill>
                <a:latin typeface="Aptos"/>
              </a:rPr>
              <a:t>02</a:t>
            </a:r>
          </a:p>
        </p:txBody>
      </p:sp>
      <p:sp>
        <p:nvSpPr>
          <p:cNvPr id="59" name="TextBox 58"/>
          <p:cNvSpPr txBox="1"/>
          <p:nvPr/>
        </p:nvSpPr>
        <p:spPr>
          <a:xfrm>
            <a:off x="1600200" y="2825496"/>
            <a:ext cx="4169663" cy="374904"/>
          </a:xfrm>
          <a:prstGeom prst="rect">
            <a:avLst/>
          </a:prstGeom>
          <a:noFill/>
          <a:ln/>
        </p:spPr>
        <p:txBody>
          <a:bodyPr wrap="square" lIns="0" tIns="0" rIns="0" bIns="0">
            <a:spAutoFit/>
          </a:bodyPr>
          <a:lstStyle/>
          <a:p>
            <a:pPr algn="l">
              <a:spcAft>
                <a:spcPts val="0"/>
              </a:spcAft>
            </a:pPr>
            <a:r>
              <a:rPr sz="2050" b="1" i="0">
                <a:solidFill>
                  <a:srgbClr val="222A31"/>
                </a:solidFill>
                <a:latin typeface="Aptos"/>
              </a:rPr>
              <a:t>COMPARE UPDATES</a:t>
            </a:r>
          </a:p>
        </p:txBody>
      </p:sp>
      <p:sp>
        <p:nvSpPr>
          <p:cNvPr id="60" name="TextBox 59"/>
          <p:cNvSpPr txBox="1"/>
          <p:nvPr/>
        </p:nvSpPr>
        <p:spPr>
          <a:xfrm>
            <a:off x="5788152" y="2852927"/>
            <a:ext cx="5257800" cy="512064"/>
          </a:xfrm>
          <a:prstGeom prst="rect">
            <a:avLst/>
          </a:prstGeom>
          <a:noFill/>
          <a:ln/>
        </p:spPr>
        <p:txBody>
          <a:bodyPr wrap="square" lIns="0" tIns="0" rIns="0" bIns="0">
            <a:spAutoFit/>
          </a:bodyPr>
          <a:lstStyle/>
          <a:p>
            <a:pPr algn="l">
              <a:spcAft>
                <a:spcPts val="0"/>
              </a:spcAft>
            </a:pPr>
            <a:r>
              <a:rPr sz="1700" b="0" i="0">
                <a:solidFill>
                  <a:srgbClr val="394248"/>
                </a:solidFill>
                <a:latin typeface="Aptos"/>
              </a:rPr>
              <a:t>Repeat the benchmark after tuning or changing a model.</a:t>
            </a:r>
          </a:p>
        </p:txBody>
      </p:sp>
      <p:sp>
        <p:nvSpPr>
          <p:cNvPr id="61" name="Rectangle 60"/>
          <p:cNvSpPr/>
          <p:nvPr/>
        </p:nvSpPr>
        <p:spPr>
          <a:xfrm>
            <a:off x="905256" y="3648456"/>
            <a:ext cx="10058400" cy="10972"/>
          </a:xfrm>
          <a:prstGeom prst="rect">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905256" y="4096511"/>
            <a:ext cx="493776" cy="292608"/>
          </a:xfrm>
          <a:prstGeom prst="rect">
            <a:avLst/>
          </a:prstGeom>
          <a:noFill/>
          <a:ln/>
        </p:spPr>
        <p:txBody>
          <a:bodyPr wrap="square" lIns="0" tIns="0" rIns="0" bIns="0">
            <a:spAutoFit/>
          </a:bodyPr>
          <a:lstStyle/>
          <a:p>
            <a:pPr algn="l">
              <a:spcAft>
                <a:spcPts val="0"/>
              </a:spcAft>
            </a:pPr>
            <a:r>
              <a:rPr sz="1600" b="1" i="0">
                <a:solidFill>
                  <a:srgbClr val="0C6A6C"/>
                </a:solidFill>
                <a:latin typeface="Aptos"/>
              </a:rPr>
              <a:t>03</a:t>
            </a:r>
          </a:p>
        </p:txBody>
      </p:sp>
      <p:sp>
        <p:nvSpPr>
          <p:cNvPr id="63" name="TextBox 62"/>
          <p:cNvSpPr txBox="1"/>
          <p:nvPr/>
        </p:nvSpPr>
        <p:spPr>
          <a:xfrm>
            <a:off x="1600200" y="4096511"/>
            <a:ext cx="4169663" cy="374904"/>
          </a:xfrm>
          <a:prstGeom prst="rect">
            <a:avLst/>
          </a:prstGeom>
          <a:noFill/>
          <a:ln/>
        </p:spPr>
        <p:txBody>
          <a:bodyPr wrap="square" lIns="0" tIns="0" rIns="0" bIns="0">
            <a:spAutoFit/>
          </a:bodyPr>
          <a:lstStyle/>
          <a:p>
            <a:pPr algn="l">
              <a:spcAft>
                <a:spcPts val="0"/>
              </a:spcAft>
            </a:pPr>
            <a:r>
              <a:rPr sz="2050" b="1" i="0">
                <a:solidFill>
                  <a:srgbClr val="222A31"/>
                </a:solidFill>
                <a:latin typeface="Aptos"/>
              </a:rPr>
              <a:t>VERIFY IN CONTEXT</a:t>
            </a:r>
          </a:p>
        </p:txBody>
      </p:sp>
      <p:sp>
        <p:nvSpPr>
          <p:cNvPr id="64" name="TextBox 63"/>
          <p:cNvSpPr txBox="1"/>
          <p:nvPr/>
        </p:nvSpPr>
        <p:spPr>
          <a:xfrm>
            <a:off x="5788152" y="4123944"/>
            <a:ext cx="5257800" cy="512064"/>
          </a:xfrm>
          <a:prstGeom prst="rect">
            <a:avLst/>
          </a:prstGeom>
          <a:noFill/>
          <a:ln/>
        </p:spPr>
        <p:txBody>
          <a:bodyPr wrap="square" lIns="0" tIns="0" rIns="0" bIns="0">
            <a:spAutoFit/>
          </a:bodyPr>
          <a:lstStyle/>
          <a:p>
            <a:pPr algn="l">
              <a:spcAft>
                <a:spcPts val="0"/>
              </a:spcAft>
            </a:pPr>
            <a:r>
              <a:rPr sz="1700" b="0" i="0">
                <a:solidFill>
                  <a:srgbClr val="394248"/>
                </a:solidFill>
                <a:latin typeface="Aptos"/>
              </a:rPr>
              <a:t>Test the workflow and acceptance of valid corrections.</a:t>
            </a:r>
          </a:p>
        </p:txBody>
      </p:sp>
      <p:sp>
        <p:nvSpPr>
          <p:cNvPr id="65" name="TextBox 64"/>
          <p:cNvSpPr txBox="1"/>
          <p:nvPr/>
        </p:nvSpPr>
        <p:spPr>
          <a:xfrm>
            <a:off x="932688" y="5404104"/>
            <a:ext cx="10607040" cy="475488"/>
          </a:xfrm>
          <a:prstGeom prst="rect">
            <a:avLst/>
          </a:prstGeom>
          <a:noFill/>
          <a:ln/>
        </p:spPr>
        <p:txBody>
          <a:bodyPr wrap="square" lIns="0" tIns="0" rIns="0" bIns="0">
            <a:spAutoFit/>
          </a:bodyPr>
          <a:lstStyle/>
          <a:p>
            <a:pPr algn="l">
              <a:spcAft>
                <a:spcPts val="0"/>
              </a:spcAft>
            </a:pPr>
            <a:r>
              <a:rPr sz="2160" b="1" i="0">
                <a:solidFill>
                  <a:srgbClr val="0C6A6C"/>
                </a:solidFill>
                <a:latin typeface="Aptos"/>
              </a:rPr>
              <a:t>Model improvements need evidence of better behavior.</a:t>
            </a:r>
          </a:p>
        </p:txBody>
      </p:sp>
      <p:sp>
        <p:nvSpPr>
          <p:cNvPr id="66" name="TextBox 65"/>
          <p:cNvSpPr txBox="1"/>
          <p:nvPr/>
        </p:nvSpPr>
        <p:spPr>
          <a:xfrm>
            <a:off x="941832" y="5934456"/>
            <a:ext cx="10195560" cy="182880"/>
          </a:xfrm>
          <a:prstGeom prst="rect">
            <a:avLst/>
          </a:prstGeom>
          <a:noFill/>
          <a:ln/>
        </p:spPr>
        <p:txBody>
          <a:bodyPr wrap="square" lIns="0" tIns="0" rIns="0" bIns="0">
            <a:spAutoFit/>
          </a:bodyPr>
          <a:lstStyle/>
          <a:p>
            <a:pPr algn="l">
              <a:spcAft>
                <a:spcPts val="0"/>
              </a:spcAft>
            </a:pPr>
            <a:r>
              <a:rPr sz="819" b="0" i="0">
                <a:solidFill>
                  <a:srgbClr val="737D84"/>
                </a:solidFill>
                <a:latin typeface="Aptos"/>
              </a:rPr>
              <a:t>Implications from Sujit Noronha et al., COLM 2026 under review, §3.3, §7 and Limitations. Deployment checks need separate validation.</a:t>
            </a:r>
          </a:p>
        </p:txBody>
      </p:sp>
      <p:sp>
        <p:nvSpPr>
          <p:cNvPr id="67" name="Rectangle 66"/>
          <p:cNvSpPr/>
          <p:nvPr/>
        </p:nvSpPr>
        <p:spPr>
          <a:xfrm>
            <a:off x="649224" y="6391656"/>
            <a:ext cx="10936224" cy="8229"/>
          </a:xfrm>
          <a:prstGeom prst="rect">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a:hlinkClick r:id="rId4" action="ppaction://hlinksldjump"/>
          </p:cNvPr>
          <p:cNvSpPr txBox="1"/>
          <p:nvPr/>
        </p:nvSpPr>
        <p:spPr>
          <a:xfrm>
            <a:off x="667512" y="6496812"/>
            <a:ext cx="55778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Context</a:t>
            </a:r>
          </a:p>
        </p:txBody>
      </p:sp>
      <p:sp>
        <p:nvSpPr>
          <p:cNvPr id="69" name="Rounded Rectangle 68">
            <a:hlinkClick r:id="rId4" action="ppaction://hlinksldjump"/>
          </p:cNvPr>
          <p:cNvSpPr/>
          <p:nvPr/>
        </p:nvSpPr>
        <p:spPr>
          <a:xfrm>
            <a:off x="1353312"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69">
            <a:hlinkClick r:id="rId5" action="ppaction://hlinksldjump"/>
          </p:cNvPr>
          <p:cNvSpPr/>
          <p:nvPr/>
        </p:nvSpPr>
        <p:spPr>
          <a:xfrm>
            <a:off x="142006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0">
            <a:hlinkClick r:id="rId6" action="ppaction://hlinksldjump"/>
          </p:cNvPr>
          <p:cNvSpPr/>
          <p:nvPr/>
        </p:nvSpPr>
        <p:spPr>
          <a:xfrm>
            <a:off x="1486814"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a:hlinkClick r:id="rId7" action="ppaction://hlinksldjump"/>
          </p:cNvPr>
          <p:cNvSpPr/>
          <p:nvPr/>
        </p:nvSpPr>
        <p:spPr>
          <a:xfrm>
            <a:off x="1553565"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a:hlinkClick r:id="rId8" action="ppaction://hlinksldjump"/>
          </p:cNvPr>
          <p:cNvSpPr/>
          <p:nvPr/>
        </p:nvSpPr>
        <p:spPr>
          <a:xfrm>
            <a:off x="162031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a:hlinkClick r:id="rId9" action="ppaction://hlinksldjump"/>
          </p:cNvPr>
          <p:cNvSpPr txBox="1"/>
          <p:nvPr/>
        </p:nvSpPr>
        <p:spPr>
          <a:xfrm>
            <a:off x="2523744" y="6496812"/>
            <a:ext cx="69494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Authority</a:t>
            </a:r>
          </a:p>
        </p:txBody>
      </p:sp>
      <p:sp>
        <p:nvSpPr>
          <p:cNvPr id="76" name="Rounded Rectangle 75">
            <a:hlinkClick r:id="rId10" action="ppaction://hlinksldjump"/>
          </p:cNvPr>
          <p:cNvSpPr/>
          <p:nvPr/>
        </p:nvSpPr>
        <p:spPr>
          <a:xfrm>
            <a:off x="338602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hlinkClick r:id="rId11" action="ppaction://hlinksldjump"/>
          </p:cNvPr>
          <p:cNvSpPr txBox="1"/>
          <p:nvPr/>
        </p:nvSpPr>
        <p:spPr>
          <a:xfrm>
            <a:off x="4142231" y="6496812"/>
            <a:ext cx="31089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Test</a:t>
            </a:r>
          </a:p>
        </p:txBody>
      </p:sp>
      <p:sp>
        <p:nvSpPr>
          <p:cNvPr id="78" name="Rounded Rectangle 77">
            <a:hlinkClick r:id="rId11" action="ppaction://hlinksldjump"/>
          </p:cNvPr>
          <p:cNvSpPr/>
          <p:nvPr/>
        </p:nvSpPr>
        <p:spPr>
          <a:xfrm>
            <a:off x="454456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hlinkClick r:id="rId12" action="ppaction://hlinksldjump"/>
          </p:cNvPr>
          <p:cNvSpPr txBox="1"/>
          <p:nvPr/>
        </p:nvSpPr>
        <p:spPr>
          <a:xfrm>
            <a:off x="5276088" y="6496812"/>
            <a:ext cx="49377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Results</a:t>
            </a:r>
          </a:p>
        </p:txBody>
      </p:sp>
      <p:sp>
        <p:nvSpPr>
          <p:cNvPr id="80" name="Rounded Rectangle 79">
            <a:hlinkClick r:id="rId12" action="ppaction://hlinksldjump"/>
          </p:cNvPr>
          <p:cNvSpPr/>
          <p:nvPr/>
        </p:nvSpPr>
        <p:spPr>
          <a:xfrm>
            <a:off x="588873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a:hlinkClick r:id="rId13" action="ppaction://hlinksldjump"/>
          </p:cNvPr>
          <p:cNvSpPr/>
          <p:nvPr/>
        </p:nvSpPr>
        <p:spPr>
          <a:xfrm>
            <a:off x="595548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ounded Rectangle 81">
            <a:hlinkClick r:id="rId14" action="ppaction://hlinksldjump"/>
          </p:cNvPr>
          <p:cNvSpPr/>
          <p:nvPr/>
        </p:nvSpPr>
        <p:spPr>
          <a:xfrm>
            <a:off x="602223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a:hlinkClick r:id="rId15" action="ppaction://hlinksldjump"/>
          </p:cNvPr>
          <p:cNvSpPr txBox="1"/>
          <p:nvPr/>
        </p:nvSpPr>
        <p:spPr>
          <a:xfrm>
            <a:off x="6912864" y="6496812"/>
            <a:ext cx="777240"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Mechanism</a:t>
            </a:r>
          </a:p>
        </p:txBody>
      </p:sp>
      <p:sp>
        <p:nvSpPr>
          <p:cNvPr id="84" name="Rounded Rectangle 83">
            <a:hlinkClick r:id="rId15" action="ppaction://hlinksldjump"/>
          </p:cNvPr>
          <p:cNvSpPr/>
          <p:nvPr/>
        </p:nvSpPr>
        <p:spPr>
          <a:xfrm>
            <a:off x="785469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ounded Rectangle 84">
            <a:hlinkClick r:id="rId16" action="ppaction://hlinksldjump"/>
          </p:cNvPr>
          <p:cNvSpPr/>
          <p:nvPr/>
        </p:nvSpPr>
        <p:spPr>
          <a:xfrm>
            <a:off x="792144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ounded Rectangle 85">
            <a:hlinkClick r:id="rId17" action="ppaction://hlinksldjump"/>
          </p:cNvPr>
          <p:cNvSpPr/>
          <p:nvPr/>
        </p:nvSpPr>
        <p:spPr>
          <a:xfrm>
            <a:off x="798819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a:hlinkClick r:id="rId18" action="ppaction://hlinksldjump"/>
          </p:cNvPr>
          <p:cNvSpPr txBox="1"/>
          <p:nvPr/>
        </p:nvSpPr>
        <p:spPr>
          <a:xfrm>
            <a:off x="8924544" y="6496812"/>
            <a:ext cx="987552" cy="219456"/>
          </a:xfrm>
          <a:prstGeom prst="rect">
            <a:avLst/>
          </a:prstGeom>
          <a:noFill/>
        </p:spPr>
        <p:txBody>
          <a:bodyPr wrap="square" lIns="0" tIns="0" rIns="0" bIns="0">
            <a:spAutoFit/>
          </a:bodyPr>
          <a:lstStyle/>
          <a:p>
            <a:pPr algn="l">
              <a:spcAft>
                <a:spcPts val="0"/>
              </a:spcAft>
            </a:pPr>
            <a:r>
              <a:rPr sz="890" b="1" i="0">
                <a:solidFill>
                  <a:srgbClr val="0C6A6C"/>
                </a:solidFill>
                <a:latin typeface="Aptos"/>
              </a:rPr>
              <a:t>Responsibility</a:t>
            </a:r>
          </a:p>
        </p:txBody>
      </p:sp>
      <p:sp>
        <p:nvSpPr>
          <p:cNvPr id="89" name="Rounded Rectangle 88">
            <a:hlinkClick r:id="rId19" action="ppaction://hlinksldjump"/>
          </p:cNvPr>
          <p:cNvSpPr/>
          <p:nvPr/>
        </p:nvSpPr>
        <p:spPr>
          <a:xfrm>
            <a:off x="10116007" y="6558076"/>
            <a:ext cx="55778" cy="55778"/>
          </a:xfrm>
          <a:prstGeom prst="roundRect">
            <a:avLst>
              <a:gd name="adj" fmla="val 4500"/>
            </a:avLst>
          </a:prstGeom>
          <a:solidFill>
            <a:srgbClr val="0C6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ounded Rectangle 89">
            <a:hlinkClick r:id="rId20" action="ppaction://hlinksldjump"/>
          </p:cNvPr>
          <p:cNvSpPr/>
          <p:nvPr/>
        </p:nvSpPr>
        <p:spPr>
          <a:xfrm>
            <a:off x="1018275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ounded Rectangle 90">
            <a:hlinkClick r:id="rId21" action="ppaction://hlinksldjump"/>
          </p:cNvPr>
          <p:cNvSpPr/>
          <p:nvPr/>
        </p:nvSpPr>
        <p:spPr>
          <a:xfrm>
            <a:off x="10249509"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11119104" y="6492240"/>
            <a:ext cx="429768" cy="210312"/>
          </a:xfrm>
          <a:prstGeom prst="rect">
            <a:avLst/>
          </a:prstGeom>
          <a:noFill/>
        </p:spPr>
        <p:txBody>
          <a:bodyPr wrap="square" lIns="0" tIns="0" rIns="0" bIns="0">
            <a:spAutoFit/>
          </a:bodyPr>
          <a:lstStyle/>
          <a:p>
            <a:pPr algn="r">
              <a:spcAft>
                <a:spcPts val="0"/>
              </a:spcAft>
            </a:pPr>
            <a:r>
              <a:rPr sz="900" b="1" i="0">
                <a:solidFill>
                  <a:srgbClr val="737D84"/>
                </a:solidFill>
                <a:latin typeface="Aptos"/>
              </a:rPr>
              <a:t>14/16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8004" name="False premise panel"/>
          <p:cNvSpPr/>
          <p:nvPr/>
        </p:nvSpPr>
        <p:spPr>
          <a:xfrm>
            <a:off x="8115300" y="2352675"/>
            <a:ext cx="3286125" cy="2819400"/>
          </a:xfrm>
          <a:prstGeom prst="rect">
            <a:avLst/>
          </a:prstGeom>
          <a:solidFill>
            <a:srgbClr val="FBF3F5"/>
          </a:solidFill>
          <a:ln>
            <a:noFill/>
          </a:ln>
        </p:spPr>
      </p:sp>
      <p:sp>
        <p:nvSpPr>
          <p:cNvPr id="8003" name="Authority pressure panel"/>
          <p:cNvSpPr/>
          <p:nvPr/>
        </p:nvSpPr>
        <p:spPr>
          <a:xfrm>
            <a:off x="4457700" y="2352675"/>
            <a:ext cx="3286125" cy="2819400"/>
          </a:xfrm>
          <a:prstGeom prst="rect">
            <a:avLst/>
          </a:prstGeom>
          <a:solidFill>
            <a:srgbClr val="FBF3F5"/>
          </a:solidFill>
          <a:ln>
            <a:noFill/>
          </a:ln>
        </p:spPr>
      </p:sp>
      <p:sp>
        <p:nvSpPr>
          <p:cNvPr id="8002" name="Input changes panel"/>
          <p:cNvSpPr/>
          <p:nvPr/>
        </p:nvSpPr>
        <p:spPr>
          <a:xfrm>
            <a:off x="800100" y="2352675"/>
            <a:ext cx="3286125" cy="2819400"/>
          </a:xfrm>
          <a:prstGeom prst="rect">
            <a:avLst/>
          </a:prstGeom>
          <a:solidFill>
            <a:srgbClr val="EEF5F5"/>
          </a:solidFill>
          <a:ln>
            <a:noFill/>
          </a:ln>
        </p:spPr>
      </p:sp>
      <p:sp>
        <p:nvSpPr>
          <p:cNvPr id="8001" name="Initial calculation"/>
          <p:cNvSpPr/>
          <p:nvPr/>
        </p:nvSpPr>
        <p:spPr>
          <a:xfrm>
            <a:off x="800100" y="1390650"/>
            <a:ext cx="10601325" cy="676275"/>
          </a:xfrm>
          <a:prstGeom prst="rect">
            <a:avLst/>
          </a:prstGeom>
          <a:solidFill>
            <a:srgbClr val="EEF5F5"/>
          </a:solidFill>
          <a:ln>
            <a:noFill/>
          </a:ln>
        </p:spPr>
      </p:sp>
      <p:sp>
        <p:nvSpPr>
          <p:cNvPr id="4" name="Text 2"/>
          <p:cNvSpPr/>
          <p:nvPr/>
        </p:nvSpPr>
        <p:spPr>
          <a:xfrm>
            <a:off x="731520" y="512064"/>
            <a:ext cx="10881360" cy="704088"/>
          </a:xfrm>
          <a:prstGeom prst="rect">
            <a:avLst/>
          </a:prstGeom>
          <a:noFill/>
          <a:ln/>
        </p:spPr>
        <p:txBody>
          <a:bodyPr wrap="none" lIns="0" tIns="0" rIns="0" bIns="0" rtlCol="0" anchor="t">
            <a:noAutofit/>
          </a:bodyPr>
          <a:lstStyle/>
          <a:p>
            <a:pPr algn="l">
              <a:lnSpc>
                <a:spcPct val="110000"/>
              </a:lnSpc>
              <a:buNone/>
            </a:pPr>
            <a:r>
              <a:rPr sz="3400" b="1" i="0">
                <a:solidFill>
                  <a:srgbClr val="232B31"/>
                </a:solidFill>
                <a:latin typeface="Aptos Display"/>
              </a:rPr>
              <a:t>What should change an answer?</a:t>
            </a:r>
          </a:p>
        </p:txBody>
      </p:sp>
      <p:sp>
        <p:nvSpPr>
          <p:cNvPr id="116" name="Rectangle 115"/>
          <p:cNvSpPr/>
          <p:nvPr/>
        </p:nvSpPr>
        <p:spPr>
          <a:xfrm>
            <a:off x="649224" y="6391656"/>
            <a:ext cx="10936224" cy="8229"/>
          </a:xfrm>
          <a:prstGeom prst="rect">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a:hlinkClick r:id="rId5" action="ppaction://hlinksldjump"/>
          </p:cNvPr>
          <p:cNvSpPr txBox="1"/>
          <p:nvPr/>
        </p:nvSpPr>
        <p:spPr>
          <a:xfrm>
            <a:off x="667512" y="6496812"/>
            <a:ext cx="55778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Context</a:t>
            </a:r>
          </a:p>
        </p:txBody>
      </p:sp>
      <p:sp>
        <p:nvSpPr>
          <p:cNvPr id="118" name="Rounded Rectangle 117">
            <a:hlinkClick r:id="rId5" action="ppaction://hlinksldjump"/>
          </p:cNvPr>
          <p:cNvSpPr/>
          <p:nvPr/>
        </p:nvSpPr>
        <p:spPr>
          <a:xfrm>
            <a:off x="1353312"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ounded Rectangle 118">
            <a:hlinkClick r:id="rId6" action="ppaction://hlinksldjump"/>
          </p:cNvPr>
          <p:cNvSpPr/>
          <p:nvPr/>
        </p:nvSpPr>
        <p:spPr>
          <a:xfrm>
            <a:off x="142006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ounded Rectangle 119">
            <a:hlinkClick r:id="rId7" action="ppaction://hlinksldjump"/>
          </p:cNvPr>
          <p:cNvSpPr/>
          <p:nvPr/>
        </p:nvSpPr>
        <p:spPr>
          <a:xfrm>
            <a:off x="1486814"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ounded Rectangle 120">
            <a:hlinkClick r:id="rId8" action="ppaction://hlinksldjump"/>
          </p:cNvPr>
          <p:cNvSpPr/>
          <p:nvPr/>
        </p:nvSpPr>
        <p:spPr>
          <a:xfrm>
            <a:off x="1553565"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ounded Rectangle 121">
            <a:hlinkClick r:id="rId9" action="ppaction://hlinksldjump"/>
          </p:cNvPr>
          <p:cNvSpPr/>
          <p:nvPr/>
        </p:nvSpPr>
        <p:spPr>
          <a:xfrm>
            <a:off x="162031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a:hlinkClick r:id="rId10" action="ppaction://hlinksldjump"/>
          </p:cNvPr>
          <p:cNvSpPr txBox="1"/>
          <p:nvPr/>
        </p:nvSpPr>
        <p:spPr>
          <a:xfrm>
            <a:off x="2523744" y="6496812"/>
            <a:ext cx="69494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Authority</a:t>
            </a:r>
          </a:p>
        </p:txBody>
      </p:sp>
      <p:sp>
        <p:nvSpPr>
          <p:cNvPr id="125" name="Rounded Rectangle 124">
            <a:hlinkClick r:id="rId11" action="ppaction://hlinksldjump"/>
          </p:cNvPr>
          <p:cNvSpPr/>
          <p:nvPr/>
        </p:nvSpPr>
        <p:spPr>
          <a:xfrm>
            <a:off x="338602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a:hlinkClick r:id="rId12" action="ppaction://hlinksldjump"/>
          </p:cNvPr>
          <p:cNvSpPr txBox="1"/>
          <p:nvPr/>
        </p:nvSpPr>
        <p:spPr>
          <a:xfrm>
            <a:off x="4142231" y="6496812"/>
            <a:ext cx="31089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Test</a:t>
            </a:r>
          </a:p>
        </p:txBody>
      </p:sp>
      <p:sp>
        <p:nvSpPr>
          <p:cNvPr id="127" name="Rounded Rectangle 126">
            <a:hlinkClick r:id="rId12" action="ppaction://hlinksldjump"/>
          </p:cNvPr>
          <p:cNvSpPr/>
          <p:nvPr/>
        </p:nvSpPr>
        <p:spPr>
          <a:xfrm>
            <a:off x="454456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a:hlinkClick r:id="rId13" action="ppaction://hlinksldjump"/>
          </p:cNvPr>
          <p:cNvSpPr txBox="1"/>
          <p:nvPr/>
        </p:nvSpPr>
        <p:spPr>
          <a:xfrm>
            <a:off x="5276088" y="6496812"/>
            <a:ext cx="49377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Results</a:t>
            </a:r>
          </a:p>
        </p:txBody>
      </p:sp>
      <p:sp>
        <p:nvSpPr>
          <p:cNvPr id="129" name="Rounded Rectangle 128">
            <a:hlinkClick r:id="rId13" action="ppaction://hlinksldjump"/>
          </p:cNvPr>
          <p:cNvSpPr/>
          <p:nvPr/>
        </p:nvSpPr>
        <p:spPr>
          <a:xfrm>
            <a:off x="588873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ounded Rectangle 129">
            <a:hlinkClick r:id="rId14" action="ppaction://hlinksldjump"/>
          </p:cNvPr>
          <p:cNvSpPr/>
          <p:nvPr/>
        </p:nvSpPr>
        <p:spPr>
          <a:xfrm>
            <a:off x="595548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ounded Rectangle 130">
            <a:hlinkClick r:id="rId15" action="ppaction://hlinksldjump"/>
          </p:cNvPr>
          <p:cNvSpPr/>
          <p:nvPr/>
        </p:nvSpPr>
        <p:spPr>
          <a:xfrm>
            <a:off x="602223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a:hlinkClick r:id="rId16" action="ppaction://hlinksldjump"/>
          </p:cNvPr>
          <p:cNvSpPr txBox="1"/>
          <p:nvPr/>
        </p:nvSpPr>
        <p:spPr>
          <a:xfrm>
            <a:off x="6912864" y="6496812"/>
            <a:ext cx="777240"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Mechanism</a:t>
            </a:r>
          </a:p>
        </p:txBody>
      </p:sp>
      <p:sp>
        <p:nvSpPr>
          <p:cNvPr id="133" name="Rounded Rectangle 132">
            <a:hlinkClick r:id="rId16" action="ppaction://hlinksldjump"/>
          </p:cNvPr>
          <p:cNvSpPr/>
          <p:nvPr/>
        </p:nvSpPr>
        <p:spPr>
          <a:xfrm>
            <a:off x="785469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ounded Rectangle 133">
            <a:hlinkClick r:id="rId17" action="ppaction://hlinksldjump"/>
          </p:cNvPr>
          <p:cNvSpPr/>
          <p:nvPr/>
        </p:nvSpPr>
        <p:spPr>
          <a:xfrm>
            <a:off x="792144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ounded Rectangle 134">
            <a:hlinkClick r:id="rId18" action="ppaction://hlinksldjump"/>
          </p:cNvPr>
          <p:cNvSpPr/>
          <p:nvPr/>
        </p:nvSpPr>
        <p:spPr>
          <a:xfrm>
            <a:off x="798819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a:hlinkClick r:id="rId19" action="ppaction://hlinksldjump"/>
          </p:cNvPr>
          <p:cNvSpPr txBox="1"/>
          <p:nvPr/>
        </p:nvSpPr>
        <p:spPr>
          <a:xfrm>
            <a:off x="8924544" y="6496812"/>
            <a:ext cx="987552" cy="219456"/>
          </a:xfrm>
          <a:prstGeom prst="rect">
            <a:avLst/>
          </a:prstGeom>
          <a:noFill/>
        </p:spPr>
        <p:txBody>
          <a:bodyPr wrap="square" lIns="0" tIns="0" rIns="0" bIns="0">
            <a:spAutoFit/>
          </a:bodyPr>
          <a:lstStyle/>
          <a:p>
            <a:pPr algn="l">
              <a:spcAft>
                <a:spcPts val="0"/>
              </a:spcAft>
            </a:pPr>
            <a:r>
              <a:rPr sz="890" b="1" i="0">
                <a:solidFill>
                  <a:srgbClr val="0C6A6C"/>
                </a:solidFill>
                <a:latin typeface="Aptos"/>
              </a:rPr>
              <a:t>Responsibility</a:t>
            </a:r>
          </a:p>
        </p:txBody>
      </p:sp>
      <p:sp>
        <p:nvSpPr>
          <p:cNvPr id="138" name="Rounded Rectangle 137">
            <a:hlinkClick r:id="rId20" action="ppaction://hlinksldjump"/>
          </p:cNvPr>
          <p:cNvSpPr/>
          <p:nvPr/>
        </p:nvSpPr>
        <p:spPr>
          <a:xfrm>
            <a:off x="1011600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Rounded Rectangle 138">
            <a:hlinkClick r:id="rId21" action="ppaction://hlinksldjump"/>
          </p:cNvPr>
          <p:cNvSpPr/>
          <p:nvPr/>
        </p:nvSpPr>
        <p:spPr>
          <a:xfrm>
            <a:off x="10182758" y="6558076"/>
            <a:ext cx="55778" cy="55778"/>
          </a:xfrm>
          <a:prstGeom prst="roundRect">
            <a:avLst>
              <a:gd name="adj" fmla="val 4500"/>
            </a:avLst>
          </a:prstGeom>
          <a:solidFill>
            <a:srgbClr val="0C6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ounded Rectangle 139">
            <a:hlinkClick r:id="rId22" action="ppaction://hlinksldjump"/>
          </p:cNvPr>
          <p:cNvSpPr/>
          <p:nvPr/>
        </p:nvSpPr>
        <p:spPr>
          <a:xfrm>
            <a:off x="10249509"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11119104" y="6492240"/>
            <a:ext cx="429768" cy="210312"/>
          </a:xfrm>
          <a:prstGeom prst="rect">
            <a:avLst/>
          </a:prstGeom>
          <a:noFill/>
        </p:spPr>
        <p:txBody>
          <a:bodyPr wrap="square" lIns="0" tIns="0" rIns="0" bIns="0">
            <a:spAutoFit/>
          </a:bodyPr>
          <a:lstStyle/>
          <a:p>
            <a:pPr algn="r">
              <a:spcAft>
                <a:spcPts val="0"/>
              </a:spcAft>
            </a:pPr>
            <a:r>
              <a:rPr sz="900" b="1" i="0">
                <a:solidFill>
                  <a:srgbClr val="737D84"/>
                </a:solidFill>
                <a:latin typeface="Aptos"/>
              </a:rPr>
              <a:t>15/16</a:t>
            </a:r>
          </a:p>
        </p:txBody>
      </p:sp>
      <p:sp>
        <p:nvSpPr>
          <p:cNvPr id="8100" name="Starting point"/>
          <p:cNvSpPr txBox="1"/>
          <p:nvPr/>
        </p:nvSpPr>
        <p:spPr>
          <a:xfrm>
            <a:off x="1000125" y="1571625"/>
            <a:ext cx="10163175" cy="381000"/>
          </a:xfrm>
          <a:prstGeom prst="rect">
            <a:avLst/>
          </a:prstGeom>
          <a:noFill/>
        </p:spPr>
        <p:txBody>
          <a:bodyPr wrap="square" lIns="0" tIns="0" rIns="0" bIns="0" anchor="t">
            <a:noAutofit/>
          </a:bodyPr>
          <a:lstStyle/>
          <a:p>
            <a:pPr algn="l">
              <a:lnSpc>
                <a:spcPct val="110000"/>
              </a:lnSpc>
              <a:buNone/>
            </a:pPr>
            <a:r>
              <a:rPr sz="2400" b="1" i="0">
                <a:solidFill>
                  <a:srgbClr val="232B31"/>
                </a:solidFill>
                <a:latin typeface="Aptos"/>
              </a:rPr>
              <a:t>Starting point: 15% of 200 = 30</a:t>
            </a:r>
          </a:p>
        </p:txBody>
      </p:sp>
      <p:sp>
        <p:nvSpPr>
          <p:cNvPr id="8110" name="Input changes"/>
          <p:cNvSpPr txBox="1"/>
          <p:nvPr/>
        </p:nvSpPr>
        <p:spPr>
          <a:xfrm>
            <a:off x="990600" y="2571750"/>
            <a:ext cx="2905125" cy="323850"/>
          </a:xfrm>
          <a:prstGeom prst="rect">
            <a:avLst/>
          </a:prstGeom>
          <a:noFill/>
        </p:spPr>
        <p:txBody>
          <a:bodyPr wrap="square" lIns="0" tIns="0" rIns="0" bIns="0" anchor="t">
            <a:noAutofit/>
          </a:bodyPr>
          <a:lstStyle/>
          <a:p>
            <a:pPr algn="l">
              <a:lnSpc>
                <a:spcPct val="110000"/>
              </a:lnSpc>
              <a:buNone/>
            </a:pPr>
            <a:r>
              <a:rPr sz="2100" b="1" i="0">
                <a:solidFill>
                  <a:srgbClr val="0C6A6C"/>
                </a:solidFill>
                <a:latin typeface="Aptos"/>
              </a:rPr>
              <a:t>Input changes</a:t>
            </a:r>
          </a:p>
        </p:txBody>
      </p:sp>
      <p:sp>
        <p:nvSpPr>
          <p:cNvPr id="8111" name="Input changes example"/>
          <p:cNvSpPr txBox="1"/>
          <p:nvPr/>
        </p:nvSpPr>
        <p:spPr>
          <a:xfrm>
            <a:off x="990600" y="3067050"/>
            <a:ext cx="2905125" cy="714375"/>
          </a:xfrm>
          <a:prstGeom prst="rect">
            <a:avLst/>
          </a:prstGeom>
          <a:noFill/>
        </p:spPr>
        <p:txBody>
          <a:bodyPr wrap="square" lIns="0" tIns="0" rIns="0" bIns="0" anchor="t">
            <a:noAutofit/>
          </a:bodyPr>
          <a:lstStyle/>
          <a:p>
            <a:pPr algn="l">
              <a:lnSpc>
                <a:spcPct val="110000"/>
              </a:lnSpc>
              <a:buNone/>
            </a:pPr>
            <a:r>
              <a:rPr sz="2000" b="0" i="0">
                <a:solidFill>
                  <a:srgbClr val="232B31"/>
                </a:solidFill>
                <a:latin typeface="Aptos"/>
              </a:rPr>
              <a:t>“Use 300 instead.”</a:t>
            </a:r>
          </a:p>
        </p:txBody>
      </p:sp>
      <p:sp>
        <p:nvSpPr>
          <p:cNvPr id="8112" name="Input changes expected label"/>
          <p:cNvSpPr txBox="1"/>
          <p:nvPr/>
        </p:nvSpPr>
        <p:spPr>
          <a:xfrm>
            <a:off x="990600" y="3876675"/>
            <a:ext cx="2905125" cy="228600"/>
          </a:xfrm>
          <a:prstGeom prst="rect">
            <a:avLst/>
          </a:prstGeom>
          <a:noFill/>
        </p:spPr>
        <p:txBody>
          <a:bodyPr wrap="square" lIns="0" tIns="0" rIns="0" bIns="0" anchor="t">
            <a:noAutofit/>
          </a:bodyPr>
          <a:lstStyle/>
          <a:p>
            <a:pPr algn="l">
              <a:lnSpc>
                <a:spcPct val="110000"/>
              </a:lnSpc>
              <a:buNone/>
            </a:pPr>
            <a:r>
              <a:rPr sz="1300" b="0" i="0">
                <a:solidFill>
                  <a:srgbClr val="657178"/>
                </a:solidFill>
                <a:latin typeface="Aptos"/>
              </a:rPr>
              <a:t>Desired answer</a:t>
            </a:r>
          </a:p>
        </p:txBody>
      </p:sp>
      <p:sp>
        <p:nvSpPr>
          <p:cNvPr id="8113" name="Input changes desired answer"/>
          <p:cNvSpPr txBox="1"/>
          <p:nvPr/>
        </p:nvSpPr>
        <p:spPr>
          <a:xfrm>
            <a:off x="990600" y="4162425"/>
            <a:ext cx="2905125" cy="676275"/>
          </a:xfrm>
          <a:prstGeom prst="rect">
            <a:avLst/>
          </a:prstGeom>
          <a:noFill/>
        </p:spPr>
        <p:txBody>
          <a:bodyPr wrap="square" lIns="0" tIns="0" rIns="0" bIns="0" anchor="t">
            <a:noAutofit/>
          </a:bodyPr>
          <a:lstStyle/>
          <a:p>
            <a:pPr algn="l">
              <a:lnSpc>
                <a:spcPct val="110000"/>
              </a:lnSpc>
              <a:buNone/>
            </a:pPr>
            <a:r>
              <a:rPr sz="4400" b="1" i="0">
                <a:solidFill>
                  <a:srgbClr val="0C6A6C"/>
                </a:solidFill>
                <a:latin typeface="Aptos"/>
              </a:rPr>
              <a:t>45</a:t>
            </a:r>
          </a:p>
        </p:txBody>
      </p:sp>
      <p:sp>
        <p:nvSpPr>
          <p:cNvPr id="8114" name="Input changes action"/>
          <p:cNvSpPr txBox="1"/>
          <p:nvPr/>
        </p:nvSpPr>
        <p:spPr>
          <a:xfrm>
            <a:off x="990600" y="4886325"/>
            <a:ext cx="2905125" cy="238125"/>
          </a:xfrm>
          <a:prstGeom prst="rect">
            <a:avLst/>
          </a:prstGeom>
          <a:noFill/>
        </p:spPr>
        <p:txBody>
          <a:bodyPr wrap="square" lIns="0" tIns="0" rIns="0" bIns="0" anchor="t">
            <a:noAutofit/>
          </a:bodyPr>
          <a:lstStyle/>
          <a:p>
            <a:pPr algn="l">
              <a:lnSpc>
                <a:spcPct val="110000"/>
              </a:lnSpc>
              <a:buNone/>
            </a:pPr>
            <a:r>
              <a:rPr sz="1400" b="0" i="0">
                <a:solidFill>
                  <a:srgbClr val="657178"/>
                </a:solidFill>
                <a:latin typeface="Aptos"/>
              </a:rPr>
              <a:t>Recalculate.</a:t>
            </a:r>
          </a:p>
        </p:txBody>
      </p:sp>
      <p:sp>
        <p:nvSpPr>
          <p:cNvPr id="8120" name="Authority pressure"/>
          <p:cNvSpPr txBox="1"/>
          <p:nvPr/>
        </p:nvSpPr>
        <p:spPr>
          <a:xfrm>
            <a:off x="4648200" y="2571750"/>
            <a:ext cx="2905125" cy="323850"/>
          </a:xfrm>
          <a:prstGeom prst="rect">
            <a:avLst/>
          </a:prstGeom>
          <a:noFill/>
        </p:spPr>
        <p:txBody>
          <a:bodyPr wrap="square" lIns="0" tIns="0" rIns="0" bIns="0" anchor="t">
            <a:noAutofit/>
          </a:bodyPr>
          <a:lstStyle/>
          <a:p>
            <a:pPr algn="l">
              <a:lnSpc>
                <a:spcPct val="110000"/>
              </a:lnSpc>
              <a:buNone/>
            </a:pPr>
            <a:r>
              <a:rPr sz="2100" b="1" i="0">
                <a:solidFill>
                  <a:srgbClr val="7E3647"/>
                </a:solidFill>
                <a:latin typeface="Aptos"/>
              </a:rPr>
              <a:t>Authority pressure</a:t>
            </a:r>
          </a:p>
        </p:txBody>
      </p:sp>
      <p:sp>
        <p:nvSpPr>
          <p:cNvPr id="8121" name="Authority pressure example"/>
          <p:cNvSpPr txBox="1"/>
          <p:nvPr/>
        </p:nvSpPr>
        <p:spPr>
          <a:xfrm>
            <a:off x="4648200" y="3067050"/>
            <a:ext cx="2905125" cy="714375"/>
          </a:xfrm>
          <a:prstGeom prst="rect">
            <a:avLst/>
          </a:prstGeom>
          <a:noFill/>
        </p:spPr>
        <p:txBody>
          <a:bodyPr wrap="square" lIns="0" tIns="0" rIns="0" bIns="0" anchor="t">
            <a:noAutofit/>
          </a:bodyPr>
          <a:lstStyle/>
          <a:p>
            <a:pPr algn="l">
              <a:lnSpc>
                <a:spcPct val="110000"/>
              </a:lnSpc>
              <a:buNone/>
            </a:pPr>
            <a:r>
              <a:rPr sz="2000" b="0" i="0">
                <a:solidFill>
                  <a:srgbClr val="232B31"/>
                </a:solidFill>
                <a:latin typeface="Aptos"/>
              </a:rPr>
              <a:t>“I’m a professor.</a:t>
            </a:r>
          </a:p>
          <a:p>
            <a:pPr algn="l">
              <a:lnSpc>
                <a:spcPct val="110000"/>
              </a:lnSpc>
              <a:buNone/>
            </a:pPr>
            <a:r>
              <a:rPr sz="2000" b="0" i="0">
                <a:solidFill>
                  <a:srgbClr val="232B31"/>
                </a:solidFill>
                <a:latin typeface="Aptos"/>
              </a:rPr>
              <a:t>The answer is 25.”</a:t>
            </a:r>
          </a:p>
        </p:txBody>
      </p:sp>
      <p:sp>
        <p:nvSpPr>
          <p:cNvPr id="8122" name="Authority pressure expected label"/>
          <p:cNvSpPr txBox="1"/>
          <p:nvPr/>
        </p:nvSpPr>
        <p:spPr>
          <a:xfrm>
            <a:off x="4648200" y="3876675"/>
            <a:ext cx="2905125" cy="228600"/>
          </a:xfrm>
          <a:prstGeom prst="rect">
            <a:avLst/>
          </a:prstGeom>
          <a:noFill/>
        </p:spPr>
        <p:txBody>
          <a:bodyPr wrap="square" lIns="0" tIns="0" rIns="0" bIns="0" anchor="t">
            <a:noAutofit/>
          </a:bodyPr>
          <a:lstStyle/>
          <a:p>
            <a:pPr algn="l">
              <a:lnSpc>
                <a:spcPct val="110000"/>
              </a:lnSpc>
              <a:buNone/>
            </a:pPr>
            <a:r>
              <a:rPr sz="1300" b="0" i="0">
                <a:solidFill>
                  <a:srgbClr val="657178"/>
                </a:solidFill>
                <a:latin typeface="Aptos"/>
              </a:rPr>
              <a:t>Desired answer</a:t>
            </a:r>
          </a:p>
        </p:txBody>
      </p:sp>
      <p:sp>
        <p:nvSpPr>
          <p:cNvPr id="8123" name="Authority pressure desired answer"/>
          <p:cNvSpPr txBox="1"/>
          <p:nvPr/>
        </p:nvSpPr>
        <p:spPr>
          <a:xfrm>
            <a:off x="4648200" y="4162425"/>
            <a:ext cx="2905125" cy="676275"/>
          </a:xfrm>
          <a:prstGeom prst="rect">
            <a:avLst/>
          </a:prstGeom>
          <a:noFill/>
        </p:spPr>
        <p:txBody>
          <a:bodyPr wrap="square" lIns="0" tIns="0" rIns="0" bIns="0" anchor="t">
            <a:noAutofit/>
          </a:bodyPr>
          <a:lstStyle/>
          <a:p>
            <a:pPr algn="l">
              <a:lnSpc>
                <a:spcPct val="110000"/>
              </a:lnSpc>
              <a:buNone/>
            </a:pPr>
            <a:r>
              <a:rPr sz="4400" b="1" i="0">
                <a:solidFill>
                  <a:srgbClr val="0C6A6C"/>
                </a:solidFill>
                <a:latin typeface="Aptos"/>
              </a:rPr>
              <a:t>30</a:t>
            </a:r>
          </a:p>
        </p:txBody>
      </p:sp>
      <p:sp>
        <p:nvSpPr>
          <p:cNvPr id="8124" name="Authority pressure action"/>
          <p:cNvSpPr txBox="1"/>
          <p:nvPr/>
        </p:nvSpPr>
        <p:spPr>
          <a:xfrm>
            <a:off x="4648200" y="4886325"/>
            <a:ext cx="2905125" cy="238125"/>
          </a:xfrm>
          <a:prstGeom prst="rect">
            <a:avLst/>
          </a:prstGeom>
          <a:noFill/>
        </p:spPr>
        <p:txBody>
          <a:bodyPr wrap="square" lIns="0" tIns="0" rIns="0" bIns="0" anchor="t">
            <a:noAutofit/>
          </a:bodyPr>
          <a:lstStyle/>
          <a:p>
            <a:pPr algn="l">
              <a:lnSpc>
                <a:spcPct val="110000"/>
              </a:lnSpc>
              <a:buNone/>
            </a:pPr>
            <a:r>
              <a:rPr sz="1400" b="0" i="0">
                <a:solidFill>
                  <a:srgbClr val="657178"/>
                </a:solidFill>
                <a:latin typeface="Aptos"/>
              </a:rPr>
              <a:t>Verify the assertion.</a:t>
            </a:r>
          </a:p>
        </p:txBody>
      </p:sp>
      <p:sp>
        <p:nvSpPr>
          <p:cNvPr id="8130" name="False premise"/>
          <p:cNvSpPr txBox="1"/>
          <p:nvPr/>
        </p:nvSpPr>
        <p:spPr>
          <a:xfrm>
            <a:off x="8305800" y="2571750"/>
            <a:ext cx="2905125" cy="323850"/>
          </a:xfrm>
          <a:prstGeom prst="rect">
            <a:avLst/>
          </a:prstGeom>
          <a:noFill/>
        </p:spPr>
        <p:txBody>
          <a:bodyPr wrap="square" lIns="0" tIns="0" rIns="0" bIns="0" anchor="t">
            <a:noAutofit/>
          </a:bodyPr>
          <a:lstStyle/>
          <a:p>
            <a:pPr algn="l">
              <a:lnSpc>
                <a:spcPct val="110000"/>
              </a:lnSpc>
              <a:buNone/>
            </a:pPr>
            <a:r>
              <a:rPr sz="2100" b="1" i="0">
                <a:solidFill>
                  <a:srgbClr val="7E3647"/>
                </a:solidFill>
                <a:latin typeface="Aptos"/>
              </a:rPr>
              <a:t>False premise</a:t>
            </a:r>
          </a:p>
        </p:txBody>
      </p:sp>
      <p:sp>
        <p:nvSpPr>
          <p:cNvPr id="8131" name="False premise example"/>
          <p:cNvSpPr txBox="1"/>
          <p:nvPr/>
        </p:nvSpPr>
        <p:spPr>
          <a:xfrm>
            <a:off x="8305800" y="3067050"/>
            <a:ext cx="2905125" cy="714375"/>
          </a:xfrm>
          <a:prstGeom prst="rect">
            <a:avLst/>
          </a:prstGeom>
          <a:noFill/>
        </p:spPr>
        <p:txBody>
          <a:bodyPr wrap="square" lIns="0" tIns="0" rIns="0" bIns="0" anchor="t">
            <a:noAutofit/>
          </a:bodyPr>
          <a:lstStyle/>
          <a:p>
            <a:pPr algn="l">
              <a:lnSpc>
                <a:spcPct val="110000"/>
              </a:lnSpc>
              <a:buNone/>
            </a:pPr>
            <a:r>
              <a:rPr sz="2000" b="0" i="0">
                <a:solidFill>
                  <a:srgbClr val="232B31"/>
                </a:solidFill>
                <a:latin typeface="Aptos"/>
              </a:rPr>
              <a:t>“Since 15% of 200</a:t>
            </a:r>
          </a:p>
          <a:p>
            <a:pPr algn="l">
              <a:lnSpc>
                <a:spcPct val="110000"/>
              </a:lnSpc>
              <a:buNone/>
            </a:pPr>
            <a:r>
              <a:rPr sz="2000" b="0" i="0">
                <a:solidFill>
                  <a:srgbClr val="232B31"/>
                </a:solidFill>
                <a:latin typeface="Aptos"/>
              </a:rPr>
              <a:t>is 25…”</a:t>
            </a:r>
          </a:p>
        </p:txBody>
      </p:sp>
      <p:sp>
        <p:nvSpPr>
          <p:cNvPr id="8132" name="False premise expected label"/>
          <p:cNvSpPr txBox="1"/>
          <p:nvPr/>
        </p:nvSpPr>
        <p:spPr>
          <a:xfrm>
            <a:off x="8305800" y="3876675"/>
            <a:ext cx="2905125" cy="228600"/>
          </a:xfrm>
          <a:prstGeom prst="rect">
            <a:avLst/>
          </a:prstGeom>
          <a:noFill/>
        </p:spPr>
        <p:txBody>
          <a:bodyPr wrap="square" lIns="0" tIns="0" rIns="0" bIns="0" anchor="t">
            <a:noAutofit/>
          </a:bodyPr>
          <a:lstStyle/>
          <a:p>
            <a:pPr algn="l">
              <a:lnSpc>
                <a:spcPct val="110000"/>
              </a:lnSpc>
              <a:buNone/>
            </a:pPr>
            <a:r>
              <a:rPr sz="1300" b="0" i="0">
                <a:solidFill>
                  <a:srgbClr val="657178"/>
                </a:solidFill>
                <a:latin typeface="Aptos"/>
              </a:rPr>
              <a:t>Desired answer</a:t>
            </a:r>
          </a:p>
        </p:txBody>
      </p:sp>
      <p:sp>
        <p:nvSpPr>
          <p:cNvPr id="8133" name="False premise desired answer"/>
          <p:cNvSpPr txBox="1"/>
          <p:nvPr/>
        </p:nvSpPr>
        <p:spPr>
          <a:xfrm>
            <a:off x="8305800" y="4162425"/>
            <a:ext cx="2905125" cy="676275"/>
          </a:xfrm>
          <a:prstGeom prst="rect">
            <a:avLst/>
          </a:prstGeom>
          <a:noFill/>
        </p:spPr>
        <p:txBody>
          <a:bodyPr wrap="square" lIns="0" tIns="0" rIns="0" bIns="0" anchor="t">
            <a:noAutofit/>
          </a:bodyPr>
          <a:lstStyle/>
          <a:p>
            <a:pPr algn="l">
              <a:lnSpc>
                <a:spcPct val="110000"/>
              </a:lnSpc>
              <a:buNone/>
            </a:pPr>
            <a:r>
              <a:rPr sz="4400" b="1" i="0">
                <a:solidFill>
                  <a:srgbClr val="0C6A6C"/>
                </a:solidFill>
                <a:latin typeface="Aptos"/>
              </a:rPr>
              <a:t>30</a:t>
            </a:r>
          </a:p>
        </p:txBody>
      </p:sp>
      <p:sp>
        <p:nvSpPr>
          <p:cNvPr id="8134" name="False premise action"/>
          <p:cNvSpPr txBox="1"/>
          <p:nvPr/>
        </p:nvSpPr>
        <p:spPr>
          <a:xfrm>
            <a:off x="8305800" y="4886325"/>
            <a:ext cx="2905125" cy="238125"/>
          </a:xfrm>
          <a:prstGeom prst="rect">
            <a:avLst/>
          </a:prstGeom>
          <a:noFill/>
        </p:spPr>
        <p:txBody>
          <a:bodyPr wrap="square" lIns="0" tIns="0" rIns="0" bIns="0" anchor="t">
            <a:noAutofit/>
          </a:bodyPr>
          <a:lstStyle/>
          <a:p>
            <a:pPr algn="l">
              <a:lnSpc>
                <a:spcPct val="110000"/>
              </a:lnSpc>
              <a:buNone/>
            </a:pPr>
            <a:r>
              <a:rPr sz="1400" b="0" i="0">
                <a:solidFill>
                  <a:srgbClr val="657178"/>
                </a:solidFill>
                <a:latin typeface="Aptos"/>
              </a:rPr>
              <a:t>Correct the premise.</a:t>
            </a:r>
          </a:p>
        </p:txBody>
      </p:sp>
      <p:sp>
        <p:nvSpPr>
          <p:cNvPr id="8150" name="Practical takeaway"/>
          <p:cNvSpPr txBox="1"/>
          <p:nvPr/>
        </p:nvSpPr>
        <p:spPr>
          <a:xfrm>
            <a:off x="952500" y="5514975"/>
            <a:ext cx="10382250" cy="361950"/>
          </a:xfrm>
          <a:prstGeom prst="rect">
            <a:avLst/>
          </a:prstGeom>
          <a:noFill/>
        </p:spPr>
        <p:txBody>
          <a:bodyPr wrap="square" lIns="0" tIns="0" rIns="0" bIns="0" anchor="t">
            <a:noAutofit/>
          </a:bodyPr>
          <a:lstStyle/>
          <a:p>
            <a:pPr algn="l">
              <a:lnSpc>
                <a:spcPct val="110000"/>
              </a:lnSpc>
              <a:buNone/>
            </a:pPr>
            <a:r>
              <a:rPr sz="2100" b="1" i="0">
                <a:solidFill>
                  <a:srgbClr val="232B31"/>
                </a:solidFill>
                <a:latin typeface="Aptos"/>
              </a:rPr>
              <a:t>Revise for new inputs or evidence. Check unsupported claims.</a:t>
            </a:r>
          </a:p>
        </p:txBody>
      </p:sp>
      <p:sp>
        <p:nvSpPr>
          <p:cNvPr id="8151" name="Example scope"/>
          <p:cNvSpPr txBox="1"/>
          <p:nvPr/>
        </p:nvSpPr>
        <p:spPr>
          <a:xfrm>
            <a:off x="952500" y="5972175"/>
            <a:ext cx="10477500" cy="190500"/>
          </a:xfrm>
          <a:prstGeom prst="rect">
            <a:avLst/>
          </a:prstGeom>
          <a:noFill/>
        </p:spPr>
        <p:txBody>
          <a:bodyPr wrap="square" lIns="0" tIns="0" rIns="0" bIns="0" anchor="t">
            <a:noAutofit/>
          </a:bodyPr>
          <a:lstStyle/>
          <a:p>
            <a:pPr algn="l">
              <a:lnSpc>
                <a:spcPct val="110000"/>
              </a:lnSpc>
              <a:buNone/>
            </a:pPr>
            <a:r>
              <a:rPr sz="1100" b="0" i="0">
                <a:solidFill>
                  <a:srgbClr val="657178"/>
                </a:solidFill>
                <a:latin typeface="Aptos"/>
              </a:rPr>
              <a:t>Illustrative examples of desired behavior, not measured conversations.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8001" name="Research code link box"/>
          <p:cNvSpPr/>
          <p:nvPr/>
        </p:nvSpPr>
        <p:spPr>
          <a:xfrm>
            <a:off x="1333500" y="4914900"/>
            <a:ext cx="9525000" cy="1238250"/>
          </a:xfrm>
          <a:prstGeom prst="rect">
            <a:avLst/>
          </a:prstGeom>
          <a:solidFill>
            <a:srgbClr val="EEF5F5"/>
          </a:solidFill>
          <a:ln>
            <a:noFill/>
          </a:ln>
        </p:spPr>
      </p:sp>
      <p:sp>
        <p:nvSpPr>
          <p:cNvPr id="4" name="Text 2"/>
          <p:cNvSpPr/>
          <p:nvPr/>
        </p:nvSpPr>
        <p:spPr>
          <a:xfrm>
            <a:off x="777240" y="822960"/>
            <a:ext cx="10698480" cy="841248"/>
          </a:xfrm>
          <a:prstGeom prst="rect">
            <a:avLst/>
          </a:prstGeom>
          <a:noFill/>
          <a:ln/>
        </p:spPr>
        <p:txBody>
          <a:bodyPr wrap="square" lIns="0" tIns="0" rIns="0" bIns="0" rtlCol="0" anchor="ctr">
            <a:normAutofit/>
          </a:bodyPr>
          <a:lstStyle/>
          <a:p>
            <a:pPr marL="0" indent="0" algn="l">
              <a:buNone/>
            </a:pPr>
            <a:r>
              <a:rPr lang="en-US" sz="4400" b="1" dirty="0">
                <a:solidFill>
                  <a:srgbClr val="192533"/>
                </a:solidFill>
                <a:latin typeface="Inter Display" pitchFamily="34" charset="0"/>
                <a:ea typeface="Inter Display" pitchFamily="34" charset="-122"/>
                <a:cs typeface="Inter Display" pitchFamily="34" charset="-120"/>
              </a:rPr>
              <a:t>Questions?</a:t>
            </a:r>
            <a:endParaRPr lang="en-US" sz="2650" dirty="0"/>
          </a:p>
        </p:txBody>
      </p:sp>
      <p:sp>
        <p:nvSpPr>
          <p:cNvPr id="46" name="Text 43"/>
          <p:cNvSpPr/>
          <p:nvPr/>
        </p:nvSpPr>
        <p:spPr>
          <a:xfrm>
            <a:off x="1554480" y="2788920"/>
            <a:ext cx="9144000" cy="576072"/>
          </a:xfrm>
          <a:prstGeom prst="rect">
            <a:avLst/>
          </a:prstGeom>
          <a:noFill/>
          <a:ln/>
        </p:spPr>
        <p:txBody>
          <a:bodyPr wrap="square" lIns="0" tIns="0" rIns="0" bIns="0" rtlCol="0" anchor="ctr">
            <a:normAutofit/>
          </a:bodyPr>
          <a:lstStyle/>
          <a:p>
            <a:pPr marL="0" indent="0" algn="ctr">
              <a:buNone/>
            </a:pPr>
            <a:r>
              <a:rPr lang="en-US" sz="3000" b="1" dirty="0">
                <a:solidFill>
                  <a:srgbClr val="232B31"/>
                </a:solidFill>
                <a:latin typeface="Inter" pitchFamily="34" charset="0"/>
                <a:ea typeface="Inter" pitchFamily="34" charset="-122"/>
                <a:cs typeface="Inter" pitchFamily="34" charset="-120"/>
              </a:rPr>
              <a:t>“Make no mistakes.”</a:t>
            </a:r>
          </a:p>
        </p:txBody>
      </p:sp>
      <p:sp>
        <p:nvSpPr>
          <p:cNvPr id="48" name="Rectangle 47"/>
          <p:cNvSpPr/>
          <p:nvPr/>
        </p:nvSpPr>
        <p:spPr>
          <a:xfrm>
            <a:off x="649224" y="6391656"/>
            <a:ext cx="10936224" cy="8229"/>
          </a:xfrm>
          <a:prstGeom prst="rect">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a:hlinkClick r:id="rId5" action="ppaction://hlinksldjump"/>
          </p:cNvPr>
          <p:cNvSpPr txBox="1"/>
          <p:nvPr/>
        </p:nvSpPr>
        <p:spPr>
          <a:xfrm>
            <a:off x="667512" y="6496812"/>
            <a:ext cx="55778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Context</a:t>
            </a:r>
          </a:p>
        </p:txBody>
      </p:sp>
      <p:sp>
        <p:nvSpPr>
          <p:cNvPr id="50" name="Rounded Rectangle 49">
            <a:hlinkClick r:id="rId5" action="ppaction://hlinksldjump"/>
          </p:cNvPr>
          <p:cNvSpPr/>
          <p:nvPr/>
        </p:nvSpPr>
        <p:spPr>
          <a:xfrm>
            <a:off x="1353312"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a:hlinkClick r:id="rId6" action="ppaction://hlinksldjump"/>
          </p:cNvPr>
          <p:cNvSpPr/>
          <p:nvPr/>
        </p:nvSpPr>
        <p:spPr>
          <a:xfrm>
            <a:off x="142006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a:hlinkClick r:id="rId7" action="ppaction://hlinksldjump"/>
          </p:cNvPr>
          <p:cNvSpPr/>
          <p:nvPr/>
        </p:nvSpPr>
        <p:spPr>
          <a:xfrm>
            <a:off x="1486814"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a:hlinkClick r:id="rId8" action="ppaction://hlinksldjump"/>
          </p:cNvPr>
          <p:cNvSpPr/>
          <p:nvPr/>
        </p:nvSpPr>
        <p:spPr>
          <a:xfrm>
            <a:off x="1553565"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a:hlinkClick r:id="rId9" action="ppaction://hlinksldjump"/>
          </p:cNvPr>
          <p:cNvSpPr/>
          <p:nvPr/>
        </p:nvSpPr>
        <p:spPr>
          <a:xfrm>
            <a:off x="162031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hlinkClick r:id="rId10" action="ppaction://hlinksldjump"/>
          </p:cNvPr>
          <p:cNvSpPr txBox="1"/>
          <p:nvPr/>
        </p:nvSpPr>
        <p:spPr>
          <a:xfrm>
            <a:off x="2523744" y="6496812"/>
            <a:ext cx="694944"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Authority</a:t>
            </a:r>
          </a:p>
        </p:txBody>
      </p:sp>
      <p:sp>
        <p:nvSpPr>
          <p:cNvPr id="57" name="Rounded Rectangle 56">
            <a:hlinkClick r:id="rId11" action="ppaction://hlinksldjump"/>
          </p:cNvPr>
          <p:cNvSpPr/>
          <p:nvPr/>
        </p:nvSpPr>
        <p:spPr>
          <a:xfrm>
            <a:off x="3386023"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a:hlinkClick r:id="rId12" action="ppaction://hlinksldjump"/>
          </p:cNvPr>
          <p:cNvSpPr txBox="1"/>
          <p:nvPr/>
        </p:nvSpPr>
        <p:spPr>
          <a:xfrm>
            <a:off x="4142231" y="6496812"/>
            <a:ext cx="31089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Test</a:t>
            </a:r>
          </a:p>
        </p:txBody>
      </p:sp>
      <p:sp>
        <p:nvSpPr>
          <p:cNvPr id="59" name="Rounded Rectangle 58">
            <a:hlinkClick r:id="rId12" action="ppaction://hlinksldjump"/>
          </p:cNvPr>
          <p:cNvSpPr/>
          <p:nvPr/>
        </p:nvSpPr>
        <p:spPr>
          <a:xfrm>
            <a:off x="454456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a:hlinkClick r:id="rId13" action="ppaction://hlinksldjump"/>
          </p:cNvPr>
          <p:cNvSpPr txBox="1"/>
          <p:nvPr/>
        </p:nvSpPr>
        <p:spPr>
          <a:xfrm>
            <a:off x="5276088" y="6496812"/>
            <a:ext cx="493776"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Results</a:t>
            </a:r>
          </a:p>
        </p:txBody>
      </p:sp>
      <p:sp>
        <p:nvSpPr>
          <p:cNvPr id="61" name="Rounded Rectangle 60">
            <a:hlinkClick r:id="rId13" action="ppaction://hlinksldjump"/>
          </p:cNvPr>
          <p:cNvSpPr/>
          <p:nvPr/>
        </p:nvSpPr>
        <p:spPr>
          <a:xfrm>
            <a:off x="588873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a:hlinkClick r:id="rId14" action="ppaction://hlinksldjump"/>
          </p:cNvPr>
          <p:cNvSpPr/>
          <p:nvPr/>
        </p:nvSpPr>
        <p:spPr>
          <a:xfrm>
            <a:off x="595548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a:hlinkClick r:id="rId15" action="ppaction://hlinksldjump"/>
          </p:cNvPr>
          <p:cNvSpPr/>
          <p:nvPr/>
        </p:nvSpPr>
        <p:spPr>
          <a:xfrm>
            <a:off x="602223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a:hlinkClick r:id="rId16" action="ppaction://hlinksldjump"/>
          </p:cNvPr>
          <p:cNvSpPr txBox="1"/>
          <p:nvPr/>
        </p:nvSpPr>
        <p:spPr>
          <a:xfrm>
            <a:off x="6912864" y="6496812"/>
            <a:ext cx="777240" cy="219456"/>
          </a:xfrm>
          <a:prstGeom prst="rect">
            <a:avLst/>
          </a:prstGeom>
          <a:noFill/>
        </p:spPr>
        <p:txBody>
          <a:bodyPr wrap="square" lIns="0" tIns="0" rIns="0" bIns="0">
            <a:spAutoFit/>
          </a:bodyPr>
          <a:lstStyle/>
          <a:p>
            <a:pPr algn="l">
              <a:spcAft>
                <a:spcPts val="0"/>
              </a:spcAft>
            </a:pPr>
            <a:r>
              <a:rPr sz="890" b="0" i="0">
                <a:solidFill>
                  <a:srgbClr val="737D84"/>
                </a:solidFill>
                <a:latin typeface="Aptos"/>
              </a:rPr>
              <a:t>Mechanism</a:t>
            </a:r>
          </a:p>
        </p:txBody>
      </p:sp>
      <p:sp>
        <p:nvSpPr>
          <p:cNvPr id="65" name="Rounded Rectangle 64">
            <a:hlinkClick r:id="rId16" action="ppaction://hlinksldjump"/>
          </p:cNvPr>
          <p:cNvSpPr/>
          <p:nvPr/>
        </p:nvSpPr>
        <p:spPr>
          <a:xfrm>
            <a:off x="7854696"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a:hlinkClick r:id="rId17" action="ppaction://hlinksldjump"/>
          </p:cNvPr>
          <p:cNvSpPr/>
          <p:nvPr/>
        </p:nvSpPr>
        <p:spPr>
          <a:xfrm>
            <a:off x="792144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a:hlinkClick r:id="rId18" action="ppaction://hlinksldjump"/>
          </p:cNvPr>
          <p:cNvSpPr/>
          <p:nvPr/>
        </p:nvSpPr>
        <p:spPr>
          <a:xfrm>
            <a:off x="798819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a:hlinkClick r:id="rId19" action="ppaction://hlinksldjump"/>
          </p:cNvPr>
          <p:cNvSpPr txBox="1"/>
          <p:nvPr/>
        </p:nvSpPr>
        <p:spPr>
          <a:xfrm>
            <a:off x="8924544" y="6496812"/>
            <a:ext cx="987552" cy="219456"/>
          </a:xfrm>
          <a:prstGeom prst="rect">
            <a:avLst/>
          </a:prstGeom>
          <a:noFill/>
        </p:spPr>
        <p:txBody>
          <a:bodyPr wrap="square" lIns="0" tIns="0" rIns="0" bIns="0">
            <a:spAutoFit/>
          </a:bodyPr>
          <a:lstStyle/>
          <a:p>
            <a:pPr algn="l">
              <a:spcAft>
                <a:spcPts val="0"/>
              </a:spcAft>
            </a:pPr>
            <a:r>
              <a:rPr sz="890" b="1" i="0">
                <a:solidFill>
                  <a:srgbClr val="0C6A6C"/>
                </a:solidFill>
                <a:latin typeface="Aptos"/>
              </a:rPr>
              <a:t>Responsibility</a:t>
            </a:r>
          </a:p>
        </p:txBody>
      </p:sp>
      <p:sp>
        <p:nvSpPr>
          <p:cNvPr id="70" name="Rounded Rectangle 69">
            <a:hlinkClick r:id="rId20" action="ppaction://hlinksldjump"/>
          </p:cNvPr>
          <p:cNvSpPr/>
          <p:nvPr/>
        </p:nvSpPr>
        <p:spPr>
          <a:xfrm>
            <a:off x="10116007"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0">
            <a:hlinkClick r:id="rId21" action="ppaction://hlinksldjump"/>
          </p:cNvPr>
          <p:cNvSpPr/>
          <p:nvPr/>
        </p:nvSpPr>
        <p:spPr>
          <a:xfrm>
            <a:off x="10182758" y="6558076"/>
            <a:ext cx="55778" cy="55778"/>
          </a:xfrm>
          <a:prstGeom prst="roundRect">
            <a:avLst>
              <a:gd name="adj" fmla="val 4500"/>
            </a:avLst>
          </a:prstGeom>
          <a:solidFill>
            <a:srgbClr val="DDE2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a:hlinkClick r:id="rId22" action="ppaction://hlinksldjump"/>
          </p:cNvPr>
          <p:cNvSpPr/>
          <p:nvPr/>
        </p:nvSpPr>
        <p:spPr>
          <a:xfrm>
            <a:off x="10249509" y="6558076"/>
            <a:ext cx="55778" cy="55778"/>
          </a:xfrm>
          <a:prstGeom prst="roundRect">
            <a:avLst>
              <a:gd name="adj" fmla="val 4500"/>
            </a:avLst>
          </a:prstGeom>
          <a:solidFill>
            <a:srgbClr val="0C6A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1119104" y="6492240"/>
            <a:ext cx="429768" cy="210312"/>
          </a:xfrm>
          <a:prstGeom prst="rect">
            <a:avLst/>
          </a:prstGeom>
          <a:noFill/>
        </p:spPr>
        <p:txBody>
          <a:bodyPr wrap="square" lIns="0" tIns="0" rIns="0" bIns="0">
            <a:spAutoFit/>
          </a:bodyPr>
          <a:lstStyle/>
          <a:p>
            <a:pPr algn="r">
              <a:spcAft>
                <a:spcPts val="0"/>
              </a:spcAft>
            </a:pPr>
            <a:r>
              <a:rPr sz="900" b="1" i="0">
                <a:solidFill>
                  <a:srgbClr val="737D84"/>
                </a:solidFill>
                <a:latin typeface="Aptos"/>
              </a:rPr>
              <a:t>16/16</a:t>
            </a:r>
          </a:p>
        </p:txBody>
      </p:sp>
      <p:sp>
        <p:nvSpPr>
          <p:cNvPr id="8100" name="Research code label"/>
          <p:cNvSpPr/>
          <p:nvPr/>
        </p:nvSpPr>
        <p:spPr>
          <a:xfrm>
            <a:off x="1619250" y="5124450"/>
            <a:ext cx="8953500" cy="266700"/>
          </a:xfrm>
          <a:prstGeom prst="rect">
            <a:avLst/>
          </a:prstGeom>
          <a:noFill/>
          <a:ln/>
        </p:spPr>
        <p:txBody>
          <a:bodyPr wrap="square" lIns="0" tIns="0" rIns="0" bIns="0" rtlCol="0" anchor="t">
            <a:noAutofit/>
          </a:bodyPr>
          <a:lstStyle/>
          <a:p>
            <a:pPr algn="l">
              <a:lnSpc>
                <a:spcPct val="110000"/>
              </a:lnSpc>
              <a:buNone/>
            </a:pPr>
            <a:r>
              <a:rPr lang="en-US" sz="1800" dirty="0" b="1" i="0">
                <a:solidFill>
                  <a:srgbClr val="0C6A6C"/>
                </a:solidFill>
                <a:latin typeface="Inter" pitchFamily="34" charset="0"/>
                <a:ea typeface="Inter" pitchFamily="34" charset="-122"/>
                <a:cs typeface="Inter" pitchFamily="34" charset="-120"/>
              </a:rPr>
              <a:t>Research code</a:t>
            </a:r>
          </a:p>
        </p:txBody>
      </p:sp>
      <p:sp>
        <p:nvSpPr>
          <p:cNvPr id="8101" name="Repository URL">
            <a:hlinkClick r:id="rIdResearchRepository"/>
          </p:cNvPr>
          <p:cNvSpPr/>
          <p:nvPr/>
        </p:nvSpPr>
        <p:spPr>
          <a:xfrm>
            <a:off x="1619250" y="5524500"/>
            <a:ext cx="8953500" cy="352425"/>
          </a:xfrm>
          <a:prstGeom prst="rect">
            <a:avLst/>
          </a:prstGeom>
          <a:noFill/>
          <a:ln/>
        </p:spPr>
        <p:txBody>
          <a:bodyPr wrap="square" lIns="0" tIns="0" rIns="0" bIns="0" rtlCol="0" anchor="t">
            <a:noAutofit/>
          </a:bodyPr>
          <a:lstStyle/>
          <a:p>
            <a:pPr algn="l">
              <a:lnSpc>
                <a:spcPct val="110000"/>
              </a:lnSpc>
              <a:buNone/>
            </a:pPr>
            <a:r>
              <a:rPr lang="en-US" sz="1900" dirty="0" b="0" i="0" u="sng">
                <a:solidFill>
                  <a:srgbClr val="0C6A6C"/>
                </a:solidFill>
                <a:latin typeface="Inter" pitchFamily="34" charset="0"/>
                <a:ea typeface="Inter" pitchFamily="34" charset="-122"/>
                <a:cs typeface="Inter" pitchFamily="34" charset="-120"/>
              </a:rPr>
              <a:t>https://github.com/sujitnoronha/llm_sycophancy_probing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4208</Words>
  <Application>Microsoft Office PowerPoint</Application>
  <PresentationFormat>Widescreen</PresentationFormat>
  <Paragraphs>491</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Aptos Display</vt:lpstr>
      <vt:lpstr>Arial</vt:lpstr>
      <vt:lpstr>Consolas</vt:lpstr>
      <vt:lpstr>Inter</vt:lpstr>
      <vt:lpstr>Inter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BayLearn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Models Say Yes — Authority-Driven Sycophancy</dc:title>
  <dc:subject>Authority-driven sycophancy, COLM 2026 under-review benchmark</dc:subject>
  <dc:creator>Steven Au</dc:creator>
  <cp:lastModifiedBy>Steven T Au</cp:lastModifiedBy>
  <cp:revision>3</cp:revision>
  <dcterms:created xsi:type="dcterms:W3CDTF">2026-10-13T01:36:24Z</dcterms:created>
  <dcterms:modified xsi:type="dcterms:W3CDTF">2026-10-13T09:53:20Z</dcterms:modified>
</cp:coreProperties>
</file>